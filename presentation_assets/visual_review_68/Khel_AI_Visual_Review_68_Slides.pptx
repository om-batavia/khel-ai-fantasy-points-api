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</p:sldIdLst>
  <p:notesMasterIdLst>
    <p:notesMasterId r:id="rId7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notesMaster" Target="notesMasters/notesMaster1.xml"/><Relationship Id="rId71" Type="http://schemas.openxmlformats.org/officeDocument/2006/relationships/presProps" Target="presProps.xml"/><Relationship Id="rId72" Type="http://schemas.openxmlformats.org/officeDocument/2006/relationships/viewProps" Target="viewProps.xml"/><Relationship Id="rId73" Type="http://schemas.openxmlformats.org/officeDocument/2006/relationships/theme" Target="theme/theme1.xml"/><Relationship Id="rId7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8912" y="6492240"/>
            <a:ext cx="3840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10" kern="0" dirty="0">
                <a:solidFill>
                  <a:srgbClr val="8D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 •  CRICKET INTELLIGENCE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7955280" y="649224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D938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5  •  Om Batavia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06640" y="-1143000"/>
            <a:ext cx="6035040" cy="6035040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137160"/>
            <a:ext cx="4480560" cy="4480560"/>
          </a:xfrm>
          <a:prstGeom prst="ellipse">
            <a:avLst/>
          </a:prstGeom>
          <a:solidFill>
            <a:srgbClr val="D8EDDF">
              <a:alpha val="88000"/>
            </a:srgbClr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" y="502920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08076"/>
            <a:ext cx="109728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11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66928" y="1298448"/>
            <a:ext cx="56235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Cricket Intelligence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Platform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03504" y="3182112"/>
            <a:ext cx="52578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APIs. 3 sprints. One explainable decision pipeline.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03504" y="3977640"/>
            <a:ext cx="53949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 review edition  •  Student 5  •  Om Batavia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73952" y="1133856"/>
            <a:ext cx="5129784" cy="2953512"/>
          </a:xfrm>
          <a:prstGeom prst="roundRect">
            <a:avLst>
              <a:gd name="adj" fmla="val 4334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10" name="Image 0" descr="C:\Users\ombat\Desktop\Khel ai intership work\dashboard\sprint1_showcase\screenshots\11_expected_fantas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4" y="1207008"/>
            <a:ext cx="4983480" cy="280720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473952" y="1133856"/>
            <a:ext cx="100584" cy="2953512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" y="4919472"/>
            <a:ext cx="264947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22376" y="5042916"/>
            <a:ext cx="2411730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22376" y="5446166"/>
            <a:ext cx="2411730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3362706" y="4919472"/>
            <a:ext cx="264947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481578" y="5042916"/>
            <a:ext cx="2411730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3481578" y="5446166"/>
            <a:ext cx="2411730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SPRINTS</a:t>
            </a:r>
            <a:endParaRPr lang="en-US" sz="780" dirty="0"/>
          </a:p>
        </p:txBody>
      </p:sp>
      <p:sp>
        <p:nvSpPr>
          <p:cNvPr id="18" name="Shape 15"/>
          <p:cNvSpPr/>
          <p:nvPr/>
        </p:nvSpPr>
        <p:spPr>
          <a:xfrm>
            <a:off x="6121908" y="4919472"/>
            <a:ext cx="264947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40780" y="5042916"/>
            <a:ext cx="2411730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240780" y="5446166"/>
            <a:ext cx="2411730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DASHBOARDS</a:t>
            </a:r>
            <a:endParaRPr lang="en-US" sz="780" dirty="0"/>
          </a:p>
        </p:txBody>
      </p:sp>
      <p:sp>
        <p:nvSpPr>
          <p:cNvPr id="21" name="Shape 18"/>
          <p:cNvSpPr/>
          <p:nvPr/>
        </p:nvSpPr>
        <p:spPr>
          <a:xfrm>
            <a:off x="8881110" y="4919472"/>
            <a:ext cx="2649474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999982" y="5042916"/>
            <a:ext cx="2411730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8999982" y="5446166"/>
            <a:ext cx="2411730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MODEL API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Presentation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technical walkthrough that moves from live match state to fantasy selection.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55648"/>
            <a:ext cx="10972800" cy="841248"/>
          </a:xfrm>
          <a:prstGeom prst="roundRect">
            <a:avLst>
              <a:gd name="adj" fmla="val 15217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65960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1938528"/>
            <a:ext cx="5394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 Intelligence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06640" y="2011680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APIs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464040" y="200253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64040" y="2089404"/>
            <a:ext cx="1737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6-32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94360" y="2807208"/>
            <a:ext cx="10972800" cy="841248"/>
          </a:xfrm>
          <a:prstGeom prst="roundRect">
            <a:avLst>
              <a:gd name="adj" fmla="val 15217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72768" y="2990088"/>
            <a:ext cx="5394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Performance Analytics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7406640" y="3063240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APIs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464040" y="305409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64040" y="3140964"/>
            <a:ext cx="1737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33-54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3858768"/>
            <a:ext cx="10972800" cy="841248"/>
          </a:xfrm>
          <a:prstGeom prst="roundRect">
            <a:avLst>
              <a:gd name="adj" fmla="val 15217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069080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572768" y="4041648"/>
            <a:ext cx="5394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Decision Engine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406640" y="4114800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APIs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464040" y="41056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464040" y="4192524"/>
            <a:ext cx="1737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SLIDES 55-67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94360" y="4910328"/>
            <a:ext cx="10972800" cy="841248"/>
          </a:xfrm>
          <a:prstGeom prst="roundRect">
            <a:avLst>
              <a:gd name="adj" fmla="val 15217"/>
            </a:avLst>
          </a:prstGeom>
          <a:solidFill>
            <a:srgbClr val="F4EDE2"/>
          </a:solidFill>
          <a:ln w="12700">
            <a:solidFill>
              <a:srgbClr val="F4EDE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5120640"/>
            <a:ext cx="50292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572768" y="5093208"/>
            <a:ext cx="539496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Explainable Pipeline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406640" y="5166360"/>
            <a:ext cx="155448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64040" y="515721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5244084"/>
            <a:ext cx="17373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68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CONTEXT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Cricket data is rich, but not immediately useful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needs a layer that converts raw events into consistent, product-ready intelligence.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1755648"/>
            <a:ext cx="5321808" cy="1700784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93392"/>
            <a:ext cx="640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7D7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1655064" y="2011680"/>
            <a:ext cx="3886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655064" y="2487168"/>
            <a:ext cx="38862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Match, innings, player and delivery data live at different grains.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755648"/>
            <a:ext cx="5321808" cy="1700784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993392"/>
            <a:ext cx="640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8EDD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232904" y="2011680"/>
            <a:ext cx="3886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 granular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232904" y="2487168"/>
            <a:ext cx="38862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events need aggregation before a user can understand the match.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" y="3813048"/>
            <a:ext cx="5321808" cy="1700784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4050792"/>
            <a:ext cx="640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6EC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655064" y="4069080"/>
            <a:ext cx="3886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655064" y="4544568"/>
            <a:ext cx="38862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clients can calculate overs, rates and labels differently.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99632" y="3813048"/>
            <a:ext cx="5321808" cy="1700784"/>
          </a:xfrm>
          <a:prstGeom prst="roundRect">
            <a:avLst>
              <a:gd name="adj" fmla="val 9677"/>
            </a:avLst>
          </a:prstGeom>
          <a:solidFill>
            <a:srgbClr val="00000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4050792"/>
            <a:ext cx="6400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DDE9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7232904" y="4069080"/>
            <a:ext cx="388620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trust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232904" y="4544568"/>
            <a:ext cx="38862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need provenance, metrics, validation and fallback behavior.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platform, three intelligence layers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Specialised APIs remain independently testable, reusable and explainable.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1828800"/>
            <a:ext cx="3401568" cy="3310128"/>
          </a:xfrm>
          <a:prstGeom prst="roundRect">
            <a:avLst>
              <a:gd name="adj" fmla="val 6077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103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8998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14400" y="2743200"/>
            <a:ext cx="28163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happening?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914400" y="3703320"/>
            <a:ext cx="2697480" cy="0"/>
          </a:xfrm>
          <a:prstGeom prst="line">
            <a:avLst/>
          </a:prstGeom>
          <a:noFill/>
          <a:ln w="2540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914400" y="4005072"/>
            <a:ext cx="281635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events → match state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828800"/>
            <a:ext cx="3401568" cy="3310128"/>
          </a:xfrm>
          <a:prstGeom prst="roundRect">
            <a:avLst>
              <a:gd name="adj" fmla="val 6077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36592" y="2103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18998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2743200"/>
            <a:ext cx="28163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is the player trending?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736592" y="3703320"/>
            <a:ext cx="2697480" cy="0"/>
          </a:xfrm>
          <a:prstGeom prst="line">
            <a:avLst/>
          </a:prstGeom>
          <a:noFill/>
          <a:ln w="2540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4736592" y="4005072"/>
            <a:ext cx="281635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→ context and confidence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02752" y="1828800"/>
            <a:ext cx="3401568" cy="3310128"/>
          </a:xfrm>
          <a:prstGeom prst="roundRect">
            <a:avLst>
              <a:gd name="adj" fmla="val 6077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58784" y="210312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58784" y="218998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558784" y="2743200"/>
            <a:ext cx="28163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should Khel AI recommend?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558784" y="3703320"/>
            <a:ext cx="2697480" cy="0"/>
          </a:xfrm>
          <a:prstGeom prst="line">
            <a:avLst/>
          </a:prstGeom>
          <a:noFill/>
          <a:ln w="2540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8558784" y="4005072"/>
            <a:ext cx="281635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 → selection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5596128"/>
            <a:ext cx="932688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14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 →  CALCULATE  →  EXPLAIN  →  INTEGRATE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AND PROVENANCE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real in this presentation?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visible number is tied to the implementation, while dataset limits remain explicit.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1828800"/>
            <a:ext cx="3364992" cy="3438144"/>
          </a:xfrm>
          <a:prstGeom prst="roundRect">
            <a:avLst>
              <a:gd name="adj" fmla="val 543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084832"/>
            <a:ext cx="603504" cy="603504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267712"/>
            <a:ext cx="6035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9344" y="2212848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96112" y="2971800"/>
            <a:ext cx="2816352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HimanshuKhale/datasets_cricket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teams • 12 synthetic T20 matches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innings • 2,846 ball events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389120" y="1828800"/>
            <a:ext cx="3364992" cy="3438144"/>
          </a:xfrm>
          <a:prstGeom prst="roundRect">
            <a:avLst>
              <a:gd name="adj" fmla="val 5435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45152" y="2084832"/>
            <a:ext cx="603504" cy="603504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2267712"/>
            <a:ext cx="6035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76672" y="2212848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2971800"/>
            <a:ext cx="2816352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schemas.py and services.py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response objects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random presentation values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56448" y="1828800"/>
            <a:ext cx="3364992" cy="3438144"/>
          </a:xfrm>
          <a:prstGeom prst="roundRect">
            <a:avLst>
              <a:gd name="adj" fmla="val 5435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2084832"/>
            <a:ext cx="603504" cy="603504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267712"/>
            <a:ext cx="603504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0" y="2212848"/>
            <a:ext cx="20116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spc="12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430768" y="2971800"/>
            <a:ext cx="2816352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dashboard screenshots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11 deployed on Render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source and PPTX assets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" y="5486400"/>
            <a:ext cx="10972800" cy="475488"/>
          </a:xfrm>
          <a:prstGeom prst="roundRect">
            <a:avLst>
              <a:gd name="adj" fmla="val 23077"/>
            </a:avLst>
          </a:prstGeom>
          <a:solidFill>
            <a:srgbClr val="F2DADA"/>
          </a:solidFill>
          <a:ln w="12700">
            <a:solidFill>
              <a:srgbClr val="F2DAD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641848"/>
            <a:ext cx="1046988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this is a synthetic/faux demonstration dataset, not real-world production cricket data.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-1188720"/>
            <a:ext cx="6492240" cy="6492240"/>
          </a:xfrm>
          <a:prstGeom prst="ellipse">
            <a:avLst/>
          </a:prstGeom>
          <a:solidFill>
            <a:srgbClr val="E56B2F">
              <a:alpha val="38000"/>
            </a:srgbClr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371600"/>
            <a:ext cx="3474720" cy="3474720"/>
          </a:xfrm>
          <a:prstGeom prst="ellipse">
            <a:avLst/>
          </a:prstGeom>
          <a:solidFill>
            <a:srgbClr val="F7D7C5">
              <a:alpha val="72000"/>
            </a:srgbClr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8580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72668"/>
            <a:ext cx="117043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6995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Match Intelligence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67208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APIs transform delivery events into score, chase, pressure and outlook intelligence.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4389120" cy="0"/>
          </a:xfrm>
          <a:prstGeom prst="line">
            <a:avLst/>
          </a:prstGeom>
          <a:noFill/>
          <a:ln w="5080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412480" y="2029968"/>
            <a:ext cx="22860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84124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6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Match Scoreboard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 /STUDENT5/LIVE-SCOREBOARD/{MATCH_ID}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0" y="411480"/>
            <a:ext cx="3886200" cy="3886200"/>
          </a:xfrm>
          <a:prstGeom prst="ellipse">
            <a:avLst/>
          </a:prstGeom>
          <a:solidFill>
            <a:srgbClr val="F7D7C5">
              <a:alpha val="92000"/>
            </a:srgbClr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56B2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96112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a live match snapshot into one frontend-ready scoreboard response.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match, innings, player, and delivery rows are fragmented; a frontend should not rebuild cricket state independently.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 dashboard  •  Broadcast overlay  •  AI commentary context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Match Scoreboard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match_id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saved match and innings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legal balls, runs, wickets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top performers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recent-ball context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total_runs = sum(runs_off_bat + extras)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overs = legal_balls // 6 + remainder notation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303520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run_rate = total_runs / legal_balls x 6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Match Scoreboard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match_id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 parameter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 match identifier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innings_number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 number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batting_team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 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bowling_team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 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Match Scoreboard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match_id is required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match returns HTTP 404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database returns HTTP 500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Wickets are capped at 10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"match_id": "1"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"match": "Match 1: INDI vs BHOP",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"venue": "Holkar Cricket Stadium",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"innings_number": 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"batting_team": "Bhopal Blazers",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"bowling_team": "Indore Invincibles",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"95/3"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Match Scoreboard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1_live_score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82496"/>
            <a:ext cx="100584" cy="3895344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31352" y="2483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 dashboard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31352" y="27975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Broadcast overlay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31352" y="311152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commentary context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31352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31352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 uses stored data rather than a streaming feed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531352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4232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Top-performer ranking is descriptive, not predictive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95/3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RATE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Ritvik Sen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BATTER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6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Innings Summary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 /STUDENT5/INNINGS-SUMMARY/{INNINGS_ID}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41080" y="411480"/>
            <a:ext cx="3886200" cy="3886200"/>
          </a:xfrm>
          <a:prstGeom prst="ellipse">
            <a:avLst/>
          </a:prstGeom>
          <a:solidFill>
            <a:srgbClr val="F7D7C5">
              <a:alpha val="92000"/>
            </a:srgbClr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56B2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6410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one completed innings into scorecard, efficiency, and top-performer summaries.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events are too granular for post-innings analysis and must be reconciled into batter and bowler records.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 tab  •  Post-innings report  •  Player performance cards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Innings Summary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innings_id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saved deliveries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team total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batter and bowler tables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top performers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strike_rate = runs / balls_faced x 100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economy = runs_conceded / legal_balls x 6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303520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innings_run_rate = total_runs / legal_balls x 6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Innings Summary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innings_id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path parameter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 innings identifier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innings_id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Unique innings identifier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total_runs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runs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wickets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wickets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legal_balls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legal balls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run_rate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 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Innings Summary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innings_id must be positive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Unknown innings returns HTTP 404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division handles zero balls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legal balls count toward overs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"innings_id": "1"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"innings_id": 1,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"total_runs": 206,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"wickets": 3,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"legal_balls": 120,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"overs": "20.0",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"run_rate": 10.3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Innings Summary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913632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2_innings_summ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784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13632" y="1682496"/>
            <a:ext cx="100584" cy="3895344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77824" y="2483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Scorecard tab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" y="27975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Post-innings report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311152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performance cards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7824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Depends on complete saved ball-event history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77824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Fielding analysis is outside this endpoint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206/3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20.0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10.3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RATE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Aarav Sharma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BATTER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6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03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Match State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/STUDENT5/MATCH-STATE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0" y="411480"/>
            <a:ext cx="3886200" cy="3886200"/>
          </a:xfrm>
          <a:prstGeom prst="ellipse">
            <a:avLst/>
          </a:prstGeom>
          <a:solidFill>
            <a:srgbClr val="F7D7C5">
              <a:alpha val="92000"/>
            </a:srgbClr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56B2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96112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current chase using target, score, time, wickets, and scoring pressure.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score alone does not explain whether the chase is ahead, behind, or under resource pressure.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Chase progress card  •  Live commentary  •  Match-state agent tool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Match State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match and innings context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current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legal balls and wickets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chase resources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cricket-language status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runs_needed = max(target - score, 0)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786884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balls_remaining = total_balls - legal_balls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111496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wickets_remaining = 10 - wickets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68680" y="5436108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CRR and RRR use six-ball rates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Match State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khel_showcase_match_state_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khel_showcase_match_state_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list[khel_showcase_match_s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Ordered delivery-event list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innings_number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 number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wickets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wickets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batting_team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 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bowling_team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 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Match State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Non-negative runs and extras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target and overs limit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 number &gt;= 1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Empty ball list returns a valid initial state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"Match 1: INDI vs BHOP",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"total_overs": 20,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207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"innings_number": 2,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"batting_team": "Bhopal Blazers",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"bowling_team": "Indore Invincibles",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"total_overs_limit": 20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"balls":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"over_number":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"ball_number":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"runs_off_bat":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"extras":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"match": "Match 1: INDI vs BHOP",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"innings_number": 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"score": "95/3",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"overs": "10.0",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"wickets": 3,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"batting_team": "Bhopal Blazers"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Match State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3_current_match_st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82496"/>
            <a:ext cx="100584" cy="3895344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31352" y="2483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Chase progress card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31352" y="27975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commentary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31352" y="311152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Match-state agent tool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31352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31352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weather or DLS adjustment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531352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4232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Assumes standard ten-wicket innings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95/3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NEEDED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BALLS LEFT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11.2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RRR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6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04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Run Rate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/STUDENT5/REQUIRED-RUN-RATE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41080" y="411480"/>
            <a:ext cx="3886200" cy="3886200"/>
          </a:xfrm>
          <a:prstGeom prst="ellipse">
            <a:avLst/>
          </a:prstGeom>
          <a:solidFill>
            <a:srgbClr val="F7D7C5">
              <a:alpha val="92000"/>
            </a:srgbClr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56B2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6410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the exact scoring pace required to complete a chase.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Clients often calculate RRR inconsistently, especially when wides and no-balls are present.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pressure panel  •  Commentary sentence  •  Mobile scorecard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Run Rate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target and delivery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Aggregate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legal balls only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remaining requirement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substituted equation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RRR = runs_needed / balls_remaining x 6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runs_needed = max(target - current_score, 0)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Run Rate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khel_showcase_required_rat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khel_showcase_required_rat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list[khel_showcase_require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Ordered delivery-event list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current_score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runs_needed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needed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balls_remaining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 remaining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required_run_rate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run 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equation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equation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message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message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Run Rate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must be positive when present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Overs limit must be positive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Illegal deliveries do not consume a ball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target returns an explicit non-chase response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"Match 1: INDI vs BHOP",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"total_overs": 20,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207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"innings_number": 2,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"batting_team": "Bhopal Blazers",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"bowling_team": "Indore Invincibles",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"total_overs_limit": 20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"balls":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"over_number":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"ball_number":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"runs_off_bat":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"extras":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"target": 207,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"current_score": "95/3",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"runs_needed": 112,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"balls_remaining": 60,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"required_run_rate": 11.2,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"equation": "Required run rate = (112 runs needed / 60 balls remaining) x 6 = 11.2"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Required Run Rate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913632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4_required_run_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784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13632" y="1682496"/>
            <a:ext cx="100584" cy="3895344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77824" y="2483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pressure panel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" y="27975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Commentary sentence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311152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scorecard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7824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DLS/par-score support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77824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not itself classify win chance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207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95/3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112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NEEDED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11.2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RRR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E56B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05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Probability Label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/STUDENT5/MATCH-OUTLOOK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0" y="411480"/>
            <a:ext cx="3886200" cy="3886200"/>
          </a:xfrm>
          <a:prstGeom prst="ellipse">
            <a:avLst/>
          </a:prstGeom>
          <a:solidFill>
            <a:srgbClr val="F7D7C5">
              <a:alpha val="92000"/>
            </a:srgbClr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E56B2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96112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the chase as High, Medium, or Low Chance using transparent cricket rules.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need an interpretable match outlook, but an uncalibrated numeric probability would be misleading.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outlook badge  •  Explainable AI commentary  •  Match dashboard alert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Probability Label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match state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RRR with CRR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wickets and balls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E56B2F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declared thresholds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label and reason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High: RRR &lt;= CRR + 1.5 and wickets &gt;= 4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Low: RRR &gt; CRR + 4 or critical wickets/resources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303520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Otherwise: Medium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Probability Label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khel_showcase_outlook_sche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match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khel_showcase_outlook_sche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innings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list[khel_showcase_outlook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Ordered delivery-event list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runs_needed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runs needed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balls_remaining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balls remaining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required_run_rate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run 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prediction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wickets_in_hand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wickets in hand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overs_left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overs left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current_run_rate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 run rate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Probability Label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validated match-state payload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reached returns High Chance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target returns context-safe output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Reason and heuristic accompany every label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"match":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"match_id":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"title": "Match 1: INDI vs BHOP",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"total_overs": 20,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"target": 207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"innings":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"innings_number": 2,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"batting_team": "Bhopal Blazers",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"bowling_team": "Indore Invincibles",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"total_overs_limit": 20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"balls":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"over_number":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"ball_number":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"runs_off_bat":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"extras":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"runs_needed": 112,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"balls_remaining": 60,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"required_run_rate": 11.2,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"prediction": "Medium Chance",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"wickets_in_hand": 7,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"overs_left": "10.0"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Win Probability Label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5_win_prob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82496"/>
            <a:ext cx="100584" cy="3895344"/>
          </a:xfrm>
          <a:prstGeom prst="rect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31352" y="248363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outlook badge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31352" y="279757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AI commentary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31352" y="311152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dashboard alert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31352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31352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Heuristic, not trained probability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531352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4232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need calibration on real match data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Chance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OUTLOOK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11.2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RRR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9.5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CRR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WICKETS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1: the complete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raw deliveries to live match understanding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55648"/>
            <a:ext cx="4663440" cy="4160520"/>
          </a:xfrm>
          <a:prstGeom prst="roundRect">
            <a:avLst>
              <a:gd name="adj" fmla="val 3956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MODULES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86968" y="2560320"/>
            <a:ext cx="338328" cy="33832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51760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89888" y="2596896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Match Scoreboard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" y="3127248"/>
            <a:ext cx="338328" cy="33832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18688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89888" y="3163824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Innings Summary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" y="3694176"/>
            <a:ext cx="338328" cy="33832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785616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89888" y="3730752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Match State 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6968" y="4261104"/>
            <a:ext cx="338328" cy="33832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352544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89888" y="4297680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Run Rate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" y="4828032"/>
            <a:ext cx="338328" cy="338328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6968" y="4919472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89888" y="4864608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Probability Label API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532120" y="1755648"/>
            <a:ext cx="6062472" cy="4160520"/>
          </a:xfrm>
          <a:prstGeom prst="roundRect">
            <a:avLst>
              <a:gd name="adj" fmla="val 3956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SPRINT ADDS TO KHEL AI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33872" y="2688336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2560320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legal-ball calculation standard across endpoints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833872" y="3332988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16752" y="3204972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Frontend-ready score, innings, chase and outlook responses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833872" y="3977640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3849624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formulas and rule-based explanations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833872" y="4622292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16752" y="4494276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context for dashboards and AI agents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7040880" y="5230368"/>
            <a:ext cx="3154680" cy="310896"/>
          </a:xfrm>
          <a:prstGeom prst="roundRect">
            <a:avLst>
              <a:gd name="adj" fmla="val 50000"/>
            </a:avLst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0" y="5317236"/>
            <a:ext cx="3154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INDEPENDENTLY REUSABLE ENDPOINTS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-1188720"/>
            <a:ext cx="6492240" cy="6492240"/>
          </a:xfrm>
          <a:prstGeom prst="ellipse">
            <a:avLst/>
          </a:prstGeom>
          <a:solidFill>
            <a:srgbClr val="2E8B63">
              <a:alpha val="38000"/>
            </a:srgbClr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371600"/>
            <a:ext cx="3474720" cy="3474720"/>
          </a:xfrm>
          <a:prstGeom prst="ellipse">
            <a:avLst/>
          </a:prstGeom>
          <a:solidFill>
            <a:srgbClr val="D8EDDF">
              <a:alpha val="72000"/>
            </a:srgbClr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8580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72668"/>
            <a:ext cx="117043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6995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Player Performance Analytics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67208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APIs explain form direction and opponent-specific matchup effects.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4389120" cy="0"/>
          </a:xfrm>
          <a:prstGeom prst="line">
            <a:avLst/>
          </a:prstGeom>
          <a:noFill/>
          <a:ln w="5080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412480" y="2029968"/>
            <a:ext cx="22860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84124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8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06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Derived Variables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/STUDENT5/FORM-TREND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41080" y="411480"/>
            <a:ext cx="3886200" cy="3886200"/>
          </a:xfrm>
          <a:prstGeom prst="ellipse">
            <a:avLst/>
          </a:prstGeom>
          <a:solidFill>
            <a:srgbClr val="D8EDDF">
              <a:alpha val="92000"/>
            </a:srgbClr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8B63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6410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player form direction, volatility, linear fit, and confidence from recent performances.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recent average cannot reveal whether performance is improving, declining, or unstable.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form chart  •  Trend filter  •  Upstream fantasy feature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Derived Variables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 performances chronologically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 or accept performance 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 OLS regression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volatility and R-squared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normalized slope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performance = runs + 0.10 x strike_rate - dismissal_penalty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786884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slope = covariance(x,y) / variance(x)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111496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normalized_trend = slope / average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868680" y="5436108"/>
            <a:ext cx="6400800" cy="3063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= R2 x noise adjustment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Derived Variables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khel_showcase_form_variabl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 identity and role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recent_performances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list[khel_showcase_form_va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Chronological recent records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stable_slope_threshold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Trend-label threshold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7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recent_match_sequence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list[float]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 match sequence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regression_slope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regression slope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recent_average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 average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volatility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volatility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Derived Variables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three performances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positive sequence numbers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Non-negative runs and scores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stable-slope threshold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"player_name": "Aarav Sharma",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"batter"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"recent_performances":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"sequence_number":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"runs_scored":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"balls_faced":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"stable_slope_threshold": 0.15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"form_trend",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"Declining",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"explanation": "Recent form is dropping because the regression slope is negative (-16.629) and meaningfully below the stable threshold.",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"recent_match_sequence": [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108,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"regression_slope": -16.629,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"recent_average": 50.67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Derived Variables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913632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6_form_trend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784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13632" y="1682496"/>
            <a:ext cx="100584" cy="3895344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77824" y="2483632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form chart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" y="27975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filter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311152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Upstream fantasy feature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7824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trend misses nonlinear form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77824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Six-match sample is small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Declining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-16.629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SLOPE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50.67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0.358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8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07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Final Output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/STUDENT5/FORM-TREND-FINAL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0" y="411480"/>
            <a:ext cx="3886200" cy="3886200"/>
          </a:xfrm>
          <a:prstGeom prst="ellipse">
            <a:avLst/>
          </a:prstGeom>
          <a:solidFill>
            <a:srgbClr val="D8EDDF">
              <a:alpha val="92000"/>
            </a:srgbClr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8B63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96112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form statistics into a 0-100 score, label, confidence, and explanation.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Frontends should not independently interpret raw regression values or duplicate threshold logic.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dashboard badge  •  Selection ranking  •  AI-agent explanation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Final Output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 recent or player-match rows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 target leakage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derived variables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normalized slope to score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label and explanation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form_score = clamp(50 + normalized_trend x 100, 0, 100)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Rising &gt; +threshold; Declining &lt; -threshold; else Stable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Final Output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khel_showcase_form_final_s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 identity and role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recent_performances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list[khel_showcase_form_fi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Chronological recent records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player_match_rows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list[khel_showcase_form_fi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Historical player-match rows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pressure_confidence_rows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list[khel_showcase_form_fi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pressure confidence rows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recent_match_limit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 match limit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stable_slope_threshold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Trend-label threshold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8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form_trend_score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Upstream API 7 form 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trend_label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trend_confidence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trend confidence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derived_variables_used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khel_showcase_form_final_s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 variables used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Final Output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performances or player rows required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three records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rows must match requested player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row must not enter history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"player_name": "Aarav Sharma",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"batter"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"player_match_rows":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"player_id":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"player_name":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"team_id":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"recent_match_limit": 6,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"stable_slope_threshold": 0.15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"form_trend_final_output",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"Declining",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"form_trend_score": 17.18,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"trend_label": "Declining",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"trend_confidence": 0.358,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"derived_variables_used":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"recent_match_sequence": [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"…"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"regression_slope": -16.629,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"recent_average": 50.67,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"volatility": 36.22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 Trend Final Output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7_form_tren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82496"/>
            <a:ext cx="100584" cy="3895344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31352" y="2483632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dashboard badge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31352" y="27975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 ranking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31352" y="311152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AI-agent explanation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31352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31352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 mapping is rule-based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531352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4232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can remain low despite a strong direction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17.18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Declining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0.358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50.67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8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08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Derived Variables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/STUDENT5/OPPONENT-BAYESIAN-DERIVED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41080" y="411480"/>
            <a:ext cx="3886200" cy="3886200"/>
          </a:xfrm>
          <a:prstGeom prst="ellipse">
            <a:avLst/>
          </a:prstGeom>
          <a:solidFill>
            <a:srgbClr val="D8EDDF">
              <a:alpha val="92000"/>
            </a:srgbClr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8B63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6410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a player's overall performance expectation using opponent-specific evidence.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form can hide favorable or difficult matchup history, while one opponent result is too noisy to trust alone.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matchup card  •  Pre-match report  •  Fantasy context feature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Derived Variables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overall prior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opponent mean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opponent volatility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evidence strength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weighted posterior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consistency = 1 - volatility / (average + volatility)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evidence_strength = capped_n x consistency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303520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 = weighted prior + opponent evidence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Derived Variables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khel_showcase_bayesian_var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 identity and role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opponent_team_id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team 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opponent_team_name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team name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prior_performances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list[khel_showcase_bayesia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Overall historical samples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opponent_performances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list[khel_showcase_bayesia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Samples against opponent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prior_weight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Weight assigned to prior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max_evidence_weight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evidence cap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9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prior_performance_estimate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performance estimate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opponent_specific_evidence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specific evidence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evidence_strength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strength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posterior_estimate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posterior estimate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Derived Variables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three prior samples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opponent sample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prior and evidence weights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Non-negative performance values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"player_name": "Aarav Sharma",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"batter"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"opponent_team_id": "4",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"opponent_team_name": "Gwalior Guardians",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"prior_performances":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"runs_scored":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"balls_faced":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"was_out":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"opponent_performances":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"runs_scored":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"balls_faced":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"was_out"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"opponent_bayesian_performance_derived_variables",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"Neutral Opponent Adjustment",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"explanation": "The prior performance estimate is 50.67. Opponent-specific evidence is 24.0 with evidence strength 1.021. The Bayesian weighted update gives posterior_estimate=46.79 and confidence=0.356. The final label is Neutral Opponent Adjustment, so the result updates prior belief using opponent evidence instead of guessing from a single match.",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"prior_performance_estimate": 50.67,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"opponent_specific_evidence": 24,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"evidence_strength": 1.021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Derived Variables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913632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8_bayesian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784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13632" y="1682496"/>
            <a:ext cx="100584" cy="3895344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77824" y="2483632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matchup card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" y="27975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Pre-match report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311152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context feature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7824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opponent samples are fragile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77824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 depends on chosen weights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50.67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1.021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STRENGTH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46.79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POSTERIOR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2E8B6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09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Final Output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/STUDENT5/OPPONENT-BAYESIAN-FINAL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0" y="411480"/>
            <a:ext cx="3886200" cy="3886200"/>
          </a:xfrm>
          <a:prstGeom prst="ellipse">
            <a:avLst/>
          </a:prstGeom>
          <a:solidFill>
            <a:srgbClr val="D8EDDF">
              <a:alpha val="92000"/>
            </a:srgbClr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2E8B63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96112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CONTEXT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an opponent-adjusted performance score, matchup label, and confidence.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posterior number needs a decision label, change explanation, and evidence warning before product use.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Pre-match player panel  •  Opponent-adjusted fantasy input  •  AI matchup explanation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Final Output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player history before target date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opponent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smoothed posterior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2E8B63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prior change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matchup and confidence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 = opponent_n / (opponent_n + smoothing_k)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posterior = (1-weight) x prior + weight x evidence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868680" y="5303520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change_percent = (posterior-prior) / prior x 100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Final Output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khel_showcase_bayesian_fin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 identity and role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opponent_team_id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team 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opponent_team_name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team name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target_match_date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datetime.date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Anti-leakage cutoff date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prior_performances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list[khel_showcase_bayesia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Overall historical samples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opponent_performances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list[khel_showcase_bayesia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Samples against opponent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10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opponent_adjusted_performance_score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adjusted performance score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posterior_expectation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posterior expectation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confidence_label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confidence 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derived_variables_used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khel_showcase_bayesian_fin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derived variables used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Final Output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or explicit samples required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Target-date anti-leakage filter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smoothing and weights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matching history returns HTTP 422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"player_name": "Aarav Sharma",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"batter"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"opponent_team_id": "4",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"opponent_team_name": "Gwalior Guardians",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"target_match_date": "2026-07-15",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"player_match_rows": [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"match_id":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"player_id":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"player_name":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"team_id":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"more":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"…"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"smoothing_k": 5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"opponent_bayesian_performance_final_output",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"Neutral Matchup",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"opponent_adjusted_performance_score": 46.79,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"posterior_expectation": 46.79,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"confidence_label": "Low Confidence",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"derived_variables_used":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"prior_performance_estimate": 50.67,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"opponent_specific_evidence": 24,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"evidence_strength": 1.021,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"posterior_estimate": 46.79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Opponent Bayesian Final Output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09_bayesian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82496"/>
            <a:ext cx="100584" cy="3895344"/>
          </a:xfrm>
          <a:prstGeom prst="rect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31352" y="2483632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Pre-match player panel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31352" y="279757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Opponent-adjusted fantasy input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31352" y="311152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matchup explanation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31352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31352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opponent history produces low confidence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531352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4232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label can mask a meaningful but uncertain shift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46.79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ADJUSTED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Matchup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Confidence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demo_only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2: the complete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player history to explainable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55648"/>
            <a:ext cx="4663440" cy="4160520"/>
          </a:xfrm>
          <a:prstGeom prst="roundRect">
            <a:avLst>
              <a:gd name="adj" fmla="val 3956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MODULES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86968" y="2560320"/>
            <a:ext cx="338328" cy="33832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51760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89888" y="2596896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Trend Derived Variables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" y="3127248"/>
            <a:ext cx="338328" cy="33832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18688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89888" y="3163824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Trend Final Output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86968" y="3694176"/>
            <a:ext cx="338328" cy="33832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785616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389888" y="3730752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Bayesian Derived Variables API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6968" y="4261104"/>
            <a:ext cx="338328" cy="338328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" y="4352544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389888" y="4297680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Opponent Bayesian Final Output API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32120" y="1755648"/>
            <a:ext cx="6062472" cy="4160520"/>
          </a:xfrm>
          <a:prstGeom prst="roundRect">
            <a:avLst>
              <a:gd name="adj" fmla="val 3956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SPRINT ADDS TO KHEL AI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833872" y="2688336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2560320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Aarav Sharma provides one continuous six-match story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833872" y="3332988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16752" y="3204972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exposes direction, fit and volatility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33872" y="3977640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3849624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Bayesian updates balance prior belief with opponent evidence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833872" y="4622292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16752" y="4494276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warnings prevent overclaiming small samples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7040880" y="5230368"/>
            <a:ext cx="3154680" cy="310896"/>
          </a:xfrm>
          <a:prstGeom prst="roundRect">
            <a:avLst>
              <a:gd name="adj" fmla="val 50000"/>
            </a:avLst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5317236"/>
            <a:ext cx="3154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INDEPENDENTLY REUSABLE ENDPOINTS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03720" y="-1188720"/>
            <a:ext cx="6492240" cy="6492240"/>
          </a:xfrm>
          <a:prstGeom prst="ellipse">
            <a:avLst/>
          </a:prstGeom>
          <a:solidFill>
            <a:srgbClr val="1F8994">
              <a:alpha val="38000"/>
            </a:srgbClr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1371600"/>
            <a:ext cx="3474720" cy="3474720"/>
          </a:xfrm>
          <a:prstGeom prst="ellipse">
            <a:avLst/>
          </a:prstGeom>
          <a:solidFill>
            <a:srgbClr val="D6ECEE">
              <a:alpha val="72000"/>
            </a:srgbClr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8580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772668"/>
            <a:ext cx="117043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3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58368" y="1481328"/>
            <a:ext cx="6995160" cy="1234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Fantasy Decision Engine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035808"/>
            <a:ext cx="672084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C9D8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APIs connect event probabilities, player context and a saved prediction model.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4069080"/>
            <a:ext cx="4389120" cy="0"/>
          </a:xfrm>
          <a:prstGeom prst="line">
            <a:avLst/>
          </a:prstGeom>
          <a:noFill/>
          <a:ln w="5080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8412480" y="2029968"/>
            <a:ext cx="22860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7000" b="1" dirty="0">
                <a:solidFill>
                  <a:srgbClr val="FFFFFF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0" dirty="0"/>
          </a:p>
        </p:txBody>
      </p:sp>
      <p:sp>
        <p:nvSpPr>
          <p:cNvPr id="11" name="Text 9"/>
          <p:cNvSpPr/>
          <p:nvPr/>
        </p:nvSpPr>
        <p:spPr>
          <a:xfrm>
            <a:off x="8412480" y="3310128"/>
            <a:ext cx="228600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89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10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Derived Variables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/STUDENT5/EXPECTED-FANTASY-DERIVED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641080" y="411480"/>
            <a:ext cx="3886200" cy="3886200"/>
          </a:xfrm>
          <a:prstGeom prst="ellipse">
            <a:avLst/>
          </a:prstGeom>
          <a:solidFill>
            <a:srgbClr val="D6ECEE">
              <a:alpha val="92000"/>
            </a:srgbClr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F8994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64108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DECISION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expected fantasy value from event probabilities and scoring rules.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outcomes combine uncertain batting, bowling, and fielding events; raw averages hide those components.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contribution chart  •  Player comparison  •  Explainable recommendation input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Derived Variables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Receive event probabilities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point values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Multiply each probability by value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 component totals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expected value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event_EV = probability x point_value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total_EV = batting_EV + bowling_EV + fielding_EV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Derived Variables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khel_showcase_fantasy_vari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 identity and role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batting_event_probabilities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khel_showcase_fantasy_vari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 probabilities, each 0-1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bowling_event_probabilities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khel_showcase_fantasy_vari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 probabilities, each 0-1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fielding_event_probabilities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khel_showcase_fantasy_vari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Fielding probabilities, each 0-1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event_point_values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khel_showcase_fantasy_vari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Fantasy scoring values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1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explanation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batting_event_probabilities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dict[str, float]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Batting probabilities, each 0-1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bowling_event_probabilities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dict[str, float]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Bowling probabilities, each 0-1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fielding_event_probabilities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dict[str, float]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Fielding probabilities, each 0-1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event_point_values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dict[str, float]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Fantasy scoring values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Derived Variables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probabilities constrained to 0-1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20268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07467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event groups enforced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85419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72618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values have documented defaults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50570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77690"/>
            <a:ext cx="2176272" cy="63322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Non-negative player event inputs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"player_name": "Aarav Sharma",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"batter"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"batting_event_probabilities":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"run_0": 0.3835,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"run_1": 0.3058,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"run_2": 0.1359,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"run_3": 0.0049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"bowling_event_probabilities":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"dot_ball": 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"wicket": 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"maiden_over": 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"economy_bonus": 0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"fielding_event_probabilities":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"catch": 0.5,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"run_out": 0,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"stumping": 0.1667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"expected_fantasy_points_derived_variables",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"Low Expected Fantasy Value",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"explanation": "Expected fantasy points are calculated as sum(probability * point_value) across batting, bowling, and fielding events. The total expected value is 7.42.",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"batting_event_probabilities":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"run_0": 0.3835,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"run_1": 0.3058,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"run_2": 0.1359,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"run_3": 0.0049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"bowling_event_probabilities":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"dot_ball": 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"wicket": 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"maiden_over": 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"economy_bonus": 0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"fielding_event_probabilities": 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"catch": 0.5,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"run_out": 0,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"stumping": 0.1667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Derived Variables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3913632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10_expected_fantasy_vari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6784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913632" y="1682496"/>
            <a:ext cx="100584" cy="3895344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77824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77824" y="2483632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0704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contribution chart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7824" y="279757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60704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Player comparison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77824" y="3111520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0704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recommendation input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1792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7824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77824" y="4567245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60704" y="4462272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Per-opportunity EV is not a complete match projection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77824" y="4942149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0704" y="4837176"/>
            <a:ext cx="2587752" cy="3566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Probabilities need larger role-specific samples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EV</a:t>
            </a:r>
            <a:endParaRPr lang="en-US" sz="720" dirty="0"/>
          </a:p>
        </p:txBody>
      </p:sp>
      <p:sp>
        <p:nvSpPr>
          <p:cNvPr id="26" name="Shape 23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1.42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BATTING</a:t>
            </a:r>
            <a:endParaRPr lang="en-US" sz="720" dirty="0"/>
          </a:p>
        </p:txBody>
      </p:sp>
      <p:sp>
        <p:nvSpPr>
          <p:cNvPr id="29" name="Shape 26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BOWLING</a:t>
            </a:r>
            <a:endParaRPr lang="en-US" sz="720" dirty="0"/>
          </a:p>
        </p:txBody>
      </p:sp>
      <p:sp>
        <p:nvSpPr>
          <p:cNvPr id="32" name="Shape 29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FIELDING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65760"/>
            <a:ext cx="105156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52628"/>
            <a:ext cx="1051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3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987552"/>
            <a:ext cx="237744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899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66928" y="1664208"/>
            <a:ext cx="57607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Final Output API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85216" y="2788920"/>
            <a:ext cx="4480560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2875788"/>
            <a:ext cx="448056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 /STUDENT5/EXPECTED-FANTASY-FINAL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961120" y="411480"/>
            <a:ext cx="3886200" cy="3886200"/>
          </a:xfrm>
          <a:prstGeom prst="ellipse">
            <a:avLst/>
          </a:prstGeom>
          <a:solidFill>
            <a:srgbClr val="D6ECEE">
              <a:alpha val="92000"/>
            </a:srgbClr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98280" y="1005840"/>
            <a:ext cx="29260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1F8994">
                    <a:alpha val="92000"/>
                  </a:srgbClr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8961120" y="3657600"/>
            <a:ext cx="32918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spc="16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DECISION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3657600"/>
            <a:ext cx="5486400" cy="2176272"/>
          </a:xfrm>
          <a:prstGeom prst="roundRect">
            <a:avLst>
              <a:gd name="adj" fmla="val 672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97764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22960" y="4315968"/>
            <a:ext cx="4937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 the final fantasy projection, model provenance, risk, and selection label.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5138928"/>
            <a:ext cx="49377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Khel AI needs an actionable prediction while retaining feature-contract safety, fallback behavior, and honest model limits.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537960" y="4434840"/>
            <a:ext cx="5074920" cy="1399032"/>
          </a:xfrm>
          <a:prstGeom prst="roundRect">
            <a:avLst>
              <a:gd name="adj" fmla="val 10458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470916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KHEL AI USES IT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812280" y="5074920"/>
            <a:ext cx="45262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selection panel  •  Batch player ranking  •  AI model-vs-statistical explanation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PROCESSING LOGIC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Final Output API: how it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visible path from validated cricket input to explainable output.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2167128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841248" cy="84124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pre-match historical features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43984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2935224" y="1783080"/>
            <a:ext cx="841248" cy="841248"/>
          </a:xfrm>
          <a:prstGeom prst="ellipse">
            <a:avLst/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35224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34056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cached .pkl bundle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20840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5212080" y="1783080"/>
            <a:ext cx="841248" cy="84124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010912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Enforce feature_columns.json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97696" y="2221992"/>
            <a:ext cx="749808" cy="0"/>
          </a:xfrm>
          <a:prstGeom prst="line">
            <a:avLst/>
          </a:prstGeom>
          <a:noFill/>
          <a:ln w="27940">
            <a:solidFill>
              <a:srgbClr val="1F8994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7488936" y="1783080"/>
            <a:ext cx="841248" cy="841248"/>
          </a:xfrm>
          <a:prstGeom prst="ellipse">
            <a:avLst/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88936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287768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prediction range/distribution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65792" y="1783080"/>
            <a:ext cx="841248" cy="84124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2020824"/>
            <a:ext cx="841248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564624" y="2770632"/>
            <a:ext cx="1243584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 ML or statistical fallback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3794760"/>
            <a:ext cx="7086600" cy="1975104"/>
          </a:xfrm>
          <a:prstGeom prst="roundRect">
            <a:avLst>
              <a:gd name="adj" fmla="val 8333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FORMULAS AND RULES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68680" y="4462272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final_prediction = valid ML output else statistical fallback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868680" y="4882896"/>
            <a:ext cx="6400800" cy="40233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E7F4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selection: Must Pick / Strong Pick / Risk Pick / Avoid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7909560" y="3794760"/>
            <a:ext cx="3703320" cy="1975104"/>
          </a:xfrm>
          <a:prstGeom prst="roundRect">
            <a:avLst>
              <a:gd name="adj" fmla="val 8333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83880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APPROACH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83880" y="4544690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66760" y="4443984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Pydantic validates the contract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183880" y="4904354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4803648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logic handles cricket rules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183880" y="5264018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66760" y="5163312"/>
            <a:ext cx="2907792" cy="3413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includes interpretation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OUTPUT SCHEMA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Final Output API: API contract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frontend and model service agree on one explicit, validated contract.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69164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778508"/>
            <a:ext cx="100584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</a:t>
            </a:r>
            <a:endParaRPr lang="en-US" sz="850" dirty="0"/>
          </a:p>
        </p:txBody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khel_showcase_fantasy_fina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 identity and role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opponent_team_id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team 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opponent_team_name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opponent team name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venue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target_match_date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datetime.date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Anti-leakage cutoff date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adjusted_posterior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adjusted posterior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player_match_rows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list[khel_showcase_fantasy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Historical player-match rows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2084832"/>
            <a:ext cx="5376672" cy="356616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1" name="Text 8"/>
          <p:cNvSpPr/>
          <p:nvPr/>
        </p:nvSpPr>
        <p:spPr>
          <a:xfrm>
            <a:off x="184123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318540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09943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6217920" y="1691640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1778508"/>
            <a:ext cx="1078992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</a:t>
            </a:r>
            <a:endParaRPr lang="en-US" sz="850" dirty="0"/>
          </a:p>
        </p:txBody>
      </p:sp>
      <p:graphicFrame>
        <p:nvGraphicFramePr>
          <p:cNvPr id="1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2084832"/>
          <a:ext cx="5376672" cy="3090672"/>
        </p:xfrm>
        <a:graphic>
          <a:graphicData uri="http://schemas.openxmlformats.org/drawingml/2006/table">
            <a:tbl>
              <a:tblPr/>
              <a:tblGrid>
                <a:gridCol w="1182868"/>
                <a:gridCol w="1344168"/>
                <a:gridCol w="914034"/>
                <a:gridCol w="1935602"/>
              </a:tblGrid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Field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Type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Meaning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label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expected_fantasy_points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expected fantasy points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final_prediction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final prediction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supervised_ml_prediction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float | None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Optional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supervised ml prediction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ml_prediction_valid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bool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ml prediction valid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fallback_used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bool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5362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fallback used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>
                    <a:lnL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D0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Shape 13"/>
          <p:cNvSpPr/>
          <p:nvPr/>
        </p:nvSpPr>
        <p:spPr>
          <a:xfrm>
            <a:off x="6217920" y="2084832"/>
            <a:ext cx="5376672" cy="356616"/>
          </a:xfrm>
          <a:prstGeom prst="rect">
            <a:avLst/>
          </a:prstGeom>
          <a:solidFill>
            <a:srgbClr val="284C3F"/>
          </a:solidFill>
          <a:ln w="12700">
            <a:solidFill>
              <a:srgbClr val="284C3F">
                <a:alpha val="0"/>
              </a:srgbClr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81928" y="2194560"/>
            <a:ext cx="10548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</a:t>
            </a:r>
            <a:endParaRPr lang="en-US" sz="830" dirty="0"/>
          </a:p>
        </p:txBody>
      </p:sp>
      <p:sp>
        <p:nvSpPr>
          <p:cNvPr id="19" name="Text 15"/>
          <p:cNvSpPr/>
          <p:nvPr/>
        </p:nvSpPr>
        <p:spPr>
          <a:xfrm>
            <a:off x="7464796" y="2194560"/>
            <a:ext cx="1216152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830" dirty="0"/>
          </a:p>
        </p:txBody>
      </p:sp>
      <p:sp>
        <p:nvSpPr>
          <p:cNvPr id="20" name="Text 16"/>
          <p:cNvSpPr/>
          <p:nvPr/>
        </p:nvSpPr>
        <p:spPr>
          <a:xfrm>
            <a:off x="8808964" y="2194560"/>
            <a:ext cx="786018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</a:t>
            </a:r>
            <a:endParaRPr lang="en-US" sz="830" dirty="0"/>
          </a:p>
        </p:txBody>
      </p:sp>
      <p:sp>
        <p:nvSpPr>
          <p:cNvPr id="21" name="Text 17"/>
          <p:cNvSpPr/>
          <p:nvPr/>
        </p:nvSpPr>
        <p:spPr>
          <a:xfrm>
            <a:off x="9722998" y="2194560"/>
            <a:ext cx="1807586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830" dirty="0"/>
          </a:p>
        </p:txBody>
      </p:sp>
      <p:sp>
        <p:nvSpPr>
          <p:cNvPr id="22" name="Shape 18"/>
          <p:cNvSpPr/>
          <p:nvPr/>
        </p:nvSpPr>
        <p:spPr>
          <a:xfrm>
            <a:off x="594360" y="5413248"/>
            <a:ext cx="11000232" cy="566928"/>
          </a:xfrm>
          <a:prstGeom prst="roundRect">
            <a:avLst>
              <a:gd name="adj" fmla="val 19355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822960" y="5596128"/>
            <a:ext cx="10533888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 records are summarized for presentation. The complete machine-readable contract remains available through FastAPI OpenAPI.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AND EXAMPLE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Final Output API: request to response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example is generated from the same local service logic used by the dashboard.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1737360"/>
            <a:ext cx="2880360" cy="4251960"/>
          </a:xfrm>
          <a:prstGeom prst="roundRect">
            <a:avLst>
              <a:gd name="adj" fmla="val 5079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391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255117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423160"/>
            <a:ext cx="21762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saved feature order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822960" y="3072384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44368"/>
            <a:ext cx="21762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least one prior match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3593592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465576"/>
            <a:ext cx="21762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target-date leakage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822960" y="4114800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986784"/>
            <a:ext cx="21762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NaN, infinite, or 0-200 outliers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4636008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07992"/>
            <a:ext cx="2176272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 1-100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5230368"/>
            <a:ext cx="2359152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50976" y="5376672"/>
            <a:ext cx="210312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4xx/5xx errors, never silent failure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730752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REQUEST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30752" y="2103120"/>
            <a:ext cx="3611880" cy="3886200"/>
          </a:xfrm>
          <a:prstGeom prst="roundRect">
            <a:avLst>
              <a:gd name="adj" fmla="val 3038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30752" y="2103120"/>
            <a:ext cx="73152" cy="3886200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0" y="2249424"/>
            <a:ext cx="3264408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"player": 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"player_id": "1",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"player_name": "Aarav Sharma",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"role": "batter"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"opponent_team_id": "4",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"opponent_team_name": "Gwalior Guardians",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"venue": "Holkar Cricket Stadium",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"target_match_date": "2026-07-15",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"adjusted_posterior": 46.79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7607808" y="17830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SAMPLE RESPONSE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607808" y="2103120"/>
            <a:ext cx="4005072" cy="3886200"/>
          </a:xfrm>
          <a:prstGeom prst="roundRect">
            <a:avLst>
              <a:gd name="adj" fmla="val 2824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07808" y="2103120"/>
            <a:ext cx="73152" cy="3886200"/>
          </a:xfrm>
          <a:prstGeom prst="rect">
            <a:avLst/>
          </a:prstGeom>
          <a:solidFill>
            <a:srgbClr val="D5A72E"/>
          </a:solidFill>
          <a:ln w="12700">
            <a:solidFill>
              <a:srgbClr val="D5A72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08976" y="2249424"/>
            <a:ext cx="365760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"metric": "expected_fantasy_points_final_output",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"label": "Strong Pick",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"expected_fantasy_points": 51.29,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"final_prediction": 38.9,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"supervised_ml_prediction": 38.9,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"ml_prediction_valid": true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D6F0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INTEGRATION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Fantasy Points Final Output API: visual evidence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output produced from the real API service response.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461504" cy="3895344"/>
          </a:xfrm>
          <a:prstGeom prst="roundRect">
            <a:avLst>
              <a:gd name="adj" fmla="val 3286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pic>
        <p:nvPicPr>
          <p:cNvPr id="7" name="Image 0" descr="C:\Users\ombat\Desktop\Khel ai intership work\dashboard\sprint1_showcase\screenshots\11_expected_fantasy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755648"/>
            <a:ext cx="7315200" cy="37490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682496"/>
            <a:ext cx="100584" cy="3895344"/>
          </a:xfrm>
          <a:prstGeom prst="rect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755648"/>
            <a:ext cx="3291840" cy="1847088"/>
          </a:xfrm>
          <a:prstGeom prst="roundRect">
            <a:avLst>
              <a:gd name="adj" fmla="val 7921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31352" y="20299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PLACEMENT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8531352" y="2483632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14232" y="2395728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Fantasy selection panel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531352" y="279757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14232" y="2709672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player ranking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531352" y="3111520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714232" y="3023616"/>
            <a:ext cx="2587752" cy="2956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model-vs-statistical explanation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75320" y="3803904"/>
            <a:ext cx="3291840" cy="1700784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31352" y="4096512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LIMITATIONS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531352" y="4532254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14232" y="4462272"/>
            <a:ext cx="2587752" cy="231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Demo-only synthetic model</a:t>
            </a:r>
            <a:endParaRPr lang="en-US" sz="1060" dirty="0"/>
          </a:p>
        </p:txBody>
      </p:sp>
      <p:sp>
        <p:nvSpPr>
          <p:cNvPr id="21" name="Shape 18"/>
          <p:cNvSpPr/>
          <p:nvPr/>
        </p:nvSpPr>
        <p:spPr>
          <a:xfrm>
            <a:off x="8531352" y="4782190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714232" y="4712208"/>
            <a:ext cx="2587752" cy="231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test R2 indicates weak generalization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8531352" y="5032126"/>
            <a:ext cx="82296" cy="82296"/>
          </a:xfrm>
          <a:prstGeom prst="ellipse">
            <a:avLst/>
          </a:prstGeom>
          <a:solidFill>
            <a:srgbClr val="B95757"/>
          </a:solidFill>
          <a:ln w="12700">
            <a:solidFill>
              <a:srgbClr val="B95757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14232" y="4962144"/>
            <a:ext cx="2587752" cy="231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Free-tier Render can cold-start</a:t>
            </a:r>
            <a:endParaRPr lang="en-US" sz="1060" dirty="0"/>
          </a:p>
        </p:txBody>
      </p:sp>
      <p:sp>
        <p:nvSpPr>
          <p:cNvPr id="25" name="Shape 22"/>
          <p:cNvSpPr/>
          <p:nvPr/>
        </p:nvSpPr>
        <p:spPr>
          <a:xfrm>
            <a:off x="621792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0664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38.9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40664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</a:t>
            </a:r>
            <a:endParaRPr lang="en-US" sz="720" dirty="0"/>
          </a:p>
        </p:txBody>
      </p:sp>
      <p:sp>
        <p:nvSpPr>
          <p:cNvPr id="28" name="Shape 25"/>
          <p:cNvSpPr/>
          <p:nvPr/>
        </p:nvSpPr>
        <p:spPr>
          <a:xfrm>
            <a:off x="3392424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11296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51.29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3511296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STATISTICAL</a:t>
            </a:r>
            <a:endParaRPr lang="en-US" sz="720" dirty="0"/>
          </a:p>
        </p:txBody>
      </p:sp>
      <p:sp>
        <p:nvSpPr>
          <p:cNvPr id="31" name="Shape 28"/>
          <p:cNvSpPr/>
          <p:nvPr/>
        </p:nvSpPr>
        <p:spPr>
          <a:xfrm>
            <a:off x="6163056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281928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Pick</a:t>
            </a:r>
            <a:endParaRPr lang="en-US" sz="1500" dirty="0"/>
          </a:p>
        </p:txBody>
      </p:sp>
      <p:sp>
        <p:nvSpPr>
          <p:cNvPr id="33" name="Text 30"/>
          <p:cNvSpPr/>
          <p:nvPr/>
        </p:nvSpPr>
        <p:spPr>
          <a:xfrm>
            <a:off x="6281928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SELECTION</a:t>
            </a:r>
            <a:endParaRPr lang="en-US" sz="720" dirty="0"/>
          </a:p>
        </p:txBody>
      </p:sp>
      <p:sp>
        <p:nvSpPr>
          <p:cNvPr id="34" name="Shape 31"/>
          <p:cNvSpPr/>
          <p:nvPr/>
        </p:nvSpPr>
        <p:spPr>
          <a:xfrm>
            <a:off x="8933688" y="5687568"/>
            <a:ext cx="2660904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052560" y="5786323"/>
            <a:ext cx="2423160" cy="223845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linear_regression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052560" y="6108924"/>
            <a:ext cx="2423160" cy="11192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2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SAFETY AND DEPLOYMENT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11 model card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saved model is useful as a demonstrator, but its measured limits remain visible.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37360"/>
            <a:ext cx="3657600" cy="1938528"/>
          </a:xfrm>
          <a:prstGeom prst="roundRect">
            <a:avLst>
              <a:gd name="adj" fmla="val 7547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0116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IDENTITY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50392" y="2404872"/>
            <a:ext cx="201168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StandardScaler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300" dirty="0"/>
          </a:p>
          <a:p>
            <a:pPr algn="l" indent="0" marL="0">
              <a:buNone/>
            </a:pPr>
            <a:r>
              <a:rPr lang="en-US" sz="23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Linear Regression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2889504" y="2441448"/>
            <a:ext cx="1069848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9504" y="2528316"/>
            <a:ext cx="10698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2.0.0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89504" y="2880360"/>
            <a:ext cx="1069848" cy="310896"/>
          </a:xfrm>
          <a:prstGeom prst="roundRect">
            <a:avLst>
              <a:gd name="adj" fmla="val 50000"/>
            </a:avLst>
          </a:prstGeom>
          <a:solidFill>
            <a:srgbClr val="15362B"/>
          </a:solidFill>
          <a:ln w="12700">
            <a:solidFill>
              <a:srgbClr val="15362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9504" y="2967228"/>
            <a:ext cx="106984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DEMO_ONLY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80560" y="1737360"/>
            <a:ext cx="3401568" cy="1938528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20116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AND SPLIT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36592" y="2432761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9472" y="2359152"/>
            <a:ext cx="2633472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264 canonical rows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4736592" y="2695651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2622042"/>
            <a:ext cx="2633472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220 modelling rows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736592" y="2958541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2884932"/>
            <a:ext cx="2633472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Chronological 70/15/15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736592" y="3221431"/>
            <a:ext cx="82296" cy="82296"/>
          </a:xfrm>
          <a:prstGeom prst="ellipse">
            <a:avLst/>
          </a:prstGeom>
          <a:solidFill>
            <a:srgbClr val="E56B2F"/>
          </a:solidFill>
          <a:ln w="12700">
            <a:solidFill>
              <a:srgbClr val="E56B2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3147822"/>
            <a:ext cx="2633472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154 / 33 / 33 records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8119872" y="1737360"/>
            <a:ext cx="3474720" cy="1938528"/>
          </a:xfrm>
          <a:prstGeom prst="roundRect">
            <a:avLst>
              <a:gd name="adj" fmla="val 7547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75904" y="201168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SAFETY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375904" y="2432761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58784" y="2359152"/>
            <a:ext cx="2670048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model.pkl loads once</a:t>
            </a:r>
            <a:endParaRPr lang="en-US" sz="1120" dirty="0"/>
          </a:p>
        </p:txBody>
      </p:sp>
      <p:sp>
        <p:nvSpPr>
          <p:cNvPr id="27" name="Shape 25"/>
          <p:cNvSpPr/>
          <p:nvPr/>
        </p:nvSpPr>
        <p:spPr>
          <a:xfrm>
            <a:off x="8375904" y="2695651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58784" y="2622042"/>
            <a:ext cx="2670048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feature order</a:t>
            </a:r>
            <a:endParaRPr lang="en-US" sz="1120" dirty="0"/>
          </a:p>
        </p:txBody>
      </p:sp>
      <p:sp>
        <p:nvSpPr>
          <p:cNvPr id="29" name="Shape 27"/>
          <p:cNvSpPr/>
          <p:nvPr/>
        </p:nvSpPr>
        <p:spPr>
          <a:xfrm>
            <a:off x="8375904" y="2958541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58784" y="2884932"/>
            <a:ext cx="2670048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request-time retraining</a:t>
            </a:r>
            <a:endParaRPr lang="en-US" sz="1120" dirty="0"/>
          </a:p>
        </p:txBody>
      </p:sp>
      <p:sp>
        <p:nvSpPr>
          <p:cNvPr id="31" name="Shape 29"/>
          <p:cNvSpPr/>
          <p:nvPr/>
        </p:nvSpPr>
        <p:spPr>
          <a:xfrm>
            <a:off x="8375904" y="3221431"/>
            <a:ext cx="82296" cy="82296"/>
          </a:xfrm>
          <a:prstGeom prst="ellipse">
            <a:avLst/>
          </a:prstGeom>
          <a:solidFill>
            <a:srgbClr val="2E8B63"/>
          </a:solidFill>
          <a:ln w="12700">
            <a:solidFill>
              <a:srgbClr val="2E8B6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58784" y="3147822"/>
            <a:ext cx="2670048" cy="24460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size 1-100</a:t>
            </a:r>
            <a:endParaRPr lang="en-US" sz="1120" dirty="0"/>
          </a:p>
        </p:txBody>
      </p:sp>
      <p:sp>
        <p:nvSpPr>
          <p:cNvPr id="33" name="Shape 31"/>
          <p:cNvSpPr/>
          <p:nvPr/>
        </p:nvSpPr>
        <p:spPr>
          <a:xfrm>
            <a:off x="594360" y="3931920"/>
            <a:ext cx="266776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" y="4055364"/>
            <a:ext cx="2430018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26.577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713232" y="4458614"/>
            <a:ext cx="2430018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MAE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3371850" y="3931920"/>
            <a:ext cx="266776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0722" y="4055364"/>
            <a:ext cx="2430018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33.530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3490722" y="4458614"/>
            <a:ext cx="2430018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RMSE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6149340" y="3931920"/>
            <a:ext cx="266776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68212" y="4055364"/>
            <a:ext cx="2430018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-0.037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268212" y="4458614"/>
            <a:ext cx="2430018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R²</a:t>
            </a:r>
            <a:endParaRPr lang="en-US" sz="780" dirty="0"/>
          </a:p>
        </p:txBody>
      </p:sp>
      <p:sp>
        <p:nvSpPr>
          <p:cNvPr id="42" name="Shape 40"/>
          <p:cNvSpPr/>
          <p:nvPr/>
        </p:nvSpPr>
        <p:spPr>
          <a:xfrm>
            <a:off x="8926830" y="3931920"/>
            <a:ext cx="2667762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7D0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045702" y="4055364"/>
            <a:ext cx="2430018" cy="27980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29.065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9045702" y="4458614"/>
            <a:ext cx="2430018" cy="139903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BASELINE MAE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594360" y="5001768"/>
            <a:ext cx="7680960" cy="941832"/>
          </a:xfrm>
          <a:prstGeom prst="roundRect">
            <a:avLst>
              <a:gd name="adj" fmla="val 13592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0392" y="52303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DEPLOYMENT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50392" y="5513832"/>
            <a:ext cx="7022592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student5-expected-fantasy-final-api.onrender.com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8485632" y="5001768"/>
            <a:ext cx="3108960" cy="941832"/>
          </a:xfrm>
          <a:prstGeom prst="roundRect">
            <a:avLst>
              <a:gd name="adj" fmla="val 13592"/>
            </a:avLst>
          </a:prstGeom>
          <a:solidFill>
            <a:srgbClr val="F2DADA"/>
          </a:solidFill>
          <a:ln w="12700">
            <a:solidFill>
              <a:srgbClr val="F2DADA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32520" y="5230368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B9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8732520" y="5486400"/>
            <a:ext cx="2615184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Negative test R² means the model is not production-ready.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SUMMARY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Sprint 3: the complete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uncertain events to a selection recommendation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94360" y="1755648"/>
            <a:ext cx="4663440" cy="4160520"/>
          </a:xfrm>
          <a:prstGeom prst="roundRect">
            <a:avLst>
              <a:gd name="adj" fmla="val 3956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D5A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MODULES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86968" y="2560320"/>
            <a:ext cx="338328" cy="33832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651760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389888" y="2596896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Fantasy Points Derived Variables API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6968" y="3127248"/>
            <a:ext cx="338328" cy="338328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218688"/>
            <a:ext cx="338328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89888" y="3163824"/>
            <a:ext cx="3493008" cy="246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Fantasy Points Final Output API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532120" y="1755648"/>
            <a:ext cx="6062472" cy="4160520"/>
          </a:xfrm>
          <a:prstGeom prst="roundRect">
            <a:avLst>
              <a:gd name="adj" fmla="val 3956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057400"/>
            <a:ext cx="256032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850" b="1" spc="90" kern="0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SPRINT ADDS TO KHEL AI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833872" y="2688336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16752" y="2560320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value keeps batting, bowling and fielding auditable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33872" y="3332988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16752" y="3204972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Saved-model prediction never retrains during requests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33872" y="3977640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3849624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Feature-contract and anti-leakage checks protect validity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833872" y="4622292"/>
            <a:ext cx="82296" cy="82296"/>
          </a:xfrm>
          <a:prstGeom prst="ellipse">
            <a:avLst/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4494276"/>
            <a:ext cx="5193792" cy="6263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536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Risk, model source and fallback reason remain visible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040880" y="5230368"/>
            <a:ext cx="3154680" cy="310896"/>
          </a:xfrm>
          <a:prstGeom prst="roundRect">
            <a:avLst>
              <a:gd name="adj" fmla="val 50000"/>
            </a:avLst>
          </a:prstGeom>
          <a:solidFill>
            <a:srgbClr val="1F8994"/>
          </a:solidFill>
          <a:ln w="12700">
            <a:solidFill>
              <a:srgbClr val="1F8994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5317236"/>
            <a:ext cx="3154680" cy="1188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spc="8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INDEPENDENTLY REUSABLE ENDPOINTS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5029200" cy="201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69848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explainable cricket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85216" y="1143000"/>
            <a:ext cx="1042416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eleven APIs answer three progressively more valuable questions.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66928" y="1517904"/>
            <a:ext cx="11018520" cy="0"/>
          </a:xfrm>
          <a:prstGeom prst="line">
            <a:avLst/>
          </a:prstGeom>
          <a:noFill/>
          <a:ln w="12700">
            <a:solidFill>
              <a:srgbClr val="D7D0C5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21792" y="1783080"/>
            <a:ext cx="3383280" cy="3584448"/>
          </a:xfrm>
          <a:prstGeom prst="roundRect">
            <a:avLst>
              <a:gd name="adj" fmla="val 5405"/>
            </a:avLst>
          </a:prstGeom>
          <a:solidFill>
            <a:srgbClr val="F7D7C5"/>
          </a:solidFill>
          <a:ln w="12700">
            <a:solidFill>
              <a:srgbClr val="F7D7C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2057400"/>
            <a:ext cx="6583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56B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896112" y="2788920"/>
            <a:ext cx="28163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happening?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3886200"/>
            <a:ext cx="2816352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innings, chase resources, required rate and outlook.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1783080"/>
            <a:ext cx="3383280" cy="3584448"/>
          </a:xfrm>
          <a:prstGeom prst="roundRect">
            <a:avLst>
              <a:gd name="adj" fmla="val 5405"/>
            </a:avLst>
          </a:prstGeom>
          <a:solidFill>
            <a:srgbClr val="D8EDDF"/>
          </a:solidFill>
          <a:ln w="12700">
            <a:solidFill>
              <a:srgbClr val="D8EDD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057400"/>
            <a:ext cx="6583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E8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788920"/>
            <a:ext cx="28163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is the player trending?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3886200"/>
            <a:ext cx="2816352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 direction, opponent evidence, posterior expectation and confidence.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6448" y="1783080"/>
            <a:ext cx="3383280" cy="3584448"/>
          </a:xfrm>
          <a:prstGeom prst="roundRect">
            <a:avLst>
              <a:gd name="adj" fmla="val 5405"/>
            </a:avLst>
          </a:prstGeom>
          <a:solidFill>
            <a:srgbClr val="D6ECEE"/>
          </a:solidFill>
          <a:ln w="12700">
            <a:solidFill>
              <a:srgbClr val="D6ECE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30768" y="2057400"/>
            <a:ext cx="658368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89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430768" y="2788920"/>
            <a:ext cx="2816352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536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decision should Khel AI make?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30768" y="3886200"/>
            <a:ext cx="2816352" cy="8778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6F76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fantasy value, saved-model prediction, risk and selection label.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" y="5614416"/>
            <a:ext cx="10972800" cy="475488"/>
          </a:xfrm>
          <a:prstGeom prst="roundRect">
            <a:avLst>
              <a:gd name="adj" fmla="val 23077"/>
            </a:avLst>
          </a:prstGeom>
          <a:solidFill>
            <a:srgbClr val="102A22"/>
          </a:solidFill>
          <a:ln w="12700">
            <a:solidFill>
              <a:srgbClr val="102A22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769864"/>
            <a:ext cx="10469880" cy="1554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LOGIC  •  VALIDATED SCHEMAS  •  HONEST METRICS  •  DASHBOARD-READY OUTPUT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D938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68</Slides>
  <Notes>68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68</vt:i4>
      </vt:variant>
    </vt:vector>
  </HeadingPairs>
  <TitlesOfParts>
    <vt:vector size="7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</vt:vector>
  </TitlesOfParts>
  <Company>Khel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Khel AI Cricket Intelligence APIs - Visual Review Edition</dc:title>
  <dc:subject>Visual mentor-review presentation for eleven cricket intelligence APIs</dc:subject>
  <dc:creator>Om Batavia</dc:creator>
  <cp:lastModifiedBy>Om Batavia</cp:lastModifiedBy>
  <cp:revision>1</cp:revision>
  <dcterms:created xsi:type="dcterms:W3CDTF">2026-06-13T13:28:09Z</dcterms:created>
  <dcterms:modified xsi:type="dcterms:W3CDTF">2026-06-13T13:28:09Z</dcterms:modified>
</cp:coreProperties>
</file>