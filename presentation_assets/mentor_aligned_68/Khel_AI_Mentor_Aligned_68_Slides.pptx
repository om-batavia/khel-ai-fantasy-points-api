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CH">
    <p:bg>
      <p:bgPr>
        <a:solidFill>
          <a:srgbClr val="06251A"/>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49E38B"/>
          </a:solidFill>
          <a:ln w="12700">
            <a:solidFill>
              <a:srgbClr val="49E38B"/>
            </a:solidFill>
            <a:prstDash val="solid"/>
          </a:ln>
        </p:spPr>
      </p:sp>
      <p:sp>
        <p:nvSpPr>
          <p:cNvPr id="3" name="Text 1"/>
          <p:cNvSpPr/>
          <p:nvPr/>
        </p:nvSpPr>
        <p:spPr>
          <a:xfrm>
            <a:off x="457200" y="6510528"/>
            <a:ext cx="5029200" cy="146304"/>
          </a:xfrm>
          <a:prstGeom prst="rect">
            <a:avLst/>
          </a:prstGeom>
          <a:noFill/>
          <a:ln/>
        </p:spPr>
        <p:txBody>
          <a:bodyPr wrap="square" lIns="0" tIns="0" rIns="0" bIns="0" rtlCol="0" anchor="ctr"/>
          <a:lstStyle/>
          <a:p>
            <a:pPr indent="0" marL="0">
              <a:buNone/>
            </a:pPr>
            <a:r>
              <a:rPr lang="en-US" sz="750" b="1" spc="120" kern="0" dirty="0">
                <a:solidFill>
                  <a:srgbClr val="6E9B83"/>
                </a:solidFill>
              </a:rPr>
              <a:t>KHEL AI  /  STUDENT 5  /  OM BATAVIA</a:t>
            </a:r>
            <a:endParaRPr lang="en-US" sz="750" dirty="0"/>
          </a:p>
        </p:txBody>
      </p:sp>
      <p:sp>
        <p:nvSpPr>
          <p:cNvPr id="4" name="Text 2"/>
          <p:cNvSpPr/>
          <p:nvPr/>
        </p:nvSpPr>
        <p:spPr>
          <a:xfrm>
            <a:off x="7452360" y="6510528"/>
            <a:ext cx="4160520" cy="146304"/>
          </a:xfrm>
          <a:prstGeom prst="rect">
            <a:avLst/>
          </a:prstGeom>
          <a:noFill/>
          <a:ln/>
        </p:spPr>
        <p:txBody>
          <a:bodyPr wrap="square" lIns="0" tIns="0" rIns="0" bIns="0" rtlCol="0" anchor="ctr"/>
          <a:lstStyle/>
          <a:p>
            <a:pPr algn="r" indent="0" marL="0">
              <a:buNone/>
            </a:pPr>
            <a:r>
              <a:rPr lang="en-US" sz="750" dirty="0">
                <a:solidFill>
                  <a:srgbClr val="6E9B83"/>
                </a:solidFill>
              </a:rPr>
              <a:t>Synthetic/faux dataset - demonstration workflow</a:t>
            </a:r>
            <a:endParaRPr lang="en-US" sz="7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766560" y="-1371600"/>
            <a:ext cx="6766560" cy="6766560"/>
          </a:xfrm>
          <a:prstGeom prst="ellipse">
            <a:avLst/>
          </a:prstGeom>
          <a:solidFill>
            <a:srgbClr val="49E38B">
              <a:alpha val="14000"/>
            </a:srgbClr>
          </a:solidFill>
          <a:ln w="12700">
            <a:solidFill>
              <a:srgbClr val="333333">
                <a:alpha val="0"/>
              </a:srgbClr>
            </a:solidFill>
            <a:prstDash val="solid"/>
          </a:ln>
        </p:spPr>
      </p:sp>
      <p:sp>
        <p:nvSpPr>
          <p:cNvPr id="3" name="Text 1"/>
          <p:cNvSpPr/>
          <p:nvPr/>
        </p:nvSpPr>
        <p:spPr>
          <a:xfrm>
            <a:off x="640080" y="685800"/>
            <a:ext cx="2926080" cy="292608"/>
          </a:xfrm>
          <a:prstGeom prst="rect">
            <a:avLst/>
          </a:prstGeom>
          <a:noFill/>
          <a:ln/>
        </p:spPr>
        <p:txBody>
          <a:bodyPr wrap="square" lIns="508" tIns="508" rIns="508" bIns="508" rtlCol="0" anchor="t">
            <a:normAutofit/>
          </a:bodyPr>
          <a:lstStyle/>
          <a:p>
            <a:pPr algn="l" indent="0" marL="0">
              <a:buNone/>
            </a:pPr>
            <a:r>
              <a:rPr lang="en-US" sz="1300" b="1" spc="300" kern="0" dirty="0">
                <a:solidFill>
                  <a:srgbClr val="49E38B"/>
                </a:solidFill>
                <a:latin typeface="Aptos" pitchFamily="34" charset="0"/>
                <a:ea typeface="Aptos" pitchFamily="34" charset="-122"/>
                <a:cs typeface="Aptos" pitchFamily="34" charset="-120"/>
              </a:rPr>
              <a:t>KHEL AI</a:t>
            </a:r>
            <a:endParaRPr lang="en-US" sz="1300" dirty="0"/>
          </a:p>
        </p:txBody>
      </p:sp>
      <p:sp>
        <p:nvSpPr>
          <p:cNvPr id="4" name="Text 2"/>
          <p:cNvSpPr/>
          <p:nvPr/>
        </p:nvSpPr>
        <p:spPr>
          <a:xfrm>
            <a:off x="640080" y="1234440"/>
            <a:ext cx="7498080" cy="1051560"/>
          </a:xfrm>
          <a:prstGeom prst="rect">
            <a:avLst/>
          </a:prstGeom>
          <a:noFill/>
          <a:ln/>
        </p:spPr>
        <p:txBody>
          <a:bodyPr wrap="square" lIns="508" tIns="508" rIns="508" bIns="508" rtlCol="0" anchor="t">
            <a:normAutofit/>
          </a:bodyPr>
          <a:lstStyle/>
          <a:p>
            <a:pPr algn="l" indent="0" marL="0">
              <a:buNone/>
            </a:pPr>
            <a:r>
              <a:rPr lang="en-US" sz="4200" b="1" dirty="0">
                <a:solidFill>
                  <a:srgbClr val="F5F7F6"/>
                </a:solidFill>
                <a:latin typeface="Aptos" pitchFamily="34" charset="0"/>
                <a:ea typeface="Aptos" pitchFamily="34" charset="-122"/>
                <a:cs typeface="Aptos" pitchFamily="34" charset="-120"/>
              </a:rPr>
              <a:t>Cricket Intelligence API Platform</a:t>
            </a:r>
            <a:endParaRPr lang="en-US" sz="4200" dirty="0"/>
          </a:p>
        </p:txBody>
      </p:sp>
      <p:sp>
        <p:nvSpPr>
          <p:cNvPr id="5" name="Text 3"/>
          <p:cNvSpPr/>
          <p:nvPr/>
        </p:nvSpPr>
        <p:spPr>
          <a:xfrm>
            <a:off x="658368" y="2606040"/>
            <a:ext cx="6949440" cy="384048"/>
          </a:xfrm>
          <a:prstGeom prst="rect">
            <a:avLst/>
          </a:prstGeom>
          <a:noFill/>
          <a:ln/>
        </p:spPr>
        <p:txBody>
          <a:bodyPr wrap="square" lIns="508" tIns="508" rIns="508" bIns="508" rtlCol="0" anchor="t">
            <a:normAutofit/>
          </a:bodyPr>
          <a:lstStyle/>
          <a:p>
            <a:pPr algn="l" indent="0" marL="0">
              <a:buNone/>
            </a:pPr>
            <a:r>
              <a:rPr lang="en-US" sz="2200" b="1" dirty="0">
                <a:solidFill>
                  <a:srgbClr val="E3B82F"/>
                </a:solidFill>
                <a:latin typeface="Aptos" pitchFamily="34" charset="0"/>
                <a:ea typeface="Aptos" pitchFamily="34" charset="-122"/>
                <a:cs typeface="Aptos" pitchFamily="34" charset="-120"/>
              </a:rPr>
              <a:t>11 APIs | 3 Sprints | Explainable cricket analytics</a:t>
            </a:r>
            <a:endParaRPr lang="en-US" sz="2200" dirty="0"/>
          </a:p>
        </p:txBody>
      </p:sp>
      <p:sp>
        <p:nvSpPr>
          <p:cNvPr id="6" name="Text 4"/>
          <p:cNvSpPr/>
          <p:nvPr/>
        </p:nvSpPr>
        <p:spPr>
          <a:xfrm>
            <a:off x="658368" y="3429000"/>
            <a:ext cx="3840480" cy="731520"/>
          </a:xfrm>
          <a:prstGeom prst="rect">
            <a:avLst/>
          </a:prstGeom>
          <a:noFill/>
          <a:ln/>
        </p:spPr>
        <p:txBody>
          <a:bodyPr wrap="square" lIns="508" tIns="508" rIns="508" bIns="508" rtlCol="0" anchor="t">
            <a:normAutofit/>
          </a:bodyPr>
          <a:lstStyle/>
          <a:p>
            <a:pPr algn="l" indent="0" marL="0">
              <a:buNone/>
            </a:pPr>
            <a:r>
              <a:rPr lang="en-US" sz="1800" dirty="0">
                <a:solidFill>
                  <a:srgbClr val="A7C1B4"/>
                </a:solidFill>
                <a:latin typeface="Aptos" pitchFamily="34" charset="0"/>
                <a:ea typeface="Aptos" pitchFamily="34" charset="-122"/>
                <a:cs typeface="Aptos" pitchFamily="34" charset="-120"/>
              </a:rPr>
              <a:t>Mentor Review Edition</a:t>
            </a:r>
            <a:endParaRPr lang="en-US" sz="1800" dirty="0"/>
          </a:p>
          <a:p>
            <a:pPr algn="l" indent="0" marL="0">
              <a:buNone/>
            </a:pPr>
            <a:r>
              <a:rPr lang="en-US" sz="1800" dirty="0">
                <a:solidFill>
                  <a:srgbClr val="A7C1B4"/>
                </a:solidFill>
                <a:latin typeface="Aptos" pitchFamily="34" charset="0"/>
                <a:ea typeface="Aptos" pitchFamily="34" charset="-122"/>
                <a:cs typeface="Aptos" pitchFamily="34" charset="-120"/>
              </a:rPr>
              <a:t>Student 5 - Om Batavia</a:t>
            </a:r>
            <a:endParaRPr lang="en-US" sz="1800" dirty="0"/>
          </a:p>
        </p:txBody>
      </p:sp>
      <p:sp>
        <p:nvSpPr>
          <p:cNvPr id="7" name="Shape 5"/>
          <p:cNvSpPr/>
          <p:nvPr/>
        </p:nvSpPr>
        <p:spPr>
          <a:xfrm>
            <a:off x="6665976" y="1271016"/>
            <a:ext cx="5001768" cy="2852928"/>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11_expected_fantasy_final.png">    </p:cNvPr>
          <p:cNvPicPr>
            <a:picLocks noChangeAspect="1"/>
          </p:cNvPicPr>
          <p:nvPr/>
        </p:nvPicPr>
        <p:blipFill>
          <a:blip r:embed="rId1"/>
          <a:stretch>
            <a:fillRect/>
          </a:stretch>
        </p:blipFill>
        <p:spPr>
          <a:xfrm>
            <a:off x="6720840" y="1325880"/>
            <a:ext cx="4892040" cy="2743200"/>
          </a:xfrm>
          <a:prstGeom prst="rect">
            <a:avLst/>
          </a:prstGeom>
        </p:spPr>
      </p:pic>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Contents</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A 68-slide technical walkthrough aligned with the mentor samples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INDEX</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658368" y="1325880"/>
            <a:ext cx="10835640" cy="868680"/>
          </a:xfrm>
          <a:prstGeom prst="rect">
            <a:avLst/>
          </a:prstGeom>
          <a:solidFill>
            <a:srgbClr val="103D2B"/>
          </a:solidFill>
          <a:ln w="12700">
            <a:solidFill>
              <a:srgbClr val="49E38B"/>
            </a:solidFill>
            <a:prstDash val="solid"/>
          </a:ln>
        </p:spPr>
      </p:sp>
      <p:sp>
        <p:nvSpPr>
          <p:cNvPr id="8" name="Shape 6"/>
          <p:cNvSpPr/>
          <p:nvPr/>
        </p:nvSpPr>
        <p:spPr>
          <a:xfrm>
            <a:off x="658368" y="1325880"/>
            <a:ext cx="10835640" cy="50292"/>
          </a:xfrm>
          <a:prstGeom prst="rect">
            <a:avLst/>
          </a:prstGeom>
          <a:solidFill>
            <a:srgbClr val="49E38B"/>
          </a:solidFill>
          <a:ln w="12700">
            <a:solidFill>
              <a:srgbClr val="49E38B"/>
            </a:solidFill>
            <a:prstDash val="solid"/>
          </a:ln>
        </p:spPr>
      </p:sp>
      <p:sp>
        <p:nvSpPr>
          <p:cNvPr id="9" name="Text 7"/>
          <p:cNvSpPr/>
          <p:nvPr/>
        </p:nvSpPr>
        <p:spPr>
          <a:xfrm>
            <a:off x="841248" y="1481328"/>
            <a:ext cx="104698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 1</a:t>
            </a:r>
            <a:endParaRPr lang="en-US" sz="1000" dirty="0"/>
          </a:p>
        </p:txBody>
      </p:sp>
      <p:sp>
        <p:nvSpPr>
          <p:cNvPr id="10" name="Text 8"/>
          <p:cNvSpPr/>
          <p:nvPr/>
        </p:nvSpPr>
        <p:spPr>
          <a:xfrm>
            <a:off x="2331720" y="1609344"/>
            <a:ext cx="5486400" cy="228600"/>
          </a:xfrm>
          <a:prstGeom prst="rect">
            <a:avLst/>
          </a:prstGeom>
          <a:noFill/>
          <a:ln/>
        </p:spPr>
        <p:txBody>
          <a:bodyPr wrap="square" lIns="508" tIns="508" rIns="508" bIns="508" rtlCol="0" anchor="t">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Live Match Intelligence</a:t>
            </a:r>
            <a:endParaRPr lang="en-US" sz="1900" dirty="0"/>
          </a:p>
        </p:txBody>
      </p:sp>
      <p:sp>
        <p:nvSpPr>
          <p:cNvPr id="11" name="Text 9"/>
          <p:cNvSpPr/>
          <p:nvPr/>
        </p:nvSpPr>
        <p:spPr>
          <a:xfrm>
            <a:off x="8915400" y="1609344"/>
            <a:ext cx="2011680" cy="228600"/>
          </a:xfrm>
          <a:prstGeom prst="rect">
            <a:avLst/>
          </a:prstGeom>
          <a:noFill/>
          <a:ln/>
        </p:spPr>
        <p:txBody>
          <a:bodyPr wrap="square" lIns="508" tIns="508" rIns="508" bIns="508" rtlCol="0" anchor="t">
            <a:normAutofit/>
          </a:bodyPr>
          <a:lstStyle/>
          <a:p>
            <a:pPr algn="r" indent="0" marL="0">
              <a:buNone/>
            </a:pPr>
            <a:r>
              <a:rPr lang="en-US" sz="1300" b="1" dirty="0">
                <a:solidFill>
                  <a:srgbClr val="49E38B"/>
                </a:solidFill>
                <a:latin typeface="Aptos" pitchFamily="34" charset="0"/>
                <a:ea typeface="Aptos" pitchFamily="34" charset="-122"/>
                <a:cs typeface="Aptos" pitchFamily="34" charset="-120"/>
              </a:rPr>
              <a:t>Slides 6-32</a:t>
            </a:r>
            <a:endParaRPr lang="en-US" sz="1300" dirty="0"/>
          </a:p>
        </p:txBody>
      </p:sp>
      <p:sp>
        <p:nvSpPr>
          <p:cNvPr id="12" name="Shape 10"/>
          <p:cNvSpPr/>
          <p:nvPr/>
        </p:nvSpPr>
        <p:spPr>
          <a:xfrm>
            <a:off x="658368" y="2496312"/>
            <a:ext cx="10835640" cy="868680"/>
          </a:xfrm>
          <a:prstGeom prst="rect">
            <a:avLst/>
          </a:prstGeom>
          <a:solidFill>
            <a:srgbClr val="103D2B"/>
          </a:solidFill>
          <a:ln w="12700">
            <a:solidFill>
              <a:srgbClr val="E3B82F"/>
            </a:solidFill>
            <a:prstDash val="solid"/>
          </a:ln>
        </p:spPr>
      </p:sp>
      <p:sp>
        <p:nvSpPr>
          <p:cNvPr id="13" name="Shape 11"/>
          <p:cNvSpPr/>
          <p:nvPr/>
        </p:nvSpPr>
        <p:spPr>
          <a:xfrm>
            <a:off x="658368" y="2496312"/>
            <a:ext cx="10835640" cy="50292"/>
          </a:xfrm>
          <a:prstGeom prst="rect">
            <a:avLst/>
          </a:prstGeom>
          <a:solidFill>
            <a:srgbClr val="E3B82F"/>
          </a:solidFill>
          <a:ln w="12700">
            <a:solidFill>
              <a:srgbClr val="E3B82F"/>
            </a:solidFill>
            <a:prstDash val="solid"/>
          </a:ln>
        </p:spPr>
      </p:sp>
      <p:sp>
        <p:nvSpPr>
          <p:cNvPr id="14" name="Text 12"/>
          <p:cNvSpPr/>
          <p:nvPr/>
        </p:nvSpPr>
        <p:spPr>
          <a:xfrm>
            <a:off x="841248" y="2651760"/>
            <a:ext cx="104698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Sprint 2</a:t>
            </a:r>
            <a:endParaRPr lang="en-US" sz="1000" dirty="0"/>
          </a:p>
        </p:txBody>
      </p:sp>
      <p:sp>
        <p:nvSpPr>
          <p:cNvPr id="15" name="Text 13"/>
          <p:cNvSpPr/>
          <p:nvPr/>
        </p:nvSpPr>
        <p:spPr>
          <a:xfrm>
            <a:off x="2331720" y="2779776"/>
            <a:ext cx="5486400" cy="228600"/>
          </a:xfrm>
          <a:prstGeom prst="rect">
            <a:avLst/>
          </a:prstGeom>
          <a:noFill/>
          <a:ln/>
        </p:spPr>
        <p:txBody>
          <a:bodyPr wrap="square" lIns="508" tIns="508" rIns="508" bIns="508" rtlCol="0" anchor="t">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Player Performance Analytics</a:t>
            </a:r>
            <a:endParaRPr lang="en-US" sz="1900" dirty="0"/>
          </a:p>
        </p:txBody>
      </p:sp>
      <p:sp>
        <p:nvSpPr>
          <p:cNvPr id="16" name="Text 14"/>
          <p:cNvSpPr/>
          <p:nvPr/>
        </p:nvSpPr>
        <p:spPr>
          <a:xfrm>
            <a:off x="8915400" y="2779776"/>
            <a:ext cx="2011680" cy="228600"/>
          </a:xfrm>
          <a:prstGeom prst="rect">
            <a:avLst/>
          </a:prstGeom>
          <a:noFill/>
          <a:ln/>
        </p:spPr>
        <p:txBody>
          <a:bodyPr wrap="square" lIns="508" tIns="508" rIns="508" bIns="508" rtlCol="0" anchor="t">
            <a:normAutofit/>
          </a:bodyPr>
          <a:lstStyle/>
          <a:p>
            <a:pPr algn="r" indent="0" marL="0">
              <a:buNone/>
            </a:pPr>
            <a:r>
              <a:rPr lang="en-US" sz="1300" b="1" dirty="0">
                <a:solidFill>
                  <a:srgbClr val="E3B82F"/>
                </a:solidFill>
                <a:latin typeface="Aptos" pitchFamily="34" charset="0"/>
                <a:ea typeface="Aptos" pitchFamily="34" charset="-122"/>
                <a:cs typeface="Aptos" pitchFamily="34" charset="-120"/>
              </a:rPr>
              <a:t>Slides 33-54</a:t>
            </a:r>
            <a:endParaRPr lang="en-US" sz="1300" dirty="0"/>
          </a:p>
        </p:txBody>
      </p:sp>
      <p:sp>
        <p:nvSpPr>
          <p:cNvPr id="17" name="Shape 15"/>
          <p:cNvSpPr/>
          <p:nvPr/>
        </p:nvSpPr>
        <p:spPr>
          <a:xfrm>
            <a:off x="658368" y="3666744"/>
            <a:ext cx="10835640" cy="868680"/>
          </a:xfrm>
          <a:prstGeom prst="rect">
            <a:avLst/>
          </a:prstGeom>
          <a:solidFill>
            <a:srgbClr val="103D2B"/>
          </a:solidFill>
          <a:ln w="12700">
            <a:solidFill>
              <a:srgbClr val="3BC8E8"/>
            </a:solidFill>
            <a:prstDash val="solid"/>
          </a:ln>
        </p:spPr>
      </p:sp>
      <p:sp>
        <p:nvSpPr>
          <p:cNvPr id="18" name="Shape 16"/>
          <p:cNvSpPr/>
          <p:nvPr/>
        </p:nvSpPr>
        <p:spPr>
          <a:xfrm>
            <a:off x="658368" y="3666744"/>
            <a:ext cx="10835640" cy="50292"/>
          </a:xfrm>
          <a:prstGeom prst="rect">
            <a:avLst/>
          </a:prstGeom>
          <a:solidFill>
            <a:srgbClr val="3BC8E8"/>
          </a:solidFill>
          <a:ln w="12700">
            <a:solidFill>
              <a:srgbClr val="3BC8E8"/>
            </a:solidFill>
            <a:prstDash val="solid"/>
          </a:ln>
        </p:spPr>
      </p:sp>
      <p:sp>
        <p:nvSpPr>
          <p:cNvPr id="19" name="Text 17"/>
          <p:cNvSpPr/>
          <p:nvPr/>
        </p:nvSpPr>
        <p:spPr>
          <a:xfrm>
            <a:off x="841248" y="3822192"/>
            <a:ext cx="104698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3BC8E8"/>
                </a:solidFill>
                <a:latin typeface="Aptos" pitchFamily="34" charset="0"/>
                <a:ea typeface="Aptos" pitchFamily="34" charset="-122"/>
                <a:cs typeface="Aptos" pitchFamily="34" charset="-120"/>
              </a:rPr>
              <a:t>Sprint 3</a:t>
            </a:r>
            <a:endParaRPr lang="en-US" sz="1000" dirty="0"/>
          </a:p>
        </p:txBody>
      </p:sp>
      <p:sp>
        <p:nvSpPr>
          <p:cNvPr id="20" name="Text 18"/>
          <p:cNvSpPr/>
          <p:nvPr/>
        </p:nvSpPr>
        <p:spPr>
          <a:xfrm>
            <a:off x="2331720" y="3950208"/>
            <a:ext cx="5486400" cy="228600"/>
          </a:xfrm>
          <a:prstGeom prst="rect">
            <a:avLst/>
          </a:prstGeom>
          <a:noFill/>
          <a:ln/>
        </p:spPr>
        <p:txBody>
          <a:bodyPr wrap="square" lIns="508" tIns="508" rIns="508" bIns="508" rtlCol="0" anchor="t">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Fantasy Decision Engine</a:t>
            </a:r>
            <a:endParaRPr lang="en-US" sz="1900" dirty="0"/>
          </a:p>
        </p:txBody>
      </p:sp>
      <p:sp>
        <p:nvSpPr>
          <p:cNvPr id="21" name="Text 19"/>
          <p:cNvSpPr/>
          <p:nvPr/>
        </p:nvSpPr>
        <p:spPr>
          <a:xfrm>
            <a:off x="8915400" y="3950208"/>
            <a:ext cx="2011680" cy="228600"/>
          </a:xfrm>
          <a:prstGeom prst="rect">
            <a:avLst/>
          </a:prstGeom>
          <a:noFill/>
          <a:ln/>
        </p:spPr>
        <p:txBody>
          <a:bodyPr wrap="square" lIns="508" tIns="508" rIns="508" bIns="508" rtlCol="0" anchor="t">
            <a:normAutofit/>
          </a:bodyPr>
          <a:lstStyle/>
          <a:p>
            <a:pPr algn="r" indent="0" marL="0">
              <a:buNone/>
            </a:pPr>
            <a:r>
              <a:rPr lang="en-US" sz="1300" b="1" dirty="0">
                <a:solidFill>
                  <a:srgbClr val="3BC8E8"/>
                </a:solidFill>
                <a:latin typeface="Aptos" pitchFamily="34" charset="0"/>
                <a:ea typeface="Aptos" pitchFamily="34" charset="-122"/>
                <a:cs typeface="Aptos" pitchFamily="34" charset="-120"/>
              </a:rPr>
              <a:t>Slides 55-67</a:t>
            </a:r>
            <a:endParaRPr lang="en-US" sz="1300" dirty="0"/>
          </a:p>
        </p:txBody>
      </p:sp>
      <p:sp>
        <p:nvSpPr>
          <p:cNvPr id="22" name="Shape 20"/>
          <p:cNvSpPr/>
          <p:nvPr/>
        </p:nvSpPr>
        <p:spPr>
          <a:xfrm>
            <a:off x="658368" y="4837176"/>
            <a:ext cx="10835640" cy="868680"/>
          </a:xfrm>
          <a:prstGeom prst="rect">
            <a:avLst/>
          </a:prstGeom>
          <a:solidFill>
            <a:srgbClr val="103D2B"/>
          </a:solidFill>
          <a:ln w="12700">
            <a:solidFill>
              <a:srgbClr val="49E38B"/>
            </a:solidFill>
            <a:prstDash val="solid"/>
          </a:ln>
        </p:spPr>
      </p:sp>
      <p:sp>
        <p:nvSpPr>
          <p:cNvPr id="23" name="Shape 21"/>
          <p:cNvSpPr/>
          <p:nvPr/>
        </p:nvSpPr>
        <p:spPr>
          <a:xfrm>
            <a:off x="658368" y="4837176"/>
            <a:ext cx="10835640" cy="50292"/>
          </a:xfrm>
          <a:prstGeom prst="rect">
            <a:avLst/>
          </a:prstGeom>
          <a:solidFill>
            <a:srgbClr val="49E38B"/>
          </a:solidFill>
          <a:ln w="12700">
            <a:solidFill>
              <a:srgbClr val="49E38B"/>
            </a:solidFill>
            <a:prstDash val="solid"/>
          </a:ln>
        </p:spPr>
      </p:sp>
      <p:sp>
        <p:nvSpPr>
          <p:cNvPr id="24" name="Text 22"/>
          <p:cNvSpPr/>
          <p:nvPr/>
        </p:nvSpPr>
        <p:spPr>
          <a:xfrm>
            <a:off x="841248" y="4992624"/>
            <a:ext cx="104698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Conclusion</a:t>
            </a:r>
            <a:endParaRPr lang="en-US" sz="1000" dirty="0"/>
          </a:p>
        </p:txBody>
      </p:sp>
      <p:sp>
        <p:nvSpPr>
          <p:cNvPr id="25" name="Text 23"/>
          <p:cNvSpPr/>
          <p:nvPr/>
        </p:nvSpPr>
        <p:spPr>
          <a:xfrm>
            <a:off x="2331720" y="5120640"/>
            <a:ext cx="5486400" cy="228600"/>
          </a:xfrm>
          <a:prstGeom prst="rect">
            <a:avLst/>
          </a:prstGeom>
          <a:noFill/>
          <a:ln/>
        </p:spPr>
        <p:txBody>
          <a:bodyPr wrap="square" lIns="508" tIns="508" rIns="508" bIns="508" rtlCol="0" anchor="t">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One Explainable Pipeline</a:t>
            </a:r>
            <a:endParaRPr lang="en-US" sz="1900" dirty="0"/>
          </a:p>
        </p:txBody>
      </p:sp>
      <p:sp>
        <p:nvSpPr>
          <p:cNvPr id="26" name="Text 24"/>
          <p:cNvSpPr/>
          <p:nvPr/>
        </p:nvSpPr>
        <p:spPr>
          <a:xfrm>
            <a:off x="8915400" y="5120640"/>
            <a:ext cx="2011680" cy="228600"/>
          </a:xfrm>
          <a:prstGeom prst="rect">
            <a:avLst/>
          </a:prstGeom>
          <a:noFill/>
          <a:ln/>
        </p:spPr>
        <p:txBody>
          <a:bodyPr wrap="square" lIns="508" tIns="508" rIns="508" bIns="508" rtlCol="0" anchor="t">
            <a:normAutofit/>
          </a:bodyPr>
          <a:lstStyle/>
          <a:p>
            <a:pPr algn="r" indent="0" marL="0">
              <a:buNone/>
            </a:pPr>
            <a:r>
              <a:rPr lang="en-US" sz="1300" b="1" dirty="0">
                <a:solidFill>
                  <a:srgbClr val="49E38B"/>
                </a:solidFill>
                <a:latin typeface="Aptos" pitchFamily="34" charset="0"/>
                <a:ea typeface="Aptos" pitchFamily="34" charset="-122"/>
                <a:cs typeface="Aptos" pitchFamily="34" charset="-120"/>
              </a:rPr>
              <a:t>Slide 68</a:t>
            </a:r>
            <a:endParaRPr lang="en-US" sz="13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Problem Context in Cricket Analytics</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Why a specialised API layer is needed</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5440680" cy="1920240"/>
          </a:xfrm>
          <a:prstGeom prst="rect">
            <a:avLst/>
          </a:prstGeom>
          <a:solidFill>
            <a:srgbClr val="103D2B"/>
          </a:solidFill>
          <a:ln w="12700">
            <a:solidFill>
              <a:srgbClr val="49E38B"/>
            </a:solidFill>
            <a:prstDash val="solid"/>
          </a:ln>
        </p:spPr>
      </p:sp>
      <p:sp>
        <p:nvSpPr>
          <p:cNvPr id="8" name="Shape 6"/>
          <p:cNvSpPr/>
          <p:nvPr/>
        </p:nvSpPr>
        <p:spPr>
          <a:xfrm>
            <a:off x="502920" y="1325880"/>
            <a:ext cx="5440680" cy="50292"/>
          </a:xfrm>
          <a:prstGeom prst="rect">
            <a:avLst/>
          </a:prstGeom>
          <a:solidFill>
            <a:srgbClr val="49E38B"/>
          </a:solidFill>
          <a:ln w="12700">
            <a:solidFill>
              <a:srgbClr val="49E38B"/>
            </a:solidFill>
            <a:prstDash val="solid"/>
          </a:ln>
        </p:spPr>
      </p:sp>
      <p:sp>
        <p:nvSpPr>
          <p:cNvPr id="9" name="Text 7"/>
          <p:cNvSpPr/>
          <p:nvPr/>
        </p:nvSpPr>
        <p:spPr>
          <a:xfrm>
            <a:off x="685800" y="1481328"/>
            <a:ext cx="5074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Fragmented Data</a:t>
            </a:r>
            <a:endParaRPr lang="en-US" sz="1000" dirty="0"/>
          </a:p>
        </p:txBody>
      </p:sp>
      <p:sp>
        <p:nvSpPr>
          <p:cNvPr id="10" name="Text 8"/>
          <p:cNvSpPr/>
          <p:nvPr/>
        </p:nvSpPr>
        <p:spPr>
          <a:xfrm>
            <a:off x="758952" y="1965960"/>
            <a:ext cx="4892040" cy="822960"/>
          </a:xfrm>
          <a:prstGeom prst="rect">
            <a:avLst/>
          </a:prstGeom>
          <a:noFill/>
          <a:ln/>
        </p:spPr>
        <p:txBody>
          <a:bodyPr wrap="square" lIns="508" tIns="508" rIns="508" bIns="508" rtlCol="0" anchor="ctr">
            <a:normAutofit/>
          </a:bodyPr>
          <a:lstStyle/>
          <a:p>
            <a:pPr algn="l" indent="0" marL="0">
              <a:buNone/>
            </a:pPr>
            <a:r>
              <a:rPr lang="en-US" sz="1800" dirty="0">
                <a:solidFill>
                  <a:srgbClr val="F5F7F6"/>
                </a:solidFill>
                <a:latin typeface="Aptos" pitchFamily="34" charset="0"/>
                <a:ea typeface="Aptos" pitchFamily="34" charset="-122"/>
                <a:cs typeface="Aptos" pitchFamily="34" charset="-120"/>
              </a:rPr>
              <a:t>Ball events, scorecards, match context, and player history live at different grains.</a:t>
            </a:r>
            <a:endParaRPr lang="en-US" sz="1800" dirty="0"/>
          </a:p>
        </p:txBody>
      </p:sp>
      <p:sp>
        <p:nvSpPr>
          <p:cNvPr id="11" name="Shape 9"/>
          <p:cNvSpPr/>
          <p:nvPr/>
        </p:nvSpPr>
        <p:spPr>
          <a:xfrm>
            <a:off x="6172200" y="1325880"/>
            <a:ext cx="5440680" cy="1920240"/>
          </a:xfrm>
          <a:prstGeom prst="rect">
            <a:avLst/>
          </a:prstGeom>
          <a:solidFill>
            <a:srgbClr val="103D2B"/>
          </a:solidFill>
          <a:ln w="12700">
            <a:solidFill>
              <a:srgbClr val="E3B82F"/>
            </a:solidFill>
            <a:prstDash val="solid"/>
          </a:ln>
        </p:spPr>
      </p:sp>
      <p:sp>
        <p:nvSpPr>
          <p:cNvPr id="12" name="Shape 10"/>
          <p:cNvSpPr/>
          <p:nvPr/>
        </p:nvSpPr>
        <p:spPr>
          <a:xfrm>
            <a:off x="6172200" y="1325880"/>
            <a:ext cx="5440680" cy="50292"/>
          </a:xfrm>
          <a:prstGeom prst="rect">
            <a:avLst/>
          </a:prstGeom>
          <a:solidFill>
            <a:srgbClr val="E3B82F"/>
          </a:solidFill>
          <a:ln w="12700">
            <a:solidFill>
              <a:srgbClr val="E3B82F"/>
            </a:solidFill>
            <a:prstDash val="solid"/>
          </a:ln>
        </p:spPr>
      </p:sp>
      <p:sp>
        <p:nvSpPr>
          <p:cNvPr id="13" name="Text 11"/>
          <p:cNvSpPr/>
          <p:nvPr/>
        </p:nvSpPr>
        <p:spPr>
          <a:xfrm>
            <a:off x="6355080" y="1481328"/>
            <a:ext cx="5074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Raw is Not Readable</a:t>
            </a:r>
            <a:endParaRPr lang="en-US" sz="1000" dirty="0"/>
          </a:p>
        </p:txBody>
      </p:sp>
      <p:sp>
        <p:nvSpPr>
          <p:cNvPr id="14" name="Text 12"/>
          <p:cNvSpPr/>
          <p:nvPr/>
        </p:nvSpPr>
        <p:spPr>
          <a:xfrm>
            <a:off x="6428232" y="1965960"/>
            <a:ext cx="4892040" cy="822960"/>
          </a:xfrm>
          <a:prstGeom prst="rect">
            <a:avLst/>
          </a:prstGeom>
          <a:noFill/>
          <a:ln/>
        </p:spPr>
        <p:txBody>
          <a:bodyPr wrap="square" lIns="508" tIns="508" rIns="508" bIns="508" rtlCol="0" anchor="ctr">
            <a:normAutofit/>
          </a:bodyPr>
          <a:lstStyle/>
          <a:p>
            <a:pPr algn="l" indent="0" marL="0">
              <a:buNone/>
            </a:pPr>
            <a:r>
              <a:rPr lang="en-US" sz="1800" dirty="0">
                <a:solidFill>
                  <a:srgbClr val="F5F7F6"/>
                </a:solidFill>
                <a:latin typeface="Aptos" pitchFamily="34" charset="0"/>
                <a:ea typeface="Aptos" pitchFamily="34" charset="-122"/>
                <a:cs typeface="Aptos" pitchFamily="34" charset="-120"/>
              </a:rPr>
              <a:t>Frontends and agents need structured cricket meaning, not unprocessed rows.</a:t>
            </a:r>
            <a:endParaRPr lang="en-US" sz="1800" dirty="0"/>
          </a:p>
        </p:txBody>
      </p:sp>
      <p:sp>
        <p:nvSpPr>
          <p:cNvPr id="15" name="Shape 13"/>
          <p:cNvSpPr/>
          <p:nvPr/>
        </p:nvSpPr>
        <p:spPr>
          <a:xfrm>
            <a:off x="502920" y="3657600"/>
            <a:ext cx="5440680" cy="1920240"/>
          </a:xfrm>
          <a:prstGeom prst="rect">
            <a:avLst/>
          </a:prstGeom>
          <a:solidFill>
            <a:srgbClr val="103D2B"/>
          </a:solidFill>
          <a:ln w="12700">
            <a:solidFill>
              <a:srgbClr val="49E38B"/>
            </a:solidFill>
            <a:prstDash val="solid"/>
          </a:ln>
        </p:spPr>
      </p:sp>
      <p:sp>
        <p:nvSpPr>
          <p:cNvPr id="16" name="Shape 14"/>
          <p:cNvSpPr/>
          <p:nvPr/>
        </p:nvSpPr>
        <p:spPr>
          <a:xfrm>
            <a:off x="502920" y="3657600"/>
            <a:ext cx="5440680" cy="50292"/>
          </a:xfrm>
          <a:prstGeom prst="rect">
            <a:avLst/>
          </a:prstGeom>
          <a:solidFill>
            <a:srgbClr val="49E38B"/>
          </a:solidFill>
          <a:ln w="12700">
            <a:solidFill>
              <a:srgbClr val="49E38B"/>
            </a:solidFill>
            <a:prstDash val="solid"/>
          </a:ln>
        </p:spPr>
      </p:sp>
      <p:sp>
        <p:nvSpPr>
          <p:cNvPr id="17" name="Text 15"/>
          <p:cNvSpPr/>
          <p:nvPr/>
        </p:nvSpPr>
        <p:spPr>
          <a:xfrm>
            <a:off x="685800" y="3813048"/>
            <a:ext cx="5074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No Shared Logic</a:t>
            </a:r>
            <a:endParaRPr lang="en-US" sz="1000" dirty="0"/>
          </a:p>
        </p:txBody>
      </p:sp>
      <p:sp>
        <p:nvSpPr>
          <p:cNvPr id="18" name="Text 16"/>
          <p:cNvSpPr/>
          <p:nvPr/>
        </p:nvSpPr>
        <p:spPr>
          <a:xfrm>
            <a:off x="758952" y="4297680"/>
            <a:ext cx="4892040" cy="822960"/>
          </a:xfrm>
          <a:prstGeom prst="rect">
            <a:avLst/>
          </a:prstGeom>
          <a:noFill/>
          <a:ln/>
        </p:spPr>
        <p:txBody>
          <a:bodyPr wrap="square" lIns="508" tIns="508" rIns="508" bIns="508" rtlCol="0" anchor="ctr">
            <a:normAutofit/>
          </a:bodyPr>
          <a:lstStyle/>
          <a:p>
            <a:pPr algn="l" indent="0" marL="0">
              <a:buNone/>
            </a:pPr>
            <a:r>
              <a:rPr lang="en-US" sz="1800" dirty="0">
                <a:solidFill>
                  <a:srgbClr val="F5F7F6"/>
                </a:solidFill>
                <a:latin typeface="Aptos" pitchFamily="34" charset="0"/>
                <a:ea typeface="Aptos" pitchFamily="34" charset="-122"/>
                <a:cs typeface="Aptos" pitchFamily="34" charset="-120"/>
              </a:rPr>
              <a:t>Independent clients can calculate legal balls, rates, and labels inconsistently.</a:t>
            </a:r>
            <a:endParaRPr lang="en-US" sz="1800" dirty="0"/>
          </a:p>
        </p:txBody>
      </p:sp>
      <p:sp>
        <p:nvSpPr>
          <p:cNvPr id="19" name="Shape 17"/>
          <p:cNvSpPr/>
          <p:nvPr/>
        </p:nvSpPr>
        <p:spPr>
          <a:xfrm>
            <a:off x="6172200" y="3657600"/>
            <a:ext cx="5440680" cy="1920240"/>
          </a:xfrm>
          <a:prstGeom prst="rect">
            <a:avLst/>
          </a:prstGeom>
          <a:solidFill>
            <a:srgbClr val="103D2B"/>
          </a:solidFill>
          <a:ln w="12700">
            <a:solidFill>
              <a:srgbClr val="E3B82F"/>
            </a:solidFill>
            <a:prstDash val="solid"/>
          </a:ln>
        </p:spPr>
      </p:sp>
      <p:sp>
        <p:nvSpPr>
          <p:cNvPr id="20" name="Shape 18"/>
          <p:cNvSpPr/>
          <p:nvPr/>
        </p:nvSpPr>
        <p:spPr>
          <a:xfrm>
            <a:off x="6172200" y="3657600"/>
            <a:ext cx="5440680" cy="50292"/>
          </a:xfrm>
          <a:prstGeom prst="rect">
            <a:avLst/>
          </a:prstGeom>
          <a:solidFill>
            <a:srgbClr val="E3B82F"/>
          </a:solidFill>
          <a:ln w="12700">
            <a:solidFill>
              <a:srgbClr val="E3B82F"/>
            </a:solidFill>
            <a:prstDash val="solid"/>
          </a:ln>
        </p:spPr>
      </p:sp>
      <p:sp>
        <p:nvSpPr>
          <p:cNvPr id="21" name="Text 19"/>
          <p:cNvSpPr/>
          <p:nvPr/>
        </p:nvSpPr>
        <p:spPr>
          <a:xfrm>
            <a:off x="6355080" y="3813048"/>
            <a:ext cx="5074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Predictions Need Trust</a:t>
            </a:r>
            <a:endParaRPr lang="en-US" sz="1000" dirty="0"/>
          </a:p>
        </p:txBody>
      </p:sp>
      <p:sp>
        <p:nvSpPr>
          <p:cNvPr id="22" name="Text 20"/>
          <p:cNvSpPr/>
          <p:nvPr/>
        </p:nvSpPr>
        <p:spPr>
          <a:xfrm>
            <a:off x="6428232" y="4297680"/>
            <a:ext cx="4892040" cy="822960"/>
          </a:xfrm>
          <a:prstGeom prst="rect">
            <a:avLst/>
          </a:prstGeom>
          <a:noFill/>
          <a:ln/>
        </p:spPr>
        <p:txBody>
          <a:bodyPr wrap="square" lIns="508" tIns="508" rIns="508" bIns="508" rtlCol="0" anchor="ctr">
            <a:normAutofit/>
          </a:bodyPr>
          <a:lstStyle/>
          <a:p>
            <a:pPr algn="l" indent="0" marL="0">
              <a:buNone/>
            </a:pPr>
            <a:r>
              <a:rPr lang="en-US" sz="1800" dirty="0">
                <a:solidFill>
                  <a:srgbClr val="F5F7F6"/>
                </a:solidFill>
                <a:latin typeface="Aptos" pitchFamily="34" charset="0"/>
                <a:ea typeface="Aptos" pitchFamily="34" charset="-122"/>
                <a:cs typeface="Aptos" pitchFamily="34" charset="-120"/>
              </a:rPr>
              <a:t>Model output requires provenance, metrics, validation, and fallback behavior.</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System Design Philosophy</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Why eleven specialised APIs instead of one monolithic endpoint</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DESIGN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234440"/>
            <a:ext cx="3520440" cy="4389120"/>
          </a:xfrm>
          <a:prstGeom prst="rect">
            <a:avLst/>
          </a:prstGeom>
          <a:solidFill>
            <a:srgbClr val="103D2B"/>
          </a:solidFill>
          <a:ln w="12700">
            <a:solidFill>
              <a:srgbClr val="49E38B"/>
            </a:solidFill>
            <a:prstDash val="solid"/>
          </a:ln>
        </p:spPr>
      </p:sp>
      <p:sp>
        <p:nvSpPr>
          <p:cNvPr id="8" name="Shape 6"/>
          <p:cNvSpPr/>
          <p:nvPr/>
        </p:nvSpPr>
        <p:spPr>
          <a:xfrm>
            <a:off x="502920" y="1234440"/>
            <a:ext cx="3520440" cy="50292"/>
          </a:xfrm>
          <a:prstGeom prst="rect">
            <a:avLst/>
          </a:prstGeom>
          <a:solidFill>
            <a:srgbClr val="49E38B"/>
          </a:solidFill>
          <a:ln w="12700">
            <a:solidFill>
              <a:srgbClr val="49E38B"/>
            </a:solidFill>
            <a:prstDash val="solid"/>
          </a:ln>
        </p:spPr>
      </p:sp>
      <p:sp>
        <p:nvSpPr>
          <p:cNvPr id="9" name="Text 7"/>
          <p:cNvSpPr/>
          <p:nvPr/>
        </p:nvSpPr>
        <p:spPr>
          <a:xfrm>
            <a:off x="685800" y="138988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 1 - MATCH STATE</a:t>
            </a:r>
            <a:endParaRPr lang="en-US" sz="1000" dirty="0"/>
          </a:p>
        </p:txBody>
      </p:sp>
      <p:sp>
        <p:nvSpPr>
          <p:cNvPr id="10" name="Text 8"/>
          <p:cNvSpPr/>
          <p:nvPr/>
        </p:nvSpPr>
        <p:spPr>
          <a:xfrm>
            <a:off x="749808" y="1828800"/>
            <a:ext cx="3017520" cy="2194560"/>
          </a:xfrm>
          <a:prstGeom prst="rect">
            <a:avLst/>
          </a:prstGeom>
          <a:noFill/>
          <a:ln/>
        </p:spPr>
        <p:txBody>
          <a:bodyPr wrap="square" lIns="635" tIns="635" rIns="635" bIns="635" rtlCol="0" anchor="ctr">
            <a:normAutofit/>
          </a:bodyPr>
          <a:lstStyle/>
          <a:p>
            <a:pPr marL="190500" indent="-190500">
              <a:buSzPct val="100000"/>
              <a:buChar char="•"/>
            </a:pPr>
            <a:r>
              <a:rPr lang="en-US" sz="1700" dirty="0">
                <a:solidFill>
                  <a:srgbClr val="F5F7F6"/>
                </a:solidFill>
                <a:latin typeface="Aptos" pitchFamily="34" charset="0"/>
                <a:ea typeface="Aptos" pitchFamily="34" charset="-122"/>
                <a:cs typeface="Aptos" pitchFamily="34" charset="-120"/>
              </a:rPr>
              <a:t>Score and innings aggregation</a:t>
            </a:r>
            <a:endParaRPr lang="en-US" sz="1700" dirty="0"/>
          </a:p>
          <a:p>
            <a:pPr marL="190500" indent="-190500">
              <a:buSzPct val="100000"/>
              <a:buChar char="•"/>
            </a:pPr>
            <a:r>
              <a:rPr lang="en-US" sz="1700" dirty="0">
                <a:solidFill>
                  <a:srgbClr val="F5F7F6"/>
                </a:solidFill>
                <a:latin typeface="Aptos" pitchFamily="34" charset="0"/>
                <a:ea typeface="Aptos" pitchFamily="34" charset="-122"/>
                <a:cs typeface="Aptos" pitchFamily="34" charset="-120"/>
              </a:rPr>
              <a:t>Chase resources and required rate</a:t>
            </a:r>
            <a:endParaRPr lang="en-US" sz="1700" dirty="0"/>
          </a:p>
          <a:p>
            <a:pPr marL="190500" indent="-190500">
              <a:buSzPct val="100000"/>
              <a:buChar char="•"/>
            </a:pPr>
            <a:r>
              <a:rPr lang="en-US" sz="1700" dirty="0">
                <a:solidFill>
                  <a:srgbClr val="F5F7F6"/>
                </a:solidFill>
                <a:latin typeface="Aptos" pitchFamily="34" charset="0"/>
                <a:ea typeface="Aptos" pitchFamily="34" charset="-122"/>
                <a:cs typeface="Aptos" pitchFamily="34" charset="-120"/>
              </a:rPr>
              <a:t>Explainable match outlook</a:t>
            </a:r>
            <a:endParaRPr lang="en-US" sz="1700" dirty="0"/>
          </a:p>
        </p:txBody>
      </p:sp>
      <p:sp>
        <p:nvSpPr>
          <p:cNvPr id="11" name="Shape 9"/>
          <p:cNvSpPr/>
          <p:nvPr/>
        </p:nvSpPr>
        <p:spPr>
          <a:xfrm>
            <a:off x="4325112" y="1234440"/>
            <a:ext cx="3520440" cy="4389120"/>
          </a:xfrm>
          <a:prstGeom prst="rect">
            <a:avLst/>
          </a:prstGeom>
          <a:solidFill>
            <a:srgbClr val="103D2B"/>
          </a:solidFill>
          <a:ln w="12700">
            <a:solidFill>
              <a:srgbClr val="E3B82F"/>
            </a:solidFill>
            <a:prstDash val="solid"/>
          </a:ln>
        </p:spPr>
      </p:sp>
      <p:sp>
        <p:nvSpPr>
          <p:cNvPr id="12" name="Shape 10"/>
          <p:cNvSpPr/>
          <p:nvPr/>
        </p:nvSpPr>
        <p:spPr>
          <a:xfrm>
            <a:off x="4325112" y="1234440"/>
            <a:ext cx="3520440" cy="50292"/>
          </a:xfrm>
          <a:prstGeom prst="rect">
            <a:avLst/>
          </a:prstGeom>
          <a:solidFill>
            <a:srgbClr val="E3B82F"/>
          </a:solidFill>
          <a:ln w="12700">
            <a:solidFill>
              <a:srgbClr val="E3B82F"/>
            </a:solidFill>
            <a:prstDash val="solid"/>
          </a:ln>
        </p:spPr>
      </p:sp>
      <p:sp>
        <p:nvSpPr>
          <p:cNvPr id="13" name="Text 11"/>
          <p:cNvSpPr/>
          <p:nvPr/>
        </p:nvSpPr>
        <p:spPr>
          <a:xfrm>
            <a:off x="4507992" y="138988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SPRINT 2 - PLAYER CONTEXT</a:t>
            </a:r>
            <a:endParaRPr lang="en-US" sz="1000" dirty="0"/>
          </a:p>
        </p:txBody>
      </p:sp>
      <p:sp>
        <p:nvSpPr>
          <p:cNvPr id="14" name="Text 12"/>
          <p:cNvSpPr/>
          <p:nvPr/>
        </p:nvSpPr>
        <p:spPr>
          <a:xfrm>
            <a:off x="4572000" y="1828800"/>
            <a:ext cx="3017520" cy="2194560"/>
          </a:xfrm>
          <a:prstGeom prst="rect">
            <a:avLst/>
          </a:prstGeom>
          <a:noFill/>
          <a:ln/>
        </p:spPr>
        <p:txBody>
          <a:bodyPr wrap="square" lIns="635" tIns="635" rIns="635" bIns="635" rtlCol="0" anchor="ctr">
            <a:normAutofit/>
          </a:bodyPr>
          <a:lstStyle/>
          <a:p>
            <a:pPr marL="190500" indent="-190500">
              <a:buSzPct val="100000"/>
              <a:buChar char="•"/>
            </a:pPr>
            <a:r>
              <a:rPr lang="en-US" sz="1700" dirty="0">
                <a:solidFill>
                  <a:srgbClr val="F5F7F6"/>
                </a:solidFill>
                <a:latin typeface="Aptos" pitchFamily="34" charset="0"/>
                <a:ea typeface="Aptos" pitchFamily="34" charset="-122"/>
                <a:cs typeface="Aptos" pitchFamily="34" charset="-120"/>
              </a:rPr>
              <a:t>Regression-based recent form</a:t>
            </a:r>
            <a:endParaRPr lang="en-US" sz="1700" dirty="0"/>
          </a:p>
          <a:p>
            <a:pPr marL="190500" indent="-190500">
              <a:buSzPct val="100000"/>
              <a:buChar char="•"/>
            </a:pPr>
            <a:r>
              <a:rPr lang="en-US" sz="1700" dirty="0">
                <a:solidFill>
                  <a:srgbClr val="F5F7F6"/>
                </a:solidFill>
                <a:latin typeface="Aptos" pitchFamily="34" charset="0"/>
                <a:ea typeface="Aptos" pitchFamily="34" charset="-122"/>
                <a:cs typeface="Aptos" pitchFamily="34" charset="-120"/>
              </a:rPr>
              <a:t>Opponent-specific Bayesian update</a:t>
            </a:r>
            <a:endParaRPr lang="en-US" sz="1700" dirty="0"/>
          </a:p>
          <a:p>
            <a:pPr marL="190500" indent="-190500">
              <a:buSzPct val="100000"/>
              <a:buChar char="•"/>
            </a:pPr>
            <a:r>
              <a:rPr lang="en-US" sz="1700" dirty="0">
                <a:solidFill>
                  <a:srgbClr val="F5F7F6"/>
                </a:solidFill>
                <a:latin typeface="Aptos" pitchFamily="34" charset="0"/>
                <a:ea typeface="Aptos" pitchFamily="34" charset="-122"/>
                <a:cs typeface="Aptos" pitchFamily="34" charset="-120"/>
              </a:rPr>
              <a:t>Confidence and evidence warnings</a:t>
            </a:r>
            <a:endParaRPr lang="en-US" sz="1700" dirty="0"/>
          </a:p>
        </p:txBody>
      </p:sp>
      <p:sp>
        <p:nvSpPr>
          <p:cNvPr id="15" name="Shape 13"/>
          <p:cNvSpPr/>
          <p:nvPr/>
        </p:nvSpPr>
        <p:spPr>
          <a:xfrm>
            <a:off x="8138160" y="1234440"/>
            <a:ext cx="3520440" cy="4389120"/>
          </a:xfrm>
          <a:prstGeom prst="rect">
            <a:avLst/>
          </a:prstGeom>
          <a:solidFill>
            <a:srgbClr val="103D2B"/>
          </a:solidFill>
          <a:ln w="12700">
            <a:solidFill>
              <a:srgbClr val="3BC8E8"/>
            </a:solidFill>
            <a:prstDash val="solid"/>
          </a:ln>
        </p:spPr>
      </p:sp>
      <p:sp>
        <p:nvSpPr>
          <p:cNvPr id="16" name="Shape 14"/>
          <p:cNvSpPr/>
          <p:nvPr/>
        </p:nvSpPr>
        <p:spPr>
          <a:xfrm>
            <a:off x="8138160" y="1234440"/>
            <a:ext cx="3520440" cy="50292"/>
          </a:xfrm>
          <a:prstGeom prst="rect">
            <a:avLst/>
          </a:prstGeom>
          <a:solidFill>
            <a:srgbClr val="3BC8E8"/>
          </a:solidFill>
          <a:ln w="12700">
            <a:solidFill>
              <a:srgbClr val="3BC8E8"/>
            </a:solidFill>
            <a:prstDash val="solid"/>
          </a:ln>
        </p:spPr>
      </p:sp>
      <p:sp>
        <p:nvSpPr>
          <p:cNvPr id="17" name="Text 15"/>
          <p:cNvSpPr/>
          <p:nvPr/>
        </p:nvSpPr>
        <p:spPr>
          <a:xfrm>
            <a:off x="8321040" y="138988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3BC8E8"/>
                </a:solidFill>
                <a:latin typeface="Aptos" pitchFamily="34" charset="0"/>
                <a:ea typeface="Aptos" pitchFamily="34" charset="-122"/>
                <a:cs typeface="Aptos" pitchFamily="34" charset="-120"/>
              </a:rPr>
              <a:t>SPRINT 3 - DECISION</a:t>
            </a:r>
            <a:endParaRPr lang="en-US" sz="1000" dirty="0"/>
          </a:p>
        </p:txBody>
      </p:sp>
      <p:sp>
        <p:nvSpPr>
          <p:cNvPr id="18" name="Text 16"/>
          <p:cNvSpPr/>
          <p:nvPr/>
        </p:nvSpPr>
        <p:spPr>
          <a:xfrm>
            <a:off x="8385048" y="1828800"/>
            <a:ext cx="3017520" cy="2194560"/>
          </a:xfrm>
          <a:prstGeom prst="rect">
            <a:avLst/>
          </a:prstGeom>
          <a:noFill/>
          <a:ln/>
        </p:spPr>
        <p:txBody>
          <a:bodyPr wrap="square" lIns="635" tIns="635" rIns="635" bIns="635" rtlCol="0" anchor="ctr">
            <a:normAutofit/>
          </a:bodyPr>
          <a:lstStyle/>
          <a:p>
            <a:pPr marL="190500" indent="-190500">
              <a:buSzPct val="100000"/>
              <a:buChar char="•"/>
            </a:pPr>
            <a:r>
              <a:rPr lang="en-US" sz="1700" dirty="0">
                <a:solidFill>
                  <a:srgbClr val="F5F7F6"/>
                </a:solidFill>
                <a:latin typeface="Aptos" pitchFamily="34" charset="0"/>
                <a:ea typeface="Aptos" pitchFamily="34" charset="-122"/>
                <a:cs typeface="Aptos" pitchFamily="34" charset="-120"/>
              </a:rPr>
              <a:t>Event-level expected value</a:t>
            </a:r>
            <a:endParaRPr lang="en-US" sz="1700" dirty="0"/>
          </a:p>
          <a:p>
            <a:pPr marL="190500" indent="-190500">
              <a:buSzPct val="100000"/>
              <a:buChar char="•"/>
            </a:pPr>
            <a:r>
              <a:rPr lang="en-US" sz="1700" dirty="0">
                <a:solidFill>
                  <a:srgbClr val="F5F7F6"/>
                </a:solidFill>
                <a:latin typeface="Aptos" pitchFamily="34" charset="0"/>
                <a:ea typeface="Aptos" pitchFamily="34" charset="-122"/>
                <a:cs typeface="Aptos" pitchFamily="34" charset="-120"/>
              </a:rPr>
              <a:t>Saved .pkl model prediction</a:t>
            </a:r>
            <a:endParaRPr lang="en-US" sz="1700" dirty="0"/>
          </a:p>
          <a:p>
            <a:pPr marL="190500" indent="-190500">
              <a:buSzPct val="100000"/>
              <a:buChar char="•"/>
            </a:pPr>
            <a:r>
              <a:rPr lang="en-US" sz="1700" dirty="0">
                <a:solidFill>
                  <a:srgbClr val="F5F7F6"/>
                </a:solidFill>
                <a:latin typeface="Aptos" pitchFamily="34" charset="0"/>
                <a:ea typeface="Aptos" pitchFamily="34" charset="-122"/>
                <a:cs typeface="Aptos" pitchFamily="34" charset="-120"/>
              </a:rPr>
              <a:t>Selection labels and fallback</a:t>
            </a:r>
            <a:endParaRPr lang="en-US" sz="1700" dirty="0"/>
          </a:p>
        </p:txBody>
      </p:sp>
      <p:sp>
        <p:nvSpPr>
          <p:cNvPr id="19" name="Text 17"/>
          <p:cNvSpPr/>
          <p:nvPr/>
        </p:nvSpPr>
        <p:spPr>
          <a:xfrm>
            <a:off x="685800" y="5897880"/>
            <a:ext cx="10789920" cy="274320"/>
          </a:xfrm>
          <a:prstGeom prst="rect">
            <a:avLst/>
          </a:prstGeom>
          <a:noFill/>
          <a:ln/>
        </p:spPr>
        <p:txBody>
          <a:bodyPr wrap="square" lIns="508" tIns="508" rIns="508" bIns="508" rtlCol="0" anchor="t">
            <a:normAutofit/>
          </a:bodyPr>
          <a:lstStyle/>
          <a:p>
            <a:pPr algn="ctr" indent="0" marL="0">
              <a:buNone/>
            </a:pPr>
            <a:r>
              <a:rPr lang="en-US" sz="1600" b="1" dirty="0">
                <a:solidFill>
                  <a:srgbClr val="49E38B"/>
                </a:solidFill>
                <a:latin typeface="Aptos" pitchFamily="34" charset="0"/>
                <a:ea typeface="Aptos" pitchFamily="34" charset="-122"/>
                <a:cs typeface="Aptos" pitchFamily="34" charset="-120"/>
              </a:rPr>
              <a:t>Separation of intelligence layers improves reuse, testing, scaling, and explainability.</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Evidence, Dataset, and Deployment</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Authoritative sources used throughout this presentation</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234440"/>
            <a:ext cx="3520440" cy="4526280"/>
          </a:xfrm>
          <a:prstGeom prst="rect">
            <a:avLst/>
          </a:prstGeom>
          <a:solidFill>
            <a:srgbClr val="103D2B"/>
          </a:solidFill>
          <a:ln w="12700">
            <a:solidFill>
              <a:srgbClr val="49E38B"/>
            </a:solidFill>
            <a:prstDash val="solid"/>
          </a:ln>
        </p:spPr>
      </p:sp>
      <p:sp>
        <p:nvSpPr>
          <p:cNvPr id="8" name="Shape 6"/>
          <p:cNvSpPr/>
          <p:nvPr/>
        </p:nvSpPr>
        <p:spPr>
          <a:xfrm>
            <a:off x="502920" y="1234440"/>
            <a:ext cx="3520440" cy="50292"/>
          </a:xfrm>
          <a:prstGeom prst="rect">
            <a:avLst/>
          </a:prstGeom>
          <a:solidFill>
            <a:srgbClr val="49E38B"/>
          </a:solidFill>
          <a:ln w="12700">
            <a:solidFill>
              <a:srgbClr val="49E38B"/>
            </a:solidFill>
            <a:prstDash val="solid"/>
          </a:ln>
        </p:spPr>
      </p:sp>
      <p:sp>
        <p:nvSpPr>
          <p:cNvPr id="9" name="Text 7"/>
          <p:cNvSpPr/>
          <p:nvPr/>
        </p:nvSpPr>
        <p:spPr>
          <a:xfrm>
            <a:off x="685800" y="138988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DATASET</a:t>
            </a:r>
            <a:endParaRPr lang="en-US" sz="1000" dirty="0"/>
          </a:p>
        </p:txBody>
      </p:sp>
      <p:sp>
        <p:nvSpPr>
          <p:cNvPr id="10" name="Text 8"/>
          <p:cNvSpPr/>
          <p:nvPr/>
        </p:nvSpPr>
        <p:spPr>
          <a:xfrm>
            <a:off x="749808" y="1719072"/>
            <a:ext cx="3017520" cy="3291840"/>
          </a:xfrm>
          <a:prstGeom prst="rect">
            <a:avLst/>
          </a:prstGeom>
          <a:noFill/>
          <a:ln/>
        </p:spPr>
        <p:txBody>
          <a:bodyPr wrap="square" lIns="635" tIns="635" rIns="635" bIns="635" rtlCol="0" anchor="ctr">
            <a:normAutofit/>
          </a:bodyPr>
          <a:lstStyle/>
          <a:p>
            <a:pPr marL="190500" indent="-190500">
              <a:buSzPct val="100000"/>
              <a:buChar char="•"/>
            </a:pPr>
            <a:r>
              <a:rPr lang="en-US" sz="1450" dirty="0">
                <a:solidFill>
                  <a:srgbClr val="F5F7F6"/>
                </a:solidFill>
                <a:latin typeface="Aptos" pitchFamily="34" charset="0"/>
                <a:ea typeface="Aptos" pitchFamily="34" charset="-122"/>
                <a:cs typeface="Aptos" pitchFamily="34" charset="-120"/>
              </a:rPr>
              <a:t>HimanshuKhale/datasets_cricket</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4 teams and 12 synthetic T20 matches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24 innings and 2,846 ball events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Player-match and ball-level training tables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Synthetic/faux - never presented as real data</a:t>
            </a:r>
            <a:endParaRPr lang="en-US" sz="1450" dirty="0"/>
          </a:p>
        </p:txBody>
      </p:sp>
      <p:sp>
        <p:nvSpPr>
          <p:cNvPr id="11" name="Shape 9"/>
          <p:cNvSpPr/>
          <p:nvPr/>
        </p:nvSpPr>
        <p:spPr>
          <a:xfrm>
            <a:off x="4325112" y="1234440"/>
            <a:ext cx="3520440" cy="4526280"/>
          </a:xfrm>
          <a:prstGeom prst="rect">
            <a:avLst/>
          </a:prstGeom>
          <a:solidFill>
            <a:srgbClr val="103D2B"/>
          </a:solidFill>
          <a:ln w="12700">
            <a:solidFill>
              <a:srgbClr val="E3B82F"/>
            </a:solidFill>
            <a:prstDash val="solid"/>
          </a:ln>
        </p:spPr>
      </p:sp>
      <p:sp>
        <p:nvSpPr>
          <p:cNvPr id="12" name="Shape 10"/>
          <p:cNvSpPr/>
          <p:nvPr/>
        </p:nvSpPr>
        <p:spPr>
          <a:xfrm>
            <a:off x="4325112" y="1234440"/>
            <a:ext cx="3520440" cy="50292"/>
          </a:xfrm>
          <a:prstGeom prst="rect">
            <a:avLst/>
          </a:prstGeom>
          <a:solidFill>
            <a:srgbClr val="E3B82F"/>
          </a:solidFill>
          <a:ln w="12700">
            <a:solidFill>
              <a:srgbClr val="E3B82F"/>
            </a:solidFill>
            <a:prstDash val="solid"/>
          </a:ln>
        </p:spPr>
      </p:sp>
      <p:sp>
        <p:nvSpPr>
          <p:cNvPr id="13" name="Text 11"/>
          <p:cNvSpPr/>
          <p:nvPr/>
        </p:nvSpPr>
        <p:spPr>
          <a:xfrm>
            <a:off x="4507992" y="138988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VERIFIED OUTPUT</a:t>
            </a:r>
            <a:endParaRPr lang="en-US" sz="1000" dirty="0"/>
          </a:p>
        </p:txBody>
      </p:sp>
      <p:sp>
        <p:nvSpPr>
          <p:cNvPr id="14" name="Text 12"/>
          <p:cNvSpPr/>
          <p:nvPr/>
        </p:nvSpPr>
        <p:spPr>
          <a:xfrm>
            <a:off x="4572000" y="1719072"/>
            <a:ext cx="3017520" cy="3291840"/>
          </a:xfrm>
          <a:prstGeom prst="rect">
            <a:avLst/>
          </a:prstGeom>
          <a:noFill/>
          <a:ln/>
        </p:spPr>
        <p:txBody>
          <a:bodyPr wrap="square" lIns="635" tIns="635" rIns="635" bIns="635" rtlCol="0" anchor="ctr">
            <a:normAutofit/>
          </a:bodyPr>
          <a:lstStyle/>
          <a:p>
            <a:pPr marL="190500" indent="-190500">
              <a:buSzPct val="100000"/>
              <a:buChar char="•"/>
            </a:pPr>
            <a:r>
              <a:rPr lang="en-US" sz="1450" dirty="0">
                <a:solidFill>
                  <a:srgbClr val="F5F7F6"/>
                </a:solidFill>
                <a:latin typeface="Aptos" pitchFamily="34" charset="0"/>
                <a:ea typeface="Aptos" pitchFamily="34" charset="-122"/>
                <a:cs typeface="Aptos" pitchFamily="34" charset="-120"/>
              </a:rPr>
              <a:t>Real schemas.py and services.py functions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Eleven 1440x810 dashboards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Actual service response values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Editable schema and JSON examples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No random presentation values</a:t>
            </a:r>
            <a:endParaRPr lang="en-US" sz="1450" dirty="0"/>
          </a:p>
        </p:txBody>
      </p:sp>
      <p:sp>
        <p:nvSpPr>
          <p:cNvPr id="15" name="Shape 13"/>
          <p:cNvSpPr/>
          <p:nvPr/>
        </p:nvSpPr>
        <p:spPr>
          <a:xfrm>
            <a:off x="8138160" y="1234440"/>
            <a:ext cx="3520440" cy="4526280"/>
          </a:xfrm>
          <a:prstGeom prst="rect">
            <a:avLst/>
          </a:prstGeom>
          <a:solidFill>
            <a:srgbClr val="103D2B"/>
          </a:solidFill>
          <a:ln w="12700">
            <a:solidFill>
              <a:srgbClr val="3BC8E8"/>
            </a:solidFill>
            <a:prstDash val="solid"/>
          </a:ln>
        </p:spPr>
      </p:sp>
      <p:sp>
        <p:nvSpPr>
          <p:cNvPr id="16" name="Shape 14"/>
          <p:cNvSpPr/>
          <p:nvPr/>
        </p:nvSpPr>
        <p:spPr>
          <a:xfrm>
            <a:off x="8138160" y="1234440"/>
            <a:ext cx="3520440" cy="50292"/>
          </a:xfrm>
          <a:prstGeom prst="rect">
            <a:avLst/>
          </a:prstGeom>
          <a:solidFill>
            <a:srgbClr val="3BC8E8"/>
          </a:solidFill>
          <a:ln w="12700">
            <a:solidFill>
              <a:srgbClr val="3BC8E8"/>
            </a:solidFill>
            <a:prstDash val="solid"/>
          </a:ln>
        </p:spPr>
      </p:sp>
      <p:sp>
        <p:nvSpPr>
          <p:cNvPr id="17" name="Text 15"/>
          <p:cNvSpPr/>
          <p:nvPr/>
        </p:nvSpPr>
        <p:spPr>
          <a:xfrm>
            <a:off x="8321040" y="138988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3BC8E8"/>
                </a:solidFill>
                <a:latin typeface="Aptos" pitchFamily="34" charset="0"/>
                <a:ea typeface="Aptos" pitchFamily="34" charset="-122"/>
                <a:cs typeface="Aptos" pitchFamily="34" charset="-120"/>
              </a:rPr>
              <a:t>DEPLOYMENT</a:t>
            </a:r>
            <a:endParaRPr lang="en-US" sz="1000" dirty="0"/>
          </a:p>
        </p:txBody>
      </p:sp>
      <p:sp>
        <p:nvSpPr>
          <p:cNvPr id="18" name="Text 16"/>
          <p:cNvSpPr/>
          <p:nvPr/>
        </p:nvSpPr>
        <p:spPr>
          <a:xfrm>
            <a:off x="8385048" y="1719072"/>
            <a:ext cx="3017520" cy="3291840"/>
          </a:xfrm>
          <a:prstGeom prst="rect">
            <a:avLst/>
          </a:prstGeom>
          <a:noFill/>
          <a:ln/>
        </p:spPr>
        <p:txBody>
          <a:bodyPr wrap="square" lIns="635" tIns="635" rIns="635" bIns="635" rtlCol="0" anchor="ctr">
            <a:normAutofit/>
          </a:bodyPr>
          <a:lstStyle/>
          <a:p>
            <a:pPr marL="190500" indent="-190500">
              <a:buSzPct val="100000"/>
              <a:buChar char="•"/>
            </a:pPr>
            <a:r>
              <a:rPr lang="en-US" sz="1450" dirty="0">
                <a:solidFill>
                  <a:srgbClr val="F5F7F6"/>
                </a:solidFill>
                <a:latin typeface="Aptos" pitchFamily="34" charset="0"/>
                <a:ea typeface="Aptos" pitchFamily="34" charset="-122"/>
                <a:cs typeface="Aptos" pitchFamily="34" charset="-120"/>
              </a:rPr>
              <a:t>API 11 publicly hosted on Render</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Swagger and model-info verified</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APIs 1-10 shown as local verified services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GitHub repository and presentation assets</a:t>
            </a:r>
            <a:endParaRPr lang="en-US" sz="1450" dirty="0"/>
          </a:p>
          <a:p>
            <a:pPr marL="190500" indent="-190500">
              <a:buSzPct val="100000"/>
              <a:buChar char="•"/>
            </a:pPr>
            <a:r>
              <a:rPr lang="en-US" sz="1450" dirty="0">
                <a:solidFill>
                  <a:srgbClr val="F5F7F6"/>
                </a:solidFill>
                <a:latin typeface="Aptos" pitchFamily="34" charset="0"/>
                <a:ea typeface="Aptos" pitchFamily="34" charset="-122"/>
                <a:cs typeface="Aptos" pitchFamily="34" charset="-120"/>
              </a:rPr>
              <a:t>Render free tier may cold-start</a:t>
            </a:r>
            <a:endParaRPr lang="en-US" sz="14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858000" y="-1097280"/>
            <a:ext cx="6583680" cy="6583680"/>
          </a:xfrm>
          <a:prstGeom prst="ellipse">
            <a:avLst/>
          </a:prstGeom>
          <a:solidFill>
            <a:srgbClr val="49E38B">
              <a:alpha val="15000"/>
            </a:srgbClr>
          </a:solidFill>
          <a:ln w="12700">
            <a:solidFill>
              <a:srgbClr val="333333">
                <a:alpha val="0"/>
              </a:srgbClr>
            </a:solidFill>
            <a:prstDash val="solid"/>
          </a:ln>
        </p:spPr>
      </p:sp>
      <p:sp>
        <p:nvSpPr>
          <p:cNvPr id="3" name="Text 1"/>
          <p:cNvSpPr/>
          <p:nvPr/>
        </p:nvSpPr>
        <p:spPr>
          <a:xfrm>
            <a:off x="640080" y="685800"/>
            <a:ext cx="2743200" cy="365760"/>
          </a:xfrm>
          <a:prstGeom prst="rect">
            <a:avLst/>
          </a:prstGeom>
          <a:noFill/>
          <a:ln/>
        </p:spPr>
        <p:txBody>
          <a:bodyPr wrap="square" lIns="508" tIns="508" rIns="508" bIns="508" rtlCol="0" anchor="t">
            <a:normAutofit/>
          </a:bodyPr>
          <a:lstStyle/>
          <a:p>
            <a:pPr algn="l" indent="0" marL="0">
              <a:buNone/>
            </a:pPr>
            <a:r>
              <a:rPr lang="en-US" sz="1400" b="1" spc="250" kern="0" dirty="0">
                <a:solidFill>
                  <a:srgbClr val="49E38B"/>
                </a:solidFill>
                <a:latin typeface="Aptos" pitchFamily="34" charset="0"/>
                <a:ea typeface="Aptos" pitchFamily="34" charset="-122"/>
                <a:cs typeface="Aptos" pitchFamily="34" charset="-120"/>
              </a:rPr>
              <a:t>SPRINT 1</a:t>
            </a:r>
            <a:endParaRPr lang="en-US" sz="1400" dirty="0"/>
          </a:p>
        </p:txBody>
      </p:sp>
      <p:sp>
        <p:nvSpPr>
          <p:cNvPr id="4" name="Text 2"/>
          <p:cNvSpPr/>
          <p:nvPr/>
        </p:nvSpPr>
        <p:spPr>
          <a:xfrm>
            <a:off x="640080" y="1417320"/>
            <a:ext cx="9875520" cy="914400"/>
          </a:xfrm>
          <a:prstGeom prst="rect">
            <a:avLst/>
          </a:prstGeom>
          <a:noFill/>
          <a:ln/>
        </p:spPr>
        <p:txBody>
          <a:bodyPr wrap="square" lIns="508" tIns="508" rIns="508" bIns="508" rtlCol="0" anchor="t">
            <a:normAutofit/>
          </a:bodyPr>
          <a:lstStyle/>
          <a:p>
            <a:pPr algn="l" indent="0" marL="0">
              <a:buNone/>
            </a:pPr>
            <a:r>
              <a:rPr lang="en-US" sz="4000" b="1" dirty="0">
                <a:solidFill>
                  <a:srgbClr val="F5F7F6"/>
                </a:solidFill>
                <a:latin typeface="Aptos" pitchFamily="34" charset="0"/>
                <a:ea typeface="Aptos" pitchFamily="34" charset="-122"/>
                <a:cs typeface="Aptos" pitchFamily="34" charset="-120"/>
              </a:rPr>
              <a:t>Live Match Intelligence</a:t>
            </a:r>
            <a:endParaRPr lang="en-US" sz="4000" dirty="0"/>
          </a:p>
        </p:txBody>
      </p:sp>
      <p:sp>
        <p:nvSpPr>
          <p:cNvPr id="5" name="Text 3"/>
          <p:cNvSpPr/>
          <p:nvPr/>
        </p:nvSpPr>
        <p:spPr>
          <a:xfrm>
            <a:off x="658368" y="2606040"/>
            <a:ext cx="7955280" cy="594360"/>
          </a:xfrm>
          <a:prstGeom prst="rect">
            <a:avLst/>
          </a:prstGeom>
          <a:noFill/>
          <a:ln/>
        </p:spPr>
        <p:txBody>
          <a:bodyPr wrap="square" lIns="508" tIns="508" rIns="508" bIns="508" rtlCol="0" anchor="t">
            <a:normAutofit/>
          </a:bodyPr>
          <a:lstStyle/>
          <a:p>
            <a:pPr algn="l" indent="0" marL="0">
              <a:buNone/>
            </a:pPr>
            <a:r>
              <a:rPr lang="en-US" sz="1800" dirty="0">
                <a:solidFill>
                  <a:srgbClr val="A7C1B4"/>
                </a:solidFill>
                <a:latin typeface="Aptos" pitchFamily="34" charset="0"/>
                <a:ea typeface="Aptos" pitchFamily="34" charset="-122"/>
                <a:cs typeface="Aptos" pitchFamily="34" charset="-120"/>
              </a:rPr>
              <a:t>Five APIs transform delivery events into score, chase, pressure, and outlook intelligence.</a:t>
            </a:r>
            <a:endParaRPr lang="en-US" sz="1800" dirty="0"/>
          </a:p>
        </p:txBody>
      </p:sp>
      <p:sp>
        <p:nvSpPr>
          <p:cNvPr id="6" name="Shape 4"/>
          <p:cNvSpPr/>
          <p:nvPr/>
        </p:nvSpPr>
        <p:spPr>
          <a:xfrm>
            <a:off x="658368" y="3657600"/>
            <a:ext cx="4754880" cy="0"/>
          </a:xfrm>
          <a:prstGeom prst="line">
            <a:avLst/>
          </a:prstGeom>
          <a:noFill/>
          <a:ln w="38100">
            <a:solidFill>
              <a:srgbClr val="49E38B"/>
            </a:solidFill>
            <a:prstDash val="solid"/>
          </a:ln>
        </p:spPr>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1 - Live Match Scoreboard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GET /student5/live-scoreboard/{match_id}</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Live Match Scoreboard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GET  /student5/live-scoreboard/{match_id}</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1</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Aggregate a live match snapshot into one frontend-ready scoreboard response.</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Raw match, innings, player, and delivery rows are fragmented; a frontend should not rebuild cricket state independently.</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Live match dashboard</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Broadcast overlay</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AI commentary context</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Live Match Scoreboard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Receive match_id</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Load saved match and innings</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Aggregate legal balls, runs, wickets</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Rank top performers</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Return recent-ball context</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total_runs = sum(runs_off_bat + extras)</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overs = legal_balls // 6 + remainder notation</a:t>
            </a:r>
            <a:endParaRPr lang="en-US" sz="1150" dirty="0"/>
          </a:p>
        </p:txBody>
      </p:sp>
      <p:sp>
        <p:nvSpPr>
          <p:cNvPr id="24" name="Shape 22"/>
          <p:cNvSpPr/>
          <p:nvPr/>
        </p:nvSpPr>
        <p:spPr>
          <a:xfrm>
            <a:off x="749808" y="4142232"/>
            <a:ext cx="6455664" cy="502920"/>
          </a:xfrm>
          <a:prstGeom prst="rect">
            <a:avLst/>
          </a:prstGeom>
          <a:solidFill>
            <a:srgbClr val="031A12"/>
          </a:solidFill>
          <a:ln w="12700">
            <a:solidFill>
              <a:srgbClr val="286A4B"/>
            </a:solidFill>
            <a:prstDash val="solid"/>
          </a:ln>
        </p:spPr>
      </p:sp>
      <p:sp>
        <p:nvSpPr>
          <p:cNvPr id="25" name="Text 23"/>
          <p:cNvSpPr/>
          <p:nvPr/>
        </p:nvSpPr>
        <p:spPr>
          <a:xfrm>
            <a:off x="886968" y="4270248"/>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run_rate = total_runs / legal_balls x 6</a:t>
            </a:r>
            <a:endParaRPr lang="en-US" sz="1150" dirty="0"/>
          </a:p>
        </p:txBody>
      </p:sp>
      <p:sp>
        <p:nvSpPr>
          <p:cNvPr id="26" name="Shape 24"/>
          <p:cNvSpPr/>
          <p:nvPr/>
        </p:nvSpPr>
        <p:spPr>
          <a:xfrm>
            <a:off x="7662672" y="2331720"/>
            <a:ext cx="3995928" cy="3246120"/>
          </a:xfrm>
          <a:prstGeom prst="rect">
            <a:avLst/>
          </a:prstGeom>
          <a:solidFill>
            <a:srgbClr val="103D2B"/>
          </a:solidFill>
          <a:ln w="12700">
            <a:solidFill>
              <a:srgbClr val="49E38B"/>
            </a:solidFill>
            <a:prstDash val="solid"/>
          </a:ln>
        </p:spPr>
      </p:sp>
      <p:sp>
        <p:nvSpPr>
          <p:cNvPr id="27" name="Shape 25"/>
          <p:cNvSpPr/>
          <p:nvPr/>
        </p:nvSpPr>
        <p:spPr>
          <a:xfrm>
            <a:off x="7662672" y="2331720"/>
            <a:ext cx="3995928" cy="50292"/>
          </a:xfrm>
          <a:prstGeom prst="rect">
            <a:avLst/>
          </a:prstGeom>
          <a:solidFill>
            <a:srgbClr val="49E38B"/>
          </a:solidFill>
          <a:ln w="12700">
            <a:solidFill>
              <a:srgbClr val="49E38B"/>
            </a:solidFill>
            <a:prstDash val="solid"/>
          </a:ln>
        </p:spPr>
      </p:sp>
      <p:sp>
        <p:nvSpPr>
          <p:cNvPr id="28" name="Text 26"/>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9" name="Text 27"/>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Live Match Scoreboard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match_id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path parameter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Unique match identifier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venue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venue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innings_number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 number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batting_team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 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bowling_team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 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overs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overs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run_rate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run 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Live Match Scoreboard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match_id is required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Unknown match returns HTTP 404</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Missing database returns HTTP 500</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Wickets are capped at 10</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"match": "Match 1: INDI vs BHOP",</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"venue": "Holkar Cricket Stadium",</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"innings_number": 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"batting_team": "Bhopal Blazers",</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"bowling_team": "Indore Invincibles",</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"score": "95/3",</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"overs": "10.0"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Live Match Scoreboard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1_live_scoreboard.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Live match dashboard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Broadcast overlay</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AI commentary context</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Snapshot uses stored data rather than a streaming feed</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Top-performer ranking is descriptive, not predictive</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SCORE</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95/3</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OVERS</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10.0</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RUN RATE</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9.5</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TOP BATTER</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Ritvik Sen</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2 - Innings Summary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GET /student5/innings-summary/{innings_id}</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Innings Summary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GET  /student5/innings-summary/{innings_id}</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1</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Transform one completed innings into scorecard, efficiency, and top-performer summaries.</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Ball events are too granular for post-innings analysis and must be reconciled into batter and bowler records.</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Scorecard tab</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Post-innings report</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Player performance cards</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Innings Summary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Receive innings_id</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Load saved deliveries</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Aggregate team total</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Build batter and bowler tables</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Select top performers</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strike_rate = runs / balls_faced x 100</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economy = runs_conceded / legal_balls x 6</a:t>
            </a:r>
            <a:endParaRPr lang="en-US" sz="1150" dirty="0"/>
          </a:p>
        </p:txBody>
      </p:sp>
      <p:sp>
        <p:nvSpPr>
          <p:cNvPr id="24" name="Shape 22"/>
          <p:cNvSpPr/>
          <p:nvPr/>
        </p:nvSpPr>
        <p:spPr>
          <a:xfrm>
            <a:off x="749808" y="4142232"/>
            <a:ext cx="6455664" cy="502920"/>
          </a:xfrm>
          <a:prstGeom prst="rect">
            <a:avLst/>
          </a:prstGeom>
          <a:solidFill>
            <a:srgbClr val="031A12"/>
          </a:solidFill>
          <a:ln w="12700">
            <a:solidFill>
              <a:srgbClr val="286A4B"/>
            </a:solidFill>
            <a:prstDash val="solid"/>
          </a:ln>
        </p:spPr>
      </p:sp>
      <p:sp>
        <p:nvSpPr>
          <p:cNvPr id="25" name="Text 23"/>
          <p:cNvSpPr/>
          <p:nvPr/>
        </p:nvSpPr>
        <p:spPr>
          <a:xfrm>
            <a:off x="886968" y="4270248"/>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innings_run_rate = total_runs / legal_balls x 6</a:t>
            </a:r>
            <a:endParaRPr lang="en-US" sz="1150" dirty="0"/>
          </a:p>
        </p:txBody>
      </p:sp>
      <p:sp>
        <p:nvSpPr>
          <p:cNvPr id="26" name="Shape 24"/>
          <p:cNvSpPr/>
          <p:nvPr/>
        </p:nvSpPr>
        <p:spPr>
          <a:xfrm>
            <a:off x="7662672" y="2331720"/>
            <a:ext cx="3995928" cy="3246120"/>
          </a:xfrm>
          <a:prstGeom prst="rect">
            <a:avLst/>
          </a:prstGeom>
          <a:solidFill>
            <a:srgbClr val="103D2B"/>
          </a:solidFill>
          <a:ln w="12700">
            <a:solidFill>
              <a:srgbClr val="49E38B"/>
            </a:solidFill>
            <a:prstDash val="solid"/>
          </a:ln>
        </p:spPr>
      </p:sp>
      <p:sp>
        <p:nvSpPr>
          <p:cNvPr id="27" name="Shape 25"/>
          <p:cNvSpPr/>
          <p:nvPr/>
        </p:nvSpPr>
        <p:spPr>
          <a:xfrm>
            <a:off x="7662672" y="2331720"/>
            <a:ext cx="3995928" cy="50292"/>
          </a:xfrm>
          <a:prstGeom prst="rect">
            <a:avLst/>
          </a:prstGeom>
          <a:solidFill>
            <a:srgbClr val="49E38B"/>
          </a:solidFill>
          <a:ln w="12700">
            <a:solidFill>
              <a:srgbClr val="49E38B"/>
            </a:solidFill>
            <a:prstDash val="solid"/>
          </a:ln>
        </p:spPr>
      </p:sp>
      <p:sp>
        <p:nvSpPr>
          <p:cNvPr id="28" name="Text 26"/>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9" name="Text 27"/>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Innings Summary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innings_id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path parameter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Unique innings identifier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innings_id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Unique innings identifier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total_runs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total runs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wickets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wickets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legal_balls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legal balls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overs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overs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run_rate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run 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batters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batters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bowlers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bowlers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Innings Summary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innings_id must be positive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Unknown innings returns HTTP 404</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Safe division handles zero balls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Only legal balls count toward overs</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"innings_id":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"innings_id": 1,</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"total_runs": 206,</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"wickets": 3,</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"legal_balls": 120,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"overs": "20.0",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"run_rate": 10.3,</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"batters":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"name":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"balls":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"fours":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"sixes":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Innings Summary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2_innings_summary.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Scorecard tab</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Post-innings report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Player performance cards</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Depends on complete saved ball-event history</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Fielding analysis is outside this endpoint</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SCORE</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206/3</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OVERS</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20.0</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RUN RATE</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10.3</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TOP BATTER</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Aarav Sharma</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3 - Current Match State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/student5/match-state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Current Match State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/student5/match-state</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1</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Explain the current chase using target, score, time, wickets, and scoring pressure.</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A score alone does not explain whether the chase is ahead, behind, or under resource pressure.</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Chase progress card</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Live commentary</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Match-state agent tool</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Current Match State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Validate match and innings context</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Aggregate current score</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Count legal balls and wickets</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Calculate chase resources</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Create cricket-language status</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runs_needed = max(target - score, 0)</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balls_remaining = total_balls - legal_balls</a:t>
            </a:r>
            <a:endParaRPr lang="en-US" sz="1150" dirty="0"/>
          </a:p>
        </p:txBody>
      </p:sp>
      <p:sp>
        <p:nvSpPr>
          <p:cNvPr id="24" name="Shape 22"/>
          <p:cNvSpPr/>
          <p:nvPr/>
        </p:nvSpPr>
        <p:spPr>
          <a:xfrm>
            <a:off x="749808" y="4142232"/>
            <a:ext cx="6455664" cy="502920"/>
          </a:xfrm>
          <a:prstGeom prst="rect">
            <a:avLst/>
          </a:prstGeom>
          <a:solidFill>
            <a:srgbClr val="031A12"/>
          </a:solidFill>
          <a:ln w="12700">
            <a:solidFill>
              <a:srgbClr val="286A4B"/>
            </a:solidFill>
            <a:prstDash val="solid"/>
          </a:ln>
        </p:spPr>
      </p:sp>
      <p:sp>
        <p:nvSpPr>
          <p:cNvPr id="25" name="Text 23"/>
          <p:cNvSpPr/>
          <p:nvPr/>
        </p:nvSpPr>
        <p:spPr>
          <a:xfrm>
            <a:off x="886968" y="4270248"/>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wickets_remaining = 10 - wickets</a:t>
            </a:r>
            <a:endParaRPr lang="en-US" sz="1150" dirty="0"/>
          </a:p>
        </p:txBody>
      </p:sp>
      <p:sp>
        <p:nvSpPr>
          <p:cNvPr id="26" name="Shape 24"/>
          <p:cNvSpPr/>
          <p:nvPr/>
        </p:nvSpPr>
        <p:spPr>
          <a:xfrm>
            <a:off x="749808" y="4818888"/>
            <a:ext cx="6455664" cy="502920"/>
          </a:xfrm>
          <a:prstGeom prst="rect">
            <a:avLst/>
          </a:prstGeom>
          <a:solidFill>
            <a:srgbClr val="031A12"/>
          </a:solidFill>
          <a:ln w="12700">
            <a:solidFill>
              <a:srgbClr val="286A4B"/>
            </a:solidFill>
            <a:prstDash val="solid"/>
          </a:ln>
        </p:spPr>
      </p:sp>
      <p:sp>
        <p:nvSpPr>
          <p:cNvPr id="27" name="Text 25"/>
          <p:cNvSpPr/>
          <p:nvPr/>
        </p:nvSpPr>
        <p:spPr>
          <a:xfrm>
            <a:off x="886968" y="4946904"/>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CRR and RRR use six-ball rates</a:t>
            </a:r>
            <a:endParaRPr lang="en-US" sz="1150" dirty="0"/>
          </a:p>
        </p:txBody>
      </p:sp>
      <p:sp>
        <p:nvSpPr>
          <p:cNvPr id="28" name="Shape 26"/>
          <p:cNvSpPr/>
          <p:nvPr/>
        </p:nvSpPr>
        <p:spPr>
          <a:xfrm>
            <a:off x="7662672" y="2331720"/>
            <a:ext cx="3995928" cy="3246120"/>
          </a:xfrm>
          <a:prstGeom prst="rect">
            <a:avLst/>
          </a:prstGeom>
          <a:solidFill>
            <a:srgbClr val="103D2B"/>
          </a:solidFill>
          <a:ln w="12700">
            <a:solidFill>
              <a:srgbClr val="49E38B"/>
            </a:solidFill>
            <a:prstDash val="solid"/>
          </a:ln>
        </p:spPr>
      </p:sp>
      <p:sp>
        <p:nvSpPr>
          <p:cNvPr id="29" name="Shape 27"/>
          <p:cNvSpPr/>
          <p:nvPr/>
        </p:nvSpPr>
        <p:spPr>
          <a:xfrm>
            <a:off x="7662672" y="2331720"/>
            <a:ext cx="3995928" cy="50292"/>
          </a:xfrm>
          <a:prstGeom prst="rect">
            <a:avLst/>
          </a:prstGeom>
          <a:solidFill>
            <a:srgbClr val="49E38B"/>
          </a:solidFill>
          <a:ln w="12700">
            <a:solidFill>
              <a:srgbClr val="49E38B"/>
            </a:solidFill>
            <a:prstDash val="solid"/>
          </a:ln>
        </p:spPr>
      </p:sp>
      <p:sp>
        <p:nvSpPr>
          <p:cNvPr id="30" name="Text 28"/>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31" name="Text 29"/>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Current Match State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khel_showcase_match_state_schemas.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khel_showcase_match_state_schemas.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balls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list[khel_showcase_match_state_sch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Ordered delivery-event list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innings_number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 number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overs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overs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wickets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wickets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batting_team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 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bowling_team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 team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target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target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Current Match State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Non-negative runs and extras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Positive target and overs limit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Ball number &gt;= 1</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Empty ball list returns a valid initial state</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"title": "Match 1: INDI vs BHOP",</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"total_overs": 20,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 207</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"innings":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"innings_number": 2,</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"batting_team": "Bhopal Blazers",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"bowling_team": "Indore Invincibles",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"total_overs_limit": 20,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 207</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"over_number":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"ball_number":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"runs_off_bat":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"extras":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"is_legal_delivery":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"match": "Match 1: INDI vs BHOP",</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"innings_number": 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"score": "95/3",</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"overs": "10.0",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"wickets": 3,</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"batting_team": "Bhopal Blazers",</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"bowling_team": "Indore Invincibles"</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Current Match State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3_current_match_state.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Chase progress card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Live commentary</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Match-state agent tool</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No weather or DLS adjustment</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Assumes standard ten-wicket innings</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SCORE</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95/3</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RUNS NEEDED</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112</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BALLS LEFT</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60</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RRR</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11.2</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4 - Required Run Rate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/student5/required-run-rate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Required Run Rate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/student5/required-run-rate</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1</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Return the exact scoring pace required to complete a chase.</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Clients often calculate RRR inconsistently, especially when wides and no-balls are present.</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Live pressure panel</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Commentary sentence</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Mobile scorecard</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Required Run Rate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Read target and delivery history</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Aggregate score</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Count legal balls only</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Calculate remaining requirement</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Return substituted equation</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RRR = runs_needed / balls_remaining x 6</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runs_needed = max(target - current_score, 0)</a:t>
            </a:r>
            <a:endParaRPr lang="en-US" sz="1150" dirty="0"/>
          </a:p>
        </p:txBody>
      </p:sp>
      <p:sp>
        <p:nvSpPr>
          <p:cNvPr id="24" name="Shape 22"/>
          <p:cNvSpPr/>
          <p:nvPr/>
        </p:nvSpPr>
        <p:spPr>
          <a:xfrm>
            <a:off x="7662672" y="2331720"/>
            <a:ext cx="3995928" cy="3246120"/>
          </a:xfrm>
          <a:prstGeom prst="rect">
            <a:avLst/>
          </a:prstGeom>
          <a:solidFill>
            <a:srgbClr val="103D2B"/>
          </a:solidFill>
          <a:ln w="12700">
            <a:solidFill>
              <a:srgbClr val="49E38B"/>
            </a:solidFill>
            <a:prstDash val="solid"/>
          </a:ln>
        </p:spPr>
      </p:sp>
      <p:sp>
        <p:nvSpPr>
          <p:cNvPr id="25" name="Shape 23"/>
          <p:cNvSpPr/>
          <p:nvPr/>
        </p:nvSpPr>
        <p:spPr>
          <a:xfrm>
            <a:off x="7662672" y="2331720"/>
            <a:ext cx="3995928" cy="50292"/>
          </a:xfrm>
          <a:prstGeom prst="rect">
            <a:avLst/>
          </a:prstGeom>
          <a:solidFill>
            <a:srgbClr val="49E38B"/>
          </a:solidFill>
          <a:ln w="12700">
            <a:solidFill>
              <a:srgbClr val="49E38B"/>
            </a:solidFill>
            <a:prstDash val="solid"/>
          </a:ln>
        </p:spPr>
      </p:sp>
      <p:sp>
        <p:nvSpPr>
          <p:cNvPr id="26" name="Text 24"/>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7" name="Text 25"/>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Required Run Rate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khel_showcase_required_rate_schema</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khel_showcase_required_rate_schema</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balls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list[khel_showcase_required_rate_s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Ordered delivery-event list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target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target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current_score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current 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runs_needed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runs needed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balls_remaining</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balls remaining</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required_run_rate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 run 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equation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equation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message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message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Required Run Rate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Target must be positive when present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Overs limit must be positive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Illegal deliveries do not consume a ball</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 target returns an explicit non-chase response</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"title": "Match 1: INDI vs BHOP",</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"total_overs": 20,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 207</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"innings":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"innings_number": 2,</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"batting_team": "Bhopal Blazers",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"bowling_team": "Indore Invincibles",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"total_overs_limit": 20,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 207</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"over_number":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"ball_number":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"runs_off_bat":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"extras":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"is_legal_delivery":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"target": 207,</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"current_score": "95/3",</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"runs_needed": 112,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"balls_remaining": 60,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"required_run_rate": 11.2,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"equation": "Required run rate = (112 runs needed / 60 balls remaining) x 6 = 11.2",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"message": "Chasing side needs 112 runs from 60 balls at 11.2 runs per over."</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Required Run Rate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4_required_run_rate.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Live pressure panel</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Commentary sentence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Mobile scorecard</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No DLS/par-score support</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Does not itself classify win chance</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TARGET</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207</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SCORE</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95/3</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RUNS NEEDED</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112</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RRR</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11.2</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5 - Win Probability Label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/student5/match-outlook</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Win Probability Label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/student5/match-outlook</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1</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Classify the chase as High, Medium, or Low Chance using transparent cricket rules.</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Users need an interpretable match outlook, but an uncalibrated numeric probability would be misleading.</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Live outlook badge</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Explainable AI commentary</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Match dashboard alert</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Win Probability Label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Calculate match state</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Compare RRR with CRR</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Inspect wickets and balls</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Apply declared thresholds</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Return label and reason</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High: RRR &lt;= CRR + 1.5 and wickets &gt;= 4</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Low: RRR &gt; CRR + 4 or critical wickets/resources</a:t>
            </a:r>
            <a:endParaRPr lang="en-US" sz="1150" dirty="0"/>
          </a:p>
        </p:txBody>
      </p:sp>
      <p:sp>
        <p:nvSpPr>
          <p:cNvPr id="24" name="Shape 22"/>
          <p:cNvSpPr/>
          <p:nvPr/>
        </p:nvSpPr>
        <p:spPr>
          <a:xfrm>
            <a:off x="749808" y="4142232"/>
            <a:ext cx="6455664" cy="502920"/>
          </a:xfrm>
          <a:prstGeom prst="rect">
            <a:avLst/>
          </a:prstGeom>
          <a:solidFill>
            <a:srgbClr val="031A12"/>
          </a:solidFill>
          <a:ln w="12700">
            <a:solidFill>
              <a:srgbClr val="286A4B"/>
            </a:solidFill>
            <a:prstDash val="solid"/>
          </a:ln>
        </p:spPr>
      </p:sp>
      <p:sp>
        <p:nvSpPr>
          <p:cNvPr id="25" name="Text 23"/>
          <p:cNvSpPr/>
          <p:nvPr/>
        </p:nvSpPr>
        <p:spPr>
          <a:xfrm>
            <a:off x="886968" y="4270248"/>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Otherwise: Medium</a:t>
            </a:r>
            <a:endParaRPr lang="en-US" sz="1150" dirty="0"/>
          </a:p>
        </p:txBody>
      </p:sp>
      <p:sp>
        <p:nvSpPr>
          <p:cNvPr id="26" name="Shape 24"/>
          <p:cNvSpPr/>
          <p:nvPr/>
        </p:nvSpPr>
        <p:spPr>
          <a:xfrm>
            <a:off x="7662672" y="2331720"/>
            <a:ext cx="3995928" cy="3246120"/>
          </a:xfrm>
          <a:prstGeom prst="rect">
            <a:avLst/>
          </a:prstGeom>
          <a:solidFill>
            <a:srgbClr val="103D2B"/>
          </a:solidFill>
          <a:ln w="12700">
            <a:solidFill>
              <a:srgbClr val="49E38B"/>
            </a:solidFill>
            <a:prstDash val="solid"/>
          </a:ln>
        </p:spPr>
      </p:sp>
      <p:sp>
        <p:nvSpPr>
          <p:cNvPr id="27" name="Shape 25"/>
          <p:cNvSpPr/>
          <p:nvPr/>
        </p:nvSpPr>
        <p:spPr>
          <a:xfrm>
            <a:off x="7662672" y="2331720"/>
            <a:ext cx="3995928" cy="50292"/>
          </a:xfrm>
          <a:prstGeom prst="rect">
            <a:avLst/>
          </a:prstGeom>
          <a:solidFill>
            <a:srgbClr val="49E38B"/>
          </a:solidFill>
          <a:ln w="12700">
            <a:solidFill>
              <a:srgbClr val="49E38B"/>
            </a:solidFill>
            <a:prstDash val="solid"/>
          </a:ln>
        </p:spPr>
      </p:sp>
      <p:sp>
        <p:nvSpPr>
          <p:cNvPr id="28" name="Text 26"/>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9" name="Text 27"/>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Win Probability Label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khel_showcase_outlook_schemas.Matc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match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khel_showcase_outlook_schemas.Inni</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innings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balls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list[khel_showcase_outlook_schemas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Ordered delivery-event list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runs_needed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runs needed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balls_remaining</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balls remaining</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required_run_rate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 run 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prediction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prediction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wickets_in_hand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wickets in hand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overs_left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overs left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current_run_rate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current run rate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heuristic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heuristic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Win Probability Label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Uses validated match-state payload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Target reached returns High Chance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 target returns context-safe output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Reason and heuristic accompany every label</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"title": "Match 1: INDI vs BHOP",</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"total_overs": 20,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 207</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"innings":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"innings_number": 2,</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"batting_team": "Bhopal Blazers",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"bowling_team": "Indore Invincibles",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"total_overs_limit": 20,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 207</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"over_number":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"ball_number":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"runs_off_bat":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"extras":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"is_legal_delivery":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"runs_needed": 112,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"balls_remaining": 60,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"required_run_rate": 11.2,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"prediction": "Medium Chance",</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"wickets_in_hand": 7,</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"overs_left": "10.0",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"current_run_rate": 9.5</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Win Probability Label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5_win_probability.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Live outlook badge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Explainable AI commentary</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Match dashboard alert</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Heuristic, not trained probability</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Thresholds need calibration on real match data</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OUTLOOK</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Medium Chance</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RRR</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11.2</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CRR</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9.5</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WICKETS</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7</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Sprint 1 - Integration and Lessons</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raw deliveries to live match understanding</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SUMMARY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234440"/>
            <a:ext cx="5394960" cy="4526280"/>
          </a:xfrm>
          <a:prstGeom prst="rect">
            <a:avLst/>
          </a:prstGeom>
          <a:solidFill>
            <a:srgbClr val="103D2B"/>
          </a:solidFill>
          <a:ln w="12700">
            <a:solidFill>
              <a:srgbClr val="49E38B"/>
            </a:solidFill>
            <a:prstDash val="solid"/>
          </a:ln>
        </p:spPr>
      </p:sp>
      <p:sp>
        <p:nvSpPr>
          <p:cNvPr id="8" name="Shape 6"/>
          <p:cNvSpPr/>
          <p:nvPr/>
        </p:nvSpPr>
        <p:spPr>
          <a:xfrm>
            <a:off x="502920" y="1234440"/>
            <a:ext cx="5394960" cy="50292"/>
          </a:xfrm>
          <a:prstGeom prst="rect">
            <a:avLst/>
          </a:prstGeom>
          <a:solidFill>
            <a:srgbClr val="49E38B"/>
          </a:solidFill>
          <a:ln w="12700">
            <a:solidFill>
              <a:srgbClr val="49E38B"/>
            </a:solidFill>
            <a:prstDash val="solid"/>
          </a:ln>
        </p:spPr>
      </p:sp>
      <p:sp>
        <p:nvSpPr>
          <p:cNvPr id="9" name="Text 7"/>
          <p:cNvSpPr/>
          <p:nvPr/>
        </p:nvSpPr>
        <p:spPr>
          <a:xfrm>
            <a:off x="685800" y="1389888"/>
            <a:ext cx="50292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MODULES</a:t>
            </a:r>
            <a:endParaRPr lang="en-US" sz="1000" dirty="0"/>
          </a:p>
        </p:txBody>
      </p:sp>
      <p:sp>
        <p:nvSpPr>
          <p:cNvPr id="10" name="Text 8"/>
          <p:cNvSpPr/>
          <p:nvPr/>
        </p:nvSpPr>
        <p:spPr>
          <a:xfrm>
            <a:off x="749808" y="1664208"/>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01</a:t>
            </a:r>
            <a:endParaRPr lang="en-US" sz="1300" dirty="0"/>
          </a:p>
        </p:txBody>
      </p:sp>
      <p:sp>
        <p:nvSpPr>
          <p:cNvPr id="11" name="Text 9"/>
          <p:cNvSpPr/>
          <p:nvPr/>
        </p:nvSpPr>
        <p:spPr>
          <a:xfrm>
            <a:off x="1234440" y="1664208"/>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Live Match Scoreboard API</a:t>
            </a:r>
            <a:endParaRPr lang="en-US" sz="1300" dirty="0"/>
          </a:p>
        </p:txBody>
      </p:sp>
      <p:sp>
        <p:nvSpPr>
          <p:cNvPr id="12" name="Text 10"/>
          <p:cNvSpPr/>
          <p:nvPr/>
        </p:nvSpPr>
        <p:spPr>
          <a:xfrm>
            <a:off x="749808" y="2322576"/>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234440" y="2322576"/>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Innings Summary API</a:t>
            </a:r>
            <a:endParaRPr lang="en-US" sz="1300" dirty="0"/>
          </a:p>
        </p:txBody>
      </p:sp>
      <p:sp>
        <p:nvSpPr>
          <p:cNvPr id="14" name="Text 12"/>
          <p:cNvSpPr/>
          <p:nvPr/>
        </p:nvSpPr>
        <p:spPr>
          <a:xfrm>
            <a:off x="749808" y="2980944"/>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03</a:t>
            </a:r>
            <a:endParaRPr lang="en-US" sz="1300" dirty="0"/>
          </a:p>
        </p:txBody>
      </p:sp>
      <p:sp>
        <p:nvSpPr>
          <p:cNvPr id="15" name="Text 13"/>
          <p:cNvSpPr/>
          <p:nvPr/>
        </p:nvSpPr>
        <p:spPr>
          <a:xfrm>
            <a:off x="1234440" y="2980944"/>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Current Match State API</a:t>
            </a:r>
            <a:endParaRPr lang="en-US" sz="1300" dirty="0"/>
          </a:p>
        </p:txBody>
      </p:sp>
      <p:sp>
        <p:nvSpPr>
          <p:cNvPr id="16" name="Text 14"/>
          <p:cNvSpPr/>
          <p:nvPr/>
        </p:nvSpPr>
        <p:spPr>
          <a:xfrm>
            <a:off x="749808" y="3639312"/>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04</a:t>
            </a:r>
            <a:endParaRPr lang="en-US" sz="1300" dirty="0"/>
          </a:p>
        </p:txBody>
      </p:sp>
      <p:sp>
        <p:nvSpPr>
          <p:cNvPr id="17" name="Text 15"/>
          <p:cNvSpPr/>
          <p:nvPr/>
        </p:nvSpPr>
        <p:spPr>
          <a:xfrm>
            <a:off x="1234440" y="3639312"/>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Required Run Rate API</a:t>
            </a:r>
            <a:endParaRPr lang="en-US" sz="1300" dirty="0"/>
          </a:p>
        </p:txBody>
      </p:sp>
      <p:sp>
        <p:nvSpPr>
          <p:cNvPr id="18" name="Text 16"/>
          <p:cNvSpPr/>
          <p:nvPr/>
        </p:nvSpPr>
        <p:spPr>
          <a:xfrm>
            <a:off x="749808" y="4297680"/>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05</a:t>
            </a:r>
            <a:endParaRPr lang="en-US" sz="1300" dirty="0"/>
          </a:p>
        </p:txBody>
      </p:sp>
      <p:sp>
        <p:nvSpPr>
          <p:cNvPr id="19" name="Text 17"/>
          <p:cNvSpPr/>
          <p:nvPr/>
        </p:nvSpPr>
        <p:spPr>
          <a:xfrm>
            <a:off x="1234440" y="4297680"/>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Win Probability Label API</a:t>
            </a:r>
            <a:endParaRPr lang="en-US" sz="1300" dirty="0"/>
          </a:p>
        </p:txBody>
      </p:sp>
      <p:sp>
        <p:nvSpPr>
          <p:cNvPr id="20" name="Shape 18"/>
          <p:cNvSpPr/>
          <p:nvPr/>
        </p:nvSpPr>
        <p:spPr>
          <a:xfrm>
            <a:off x="6126480" y="1234440"/>
            <a:ext cx="5532120" cy="4526280"/>
          </a:xfrm>
          <a:prstGeom prst="rect">
            <a:avLst/>
          </a:prstGeom>
          <a:solidFill>
            <a:srgbClr val="103D2B"/>
          </a:solidFill>
          <a:ln w="12700">
            <a:solidFill>
              <a:srgbClr val="E3B82F"/>
            </a:solidFill>
            <a:prstDash val="solid"/>
          </a:ln>
        </p:spPr>
      </p:sp>
      <p:sp>
        <p:nvSpPr>
          <p:cNvPr id="21" name="Shape 19"/>
          <p:cNvSpPr/>
          <p:nvPr/>
        </p:nvSpPr>
        <p:spPr>
          <a:xfrm>
            <a:off x="6126480" y="1234440"/>
            <a:ext cx="5532120" cy="50292"/>
          </a:xfrm>
          <a:prstGeom prst="rect">
            <a:avLst/>
          </a:prstGeom>
          <a:solidFill>
            <a:srgbClr val="E3B82F"/>
          </a:solidFill>
          <a:ln w="12700">
            <a:solidFill>
              <a:srgbClr val="E3B82F"/>
            </a:solidFill>
            <a:prstDash val="solid"/>
          </a:ln>
        </p:spPr>
      </p:sp>
      <p:sp>
        <p:nvSpPr>
          <p:cNvPr id="22" name="Text 20"/>
          <p:cNvSpPr/>
          <p:nvPr/>
        </p:nvSpPr>
        <p:spPr>
          <a:xfrm>
            <a:off x="6309360" y="1389888"/>
            <a:ext cx="5166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WHAT THE SPRINT ADDS TO KHEL AI</a:t>
            </a:r>
            <a:endParaRPr lang="en-US" sz="1000" dirty="0"/>
          </a:p>
        </p:txBody>
      </p:sp>
      <p:sp>
        <p:nvSpPr>
          <p:cNvPr id="23" name="Text 21"/>
          <p:cNvSpPr/>
          <p:nvPr/>
        </p:nvSpPr>
        <p:spPr>
          <a:xfrm>
            <a:off x="6382512" y="1719072"/>
            <a:ext cx="5029200" cy="356616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One legal-ball calculation standard across endpoints</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Frontend-ready score, innings, chase, and outlook responses</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Transparent formulas and rule-based explanations</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Reusable context for dashboards and AI agents</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6858000" y="-1097280"/>
            <a:ext cx="6583680" cy="6583680"/>
          </a:xfrm>
          <a:prstGeom prst="ellipse">
            <a:avLst/>
          </a:prstGeom>
          <a:solidFill>
            <a:srgbClr val="E3B82F">
              <a:alpha val="15000"/>
            </a:srgbClr>
          </a:solidFill>
          <a:ln w="12700">
            <a:solidFill>
              <a:srgbClr val="333333">
                <a:alpha val="0"/>
              </a:srgbClr>
            </a:solidFill>
            <a:prstDash val="solid"/>
          </a:ln>
        </p:spPr>
      </p:sp>
      <p:sp>
        <p:nvSpPr>
          <p:cNvPr id="3" name="Text 1"/>
          <p:cNvSpPr/>
          <p:nvPr/>
        </p:nvSpPr>
        <p:spPr>
          <a:xfrm>
            <a:off x="640080" y="685800"/>
            <a:ext cx="2743200" cy="365760"/>
          </a:xfrm>
          <a:prstGeom prst="rect">
            <a:avLst/>
          </a:prstGeom>
          <a:noFill/>
          <a:ln/>
        </p:spPr>
        <p:txBody>
          <a:bodyPr wrap="square" lIns="508" tIns="508" rIns="508" bIns="508" rtlCol="0" anchor="t">
            <a:normAutofit/>
          </a:bodyPr>
          <a:lstStyle/>
          <a:p>
            <a:pPr algn="l" indent="0" marL="0">
              <a:buNone/>
            </a:pPr>
            <a:r>
              <a:rPr lang="en-US" sz="1400" b="1" spc="250" kern="0" dirty="0">
                <a:solidFill>
                  <a:srgbClr val="E3B82F"/>
                </a:solidFill>
                <a:latin typeface="Aptos" pitchFamily="34" charset="0"/>
                <a:ea typeface="Aptos" pitchFamily="34" charset="-122"/>
                <a:cs typeface="Aptos" pitchFamily="34" charset="-120"/>
              </a:rPr>
              <a:t>SPRINT 2</a:t>
            </a:r>
            <a:endParaRPr lang="en-US" sz="1400" dirty="0"/>
          </a:p>
        </p:txBody>
      </p:sp>
      <p:sp>
        <p:nvSpPr>
          <p:cNvPr id="4" name="Text 2"/>
          <p:cNvSpPr/>
          <p:nvPr/>
        </p:nvSpPr>
        <p:spPr>
          <a:xfrm>
            <a:off x="640080" y="1417320"/>
            <a:ext cx="9875520" cy="914400"/>
          </a:xfrm>
          <a:prstGeom prst="rect">
            <a:avLst/>
          </a:prstGeom>
          <a:noFill/>
          <a:ln/>
        </p:spPr>
        <p:txBody>
          <a:bodyPr wrap="square" lIns="508" tIns="508" rIns="508" bIns="508" rtlCol="0" anchor="t">
            <a:normAutofit/>
          </a:bodyPr>
          <a:lstStyle/>
          <a:p>
            <a:pPr algn="l" indent="0" marL="0">
              <a:buNone/>
            </a:pPr>
            <a:r>
              <a:rPr lang="en-US" sz="4000" b="1" dirty="0">
                <a:solidFill>
                  <a:srgbClr val="F5F7F6"/>
                </a:solidFill>
                <a:latin typeface="Aptos" pitchFamily="34" charset="0"/>
                <a:ea typeface="Aptos" pitchFamily="34" charset="-122"/>
                <a:cs typeface="Aptos" pitchFamily="34" charset="-120"/>
              </a:rPr>
              <a:t>Player Performance Analytics</a:t>
            </a:r>
            <a:endParaRPr lang="en-US" sz="4000" dirty="0"/>
          </a:p>
        </p:txBody>
      </p:sp>
      <p:sp>
        <p:nvSpPr>
          <p:cNvPr id="5" name="Text 3"/>
          <p:cNvSpPr/>
          <p:nvPr/>
        </p:nvSpPr>
        <p:spPr>
          <a:xfrm>
            <a:off x="658368" y="2606040"/>
            <a:ext cx="7955280" cy="594360"/>
          </a:xfrm>
          <a:prstGeom prst="rect">
            <a:avLst/>
          </a:prstGeom>
          <a:noFill/>
          <a:ln/>
        </p:spPr>
        <p:txBody>
          <a:bodyPr wrap="square" lIns="508" tIns="508" rIns="508" bIns="508" rtlCol="0" anchor="t">
            <a:normAutofit/>
          </a:bodyPr>
          <a:lstStyle/>
          <a:p>
            <a:pPr algn="l" indent="0" marL="0">
              <a:buNone/>
            </a:pPr>
            <a:r>
              <a:rPr lang="en-US" sz="1800" dirty="0">
                <a:solidFill>
                  <a:srgbClr val="A7C1B4"/>
                </a:solidFill>
                <a:latin typeface="Aptos" pitchFamily="34" charset="0"/>
                <a:ea typeface="Aptos" pitchFamily="34" charset="-122"/>
                <a:cs typeface="Aptos" pitchFamily="34" charset="-120"/>
              </a:rPr>
              <a:t>Four APIs explain form direction and opponent-specific matchup effects.</a:t>
            </a:r>
            <a:endParaRPr lang="en-US" sz="1800" dirty="0"/>
          </a:p>
        </p:txBody>
      </p:sp>
      <p:sp>
        <p:nvSpPr>
          <p:cNvPr id="6" name="Shape 4"/>
          <p:cNvSpPr/>
          <p:nvPr/>
        </p:nvSpPr>
        <p:spPr>
          <a:xfrm>
            <a:off x="658368" y="3657600"/>
            <a:ext cx="4754880" cy="0"/>
          </a:xfrm>
          <a:prstGeom prst="line">
            <a:avLst/>
          </a:prstGeom>
          <a:noFill/>
          <a:ln w="38100">
            <a:solidFill>
              <a:srgbClr val="E3B82F"/>
            </a:solidFill>
            <a:prstDash val="solid"/>
          </a:ln>
        </p:spPr>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6 - Form Trend Derived Variables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/student5/form-trend</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Form Trend Derived Variables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/student5/form-trend</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2</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Measure player form direction, volatility, linear fit, and confidence from recent performances.</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A recent average cannot reveal whether performance is improving, declining, or unstable.</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Player form chart</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Trend filter</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Upstream fantasy feature</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Derived Variables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Sort performances chronologically</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Derive or accept performance score</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Fit OLS regression</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Measure volatility and R-squared</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Classify normalized slope</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performance = runs + 0.10 x strike_rate - dismissal_penalty</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slope = covariance(x,y) / variance(x)</a:t>
            </a:r>
            <a:endParaRPr lang="en-US" sz="1150" dirty="0"/>
          </a:p>
        </p:txBody>
      </p:sp>
      <p:sp>
        <p:nvSpPr>
          <p:cNvPr id="24" name="Shape 22"/>
          <p:cNvSpPr/>
          <p:nvPr/>
        </p:nvSpPr>
        <p:spPr>
          <a:xfrm>
            <a:off x="749808" y="4142232"/>
            <a:ext cx="6455664" cy="502920"/>
          </a:xfrm>
          <a:prstGeom prst="rect">
            <a:avLst/>
          </a:prstGeom>
          <a:solidFill>
            <a:srgbClr val="031A12"/>
          </a:solidFill>
          <a:ln w="12700">
            <a:solidFill>
              <a:srgbClr val="286A4B"/>
            </a:solidFill>
            <a:prstDash val="solid"/>
          </a:ln>
        </p:spPr>
      </p:sp>
      <p:sp>
        <p:nvSpPr>
          <p:cNvPr id="25" name="Text 23"/>
          <p:cNvSpPr/>
          <p:nvPr/>
        </p:nvSpPr>
        <p:spPr>
          <a:xfrm>
            <a:off x="886968" y="4270248"/>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normalized_trend = slope / average</a:t>
            </a:r>
            <a:endParaRPr lang="en-US" sz="1150" dirty="0"/>
          </a:p>
        </p:txBody>
      </p:sp>
      <p:sp>
        <p:nvSpPr>
          <p:cNvPr id="26" name="Shape 24"/>
          <p:cNvSpPr/>
          <p:nvPr/>
        </p:nvSpPr>
        <p:spPr>
          <a:xfrm>
            <a:off x="749808" y="4818888"/>
            <a:ext cx="6455664" cy="502920"/>
          </a:xfrm>
          <a:prstGeom prst="rect">
            <a:avLst/>
          </a:prstGeom>
          <a:solidFill>
            <a:srgbClr val="031A12"/>
          </a:solidFill>
          <a:ln w="12700">
            <a:solidFill>
              <a:srgbClr val="286A4B"/>
            </a:solidFill>
            <a:prstDash val="solid"/>
          </a:ln>
        </p:spPr>
      </p:sp>
      <p:sp>
        <p:nvSpPr>
          <p:cNvPr id="27" name="Text 25"/>
          <p:cNvSpPr/>
          <p:nvPr/>
        </p:nvSpPr>
        <p:spPr>
          <a:xfrm>
            <a:off x="886968" y="4946904"/>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confidence = R2 x noise adjustment</a:t>
            </a:r>
            <a:endParaRPr lang="en-US" sz="1150" dirty="0"/>
          </a:p>
        </p:txBody>
      </p:sp>
      <p:sp>
        <p:nvSpPr>
          <p:cNvPr id="28" name="Shape 26"/>
          <p:cNvSpPr/>
          <p:nvPr/>
        </p:nvSpPr>
        <p:spPr>
          <a:xfrm>
            <a:off x="7662672" y="2331720"/>
            <a:ext cx="3995928" cy="3246120"/>
          </a:xfrm>
          <a:prstGeom prst="rect">
            <a:avLst/>
          </a:prstGeom>
          <a:solidFill>
            <a:srgbClr val="103D2B"/>
          </a:solidFill>
          <a:ln w="12700">
            <a:solidFill>
              <a:srgbClr val="49E38B"/>
            </a:solidFill>
            <a:prstDash val="solid"/>
          </a:ln>
        </p:spPr>
      </p:sp>
      <p:sp>
        <p:nvSpPr>
          <p:cNvPr id="29" name="Shape 27"/>
          <p:cNvSpPr/>
          <p:nvPr/>
        </p:nvSpPr>
        <p:spPr>
          <a:xfrm>
            <a:off x="7662672" y="2331720"/>
            <a:ext cx="3995928" cy="50292"/>
          </a:xfrm>
          <a:prstGeom prst="rect">
            <a:avLst/>
          </a:prstGeom>
          <a:solidFill>
            <a:srgbClr val="49E38B"/>
          </a:solidFill>
          <a:ln w="12700">
            <a:solidFill>
              <a:srgbClr val="49E38B"/>
            </a:solidFill>
            <a:prstDash val="solid"/>
          </a:ln>
        </p:spPr>
      </p:sp>
      <p:sp>
        <p:nvSpPr>
          <p:cNvPr id="30" name="Text 28"/>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31" name="Text 29"/>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Derived Variables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khel_showcase_form_variables_schem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 identity and role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recent_performances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list[khel_showcase_form_variables_</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Chronological recent performance records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stable_slope_threshold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Rising/Stable/Declining threshold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recent_match_sequence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 match sequence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regression_slope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regression slope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recent_average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 average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volatility</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volatility</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trend_confidence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trend confidence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Derived Variables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At least three performances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Unique positive sequence numbers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Non-negative runs and scores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Positive stable-slope threshold</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"Aarav Sharma",</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"role": "batter"</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"recent_performances":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"sequence_number":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"runs_scored":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"balls_faced":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"was_out":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"stable_slope_threshold": 0.15</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"metric": "form_trend",</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"label": "Declining",</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"explanation": "Recent form is dropping because the regression slope is negative (-16.629) and meaningfully below the stable threshold.",</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"recent_match_sequence":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108,</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"regression_slope": -16.629,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"recent_average": 50.67,</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"volatility": 36.22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Derived Variables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6_form_trend_variables.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Player form chart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Trend filter</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Upstream fantasy feature</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Linear trend misses nonlinear form</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Six-match sample is small</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LABEL</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Declining</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SLOPE</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-16.629</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AVERAGE</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50.67</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CONFIDENCE</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0.358</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7 - Form Trend Final Output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/student5/form-trend-final</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Form Trend Final Output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/student5/form-trend-final</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2</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Convert form statistics into a 0-100 score, label, confidence, and explanation.</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Frontends should not independently interpret raw regression values or duplicate threshold logic.</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Player dashboard badge</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Selection ranking</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AI-agent explanation</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Final Output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Accept recent or player-match rows</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Exclude target leakage</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Calculate derived variables</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Map normalized slope to score</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Return label and explanation</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form_score = clamp(50 + normalized_trend x 100, 0, 100)</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Rising &gt; +threshold; Declining &lt; -threshold; else Stable</a:t>
            </a:r>
            <a:endParaRPr lang="en-US" sz="1150" dirty="0"/>
          </a:p>
        </p:txBody>
      </p:sp>
      <p:sp>
        <p:nvSpPr>
          <p:cNvPr id="24" name="Shape 22"/>
          <p:cNvSpPr/>
          <p:nvPr/>
        </p:nvSpPr>
        <p:spPr>
          <a:xfrm>
            <a:off x="7662672" y="2331720"/>
            <a:ext cx="3995928" cy="3246120"/>
          </a:xfrm>
          <a:prstGeom prst="rect">
            <a:avLst/>
          </a:prstGeom>
          <a:solidFill>
            <a:srgbClr val="103D2B"/>
          </a:solidFill>
          <a:ln w="12700">
            <a:solidFill>
              <a:srgbClr val="49E38B"/>
            </a:solidFill>
            <a:prstDash val="solid"/>
          </a:ln>
        </p:spPr>
      </p:sp>
      <p:sp>
        <p:nvSpPr>
          <p:cNvPr id="25" name="Shape 23"/>
          <p:cNvSpPr/>
          <p:nvPr/>
        </p:nvSpPr>
        <p:spPr>
          <a:xfrm>
            <a:off x="7662672" y="2331720"/>
            <a:ext cx="3995928" cy="50292"/>
          </a:xfrm>
          <a:prstGeom prst="rect">
            <a:avLst/>
          </a:prstGeom>
          <a:solidFill>
            <a:srgbClr val="49E38B"/>
          </a:solidFill>
          <a:ln w="12700">
            <a:solidFill>
              <a:srgbClr val="49E38B"/>
            </a:solidFill>
            <a:prstDash val="solid"/>
          </a:ln>
        </p:spPr>
      </p:sp>
      <p:sp>
        <p:nvSpPr>
          <p:cNvPr id="26" name="Text 24"/>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7" name="Text 25"/>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Final Output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khel_showcase_form_final_schemas.P</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 identity and role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recent_performances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list[khel_showcase_form_final_sche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Chronological recent performance records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player_match_rows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list[khel_showcase_form_final_sche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Historical player-match 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pressure_confidence_rows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list[khel_showcase_form_final_sche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pressure confidence 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recent_match_limit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int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recent match limit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stable_slope_threshold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Rising/Stable/Declining threshold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form_trend_score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Upstream form score from API 7</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trend_label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trend 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trend_confidence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trend confidence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derived_variables_used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khel_showcase_form_final_schemas.D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derived variables used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supporting_values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dict[str, Any]</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supporting 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Final Output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Recent performances or player rows required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Minimum three records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Player rows must match requested player</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Target row must not enter history</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"Aarav Sharma",</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"role": "batter"</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"player_match_rows":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"team_id":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"team_name":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"recent_match_limit": 6,</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"stable_slope_threshold": 0.15</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"metric": "form_trend_final_output",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"label": "Declining",</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"form_trend_score": 17.18,</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"trend_label": "Declining",</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"trend_confidence": 0.358,</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"derived_variables_used":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"recent_match_sequence":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"regression_slope": -16.629,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"recent_average": 50.67,</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"volatility": 36.22,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"normalized_trend_score": -0.328</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"explanation": "Form is classified as Declining with a score of 17.18. The ordered recent sequence produced regression_slope=-16.629 and normalized_trend_score=-0.328. The label uses threshold +/-0.15, so positive values above the threshold are Rising, negative values below the threshold are Declining, and values inside the band are Stable. Trend confidence is 0.358 after adjusting trend fit for volatility."</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Form Trend Final Output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7_form_trend_final.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Player dashboard badge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Selection ranking</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AI-agent explanation</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Score mapping is rule-based</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Confidence can remain low despite a strong direction</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SCORE</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17.18</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LABEL</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Declining</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CONFIDENCE</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0.358</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AVERAGE</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50.67</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8 - Opponent Bayesian Derived Variables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/student5/opponent-bayesian-derived</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Opponent Bayesian Derived Variables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/student5/opponent-bayesian-derived</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2</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Update a player's overall performance expectation using opponent-specific evidence.</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Overall form can hide favorable or difficult matchup history, while one opponent result is too noisy to trust alone.</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Opponent matchup card</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Pre-match report</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Fantasy context feature</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Derived Variables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Calculate overall prior</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Calculate opponent mean</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Measure opponent volatility</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Compute evidence strength</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Produce weighted posterior</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consistency = 1 - volatility / (average + volatility)</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evidence_strength = capped_n x consistency</a:t>
            </a:r>
            <a:endParaRPr lang="en-US" sz="1150" dirty="0"/>
          </a:p>
        </p:txBody>
      </p:sp>
      <p:sp>
        <p:nvSpPr>
          <p:cNvPr id="24" name="Shape 22"/>
          <p:cNvSpPr/>
          <p:nvPr/>
        </p:nvSpPr>
        <p:spPr>
          <a:xfrm>
            <a:off x="749808" y="4142232"/>
            <a:ext cx="6455664" cy="502920"/>
          </a:xfrm>
          <a:prstGeom prst="rect">
            <a:avLst/>
          </a:prstGeom>
          <a:solidFill>
            <a:srgbClr val="031A12"/>
          </a:solidFill>
          <a:ln w="12700">
            <a:solidFill>
              <a:srgbClr val="286A4B"/>
            </a:solidFill>
            <a:prstDash val="solid"/>
          </a:ln>
        </p:spPr>
      </p:sp>
      <p:sp>
        <p:nvSpPr>
          <p:cNvPr id="25" name="Text 23"/>
          <p:cNvSpPr/>
          <p:nvPr/>
        </p:nvSpPr>
        <p:spPr>
          <a:xfrm>
            <a:off x="886968" y="4270248"/>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posterior = weighted prior + opponent evidence</a:t>
            </a:r>
            <a:endParaRPr lang="en-US" sz="1150" dirty="0"/>
          </a:p>
        </p:txBody>
      </p:sp>
      <p:sp>
        <p:nvSpPr>
          <p:cNvPr id="26" name="Shape 24"/>
          <p:cNvSpPr/>
          <p:nvPr/>
        </p:nvSpPr>
        <p:spPr>
          <a:xfrm>
            <a:off x="7662672" y="2331720"/>
            <a:ext cx="3995928" cy="3246120"/>
          </a:xfrm>
          <a:prstGeom prst="rect">
            <a:avLst/>
          </a:prstGeom>
          <a:solidFill>
            <a:srgbClr val="103D2B"/>
          </a:solidFill>
          <a:ln w="12700">
            <a:solidFill>
              <a:srgbClr val="49E38B"/>
            </a:solidFill>
            <a:prstDash val="solid"/>
          </a:ln>
        </p:spPr>
      </p:sp>
      <p:sp>
        <p:nvSpPr>
          <p:cNvPr id="27" name="Shape 25"/>
          <p:cNvSpPr/>
          <p:nvPr/>
        </p:nvSpPr>
        <p:spPr>
          <a:xfrm>
            <a:off x="7662672" y="2331720"/>
            <a:ext cx="3995928" cy="50292"/>
          </a:xfrm>
          <a:prstGeom prst="rect">
            <a:avLst/>
          </a:prstGeom>
          <a:solidFill>
            <a:srgbClr val="49E38B"/>
          </a:solidFill>
          <a:ln w="12700">
            <a:solidFill>
              <a:srgbClr val="49E38B"/>
            </a:solidFill>
            <a:prstDash val="solid"/>
          </a:ln>
        </p:spPr>
      </p:sp>
      <p:sp>
        <p:nvSpPr>
          <p:cNvPr id="28" name="Text 26"/>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9" name="Text 27"/>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Derived Variables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khel_showcase_bayesian_variables_s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 identity and role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opponent_team_id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team 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opponent_team_name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team name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prior_performances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list[khel_showcase_bayesian_variab</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Overall historical samples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opponent_performances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list[khel_showcase_bayesian_variab</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Samples against selected opponent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prior_weight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Weight assigned to overall prior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max_evidence_weight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Cap on opponent evidence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prior_performance_estimate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prior performance estimate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opponent_specific_evidence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specific evidence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evidence_strength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evidence strength</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posterior_estimate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posterior estimate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confidence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confidence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Derived Variables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At least three prior samples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At least one opponent sample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Positive prior and evidence weights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Non-negative performance values</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"Aarav Sharma",</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"role": "batter"</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"opponent_team_id": "4",</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"opponent_team_name": "Gwalior Guardians",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"prior_performances":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"runs_scored":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"balls_faced":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"was_out":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"performance_value":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"opponent_performances":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"runs_scored":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"balls_faced":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"was_out":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"performance_value":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"prior_weight": 6,</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"max_evidence_weight": 10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"metric": "opponent_bayesian_performance_derived_variables",</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"label": "Neutral Opponent Adjustment",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"explanation": "The prior performance estimate is 50.67. Opponent-specific evidence is 24.0 with evidence strength 1.021. The Bayesian weighted update gives posterior_estimate=46.79 and confidence=0.356. The final label is Neutral Opponent Adjustment, so the result updates prior belief using opponent evidence instead of guessing from a single match.",</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"prior_performance_estimate": 50.67,</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"opponent_specific_evidence": 24,</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"evidence_strength": 1.021,</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"posterior_estimate": 46.79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Derived Variables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8_bayesian_variables.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Opponent matchup card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Pre-match report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Fantasy context feature</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Two opponent samples are fragile</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Posterior depends on chosen weights</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PRIOR</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50.67</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EVIDENCE</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24</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STRENGTH</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1.021</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POSTERIOR</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46.79</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9 - Opponent Bayesian Final Output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/student5/opponent-bayesian-final</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Opponent Bayesian Final Output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/student5/opponent-bayesian-final</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2</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Return an opponent-adjusted performance score, matchup label, and confidence.</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A posterior number needs a decision label, change explanation, and evidence warning before product use.</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Pre-match player panel</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Opponent-adjusted fantasy input</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AI matchup explanation</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Final Output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Filter player history before target date</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Separate opponent rows</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Calculate smoothed posterior</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Measure prior change</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Classify matchup and confidence</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weight = opponent_n / (opponent_n + smoothing_k)</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posterior = (1-weight) x prior + weight x evidence</a:t>
            </a:r>
            <a:endParaRPr lang="en-US" sz="1150" dirty="0"/>
          </a:p>
        </p:txBody>
      </p:sp>
      <p:sp>
        <p:nvSpPr>
          <p:cNvPr id="24" name="Shape 22"/>
          <p:cNvSpPr/>
          <p:nvPr/>
        </p:nvSpPr>
        <p:spPr>
          <a:xfrm>
            <a:off x="749808" y="4142232"/>
            <a:ext cx="6455664" cy="502920"/>
          </a:xfrm>
          <a:prstGeom prst="rect">
            <a:avLst/>
          </a:prstGeom>
          <a:solidFill>
            <a:srgbClr val="031A12"/>
          </a:solidFill>
          <a:ln w="12700">
            <a:solidFill>
              <a:srgbClr val="286A4B"/>
            </a:solidFill>
            <a:prstDash val="solid"/>
          </a:ln>
        </p:spPr>
      </p:sp>
      <p:sp>
        <p:nvSpPr>
          <p:cNvPr id="25" name="Text 23"/>
          <p:cNvSpPr/>
          <p:nvPr/>
        </p:nvSpPr>
        <p:spPr>
          <a:xfrm>
            <a:off x="886968" y="4270248"/>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change_percent = (posterior-prior) / prior x 100</a:t>
            </a:r>
            <a:endParaRPr lang="en-US" sz="1150" dirty="0"/>
          </a:p>
        </p:txBody>
      </p:sp>
      <p:sp>
        <p:nvSpPr>
          <p:cNvPr id="26" name="Shape 24"/>
          <p:cNvSpPr/>
          <p:nvPr/>
        </p:nvSpPr>
        <p:spPr>
          <a:xfrm>
            <a:off x="7662672" y="2331720"/>
            <a:ext cx="3995928" cy="3246120"/>
          </a:xfrm>
          <a:prstGeom prst="rect">
            <a:avLst/>
          </a:prstGeom>
          <a:solidFill>
            <a:srgbClr val="103D2B"/>
          </a:solidFill>
          <a:ln w="12700">
            <a:solidFill>
              <a:srgbClr val="49E38B"/>
            </a:solidFill>
            <a:prstDash val="solid"/>
          </a:ln>
        </p:spPr>
      </p:sp>
      <p:sp>
        <p:nvSpPr>
          <p:cNvPr id="27" name="Shape 25"/>
          <p:cNvSpPr/>
          <p:nvPr/>
        </p:nvSpPr>
        <p:spPr>
          <a:xfrm>
            <a:off x="7662672" y="2331720"/>
            <a:ext cx="3995928" cy="50292"/>
          </a:xfrm>
          <a:prstGeom prst="rect">
            <a:avLst/>
          </a:prstGeom>
          <a:solidFill>
            <a:srgbClr val="49E38B"/>
          </a:solidFill>
          <a:ln w="12700">
            <a:solidFill>
              <a:srgbClr val="49E38B"/>
            </a:solidFill>
            <a:prstDash val="solid"/>
          </a:ln>
        </p:spPr>
      </p:sp>
      <p:sp>
        <p:nvSpPr>
          <p:cNvPr id="28" name="Text 26"/>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9" name="Text 27"/>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Final Output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khel_showcase_bayesian_final_schem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 identity and role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opponent_team_id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team 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opponent_team_name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team name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venue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venue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target_match_date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datetime.date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Anti-leakage cutoff date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prior_performances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list[khel_showcase_bayesian_final_</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Overall historical samples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opponent_performances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list[khel_showcase_bayesian_final_</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Samples against selected opponent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player_match_rows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list[khel_showcase_bayesian_final_</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Historical player-match 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103"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opponent_adjusted_performance_score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adjusted performance score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posterior_expectation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posterior expectation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confidence_label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confidence 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derived_variables_used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khel_showcase_bayesian_final_schem</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derived variables used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supporting_values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dict[str, Any]</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supporting 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Final Output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History or explicit samples required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Target-date anti-leakage filter</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Positive smoothing and weights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 matching history returns HTTP 422</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"Aarav Sharma",</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"role": "batter"</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"opponent_team_id": "4",</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"opponent_team_name": "Gwalior Guardians",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"target_match_date": "2026-07-15",</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"player_match_rows":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"match_id":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"team_id":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"team_name":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"smoothing_k": 5,</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"prior_weight": 6</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"metric": "opponent_bayesian_performance_final_output",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"label": "Neutral Matchup",</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"opponent_adjusted_performance_score": 46.79,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"posterior_expectation": 46.79,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"confidence_label": "Low Confidence",</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"derived_variables_used":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"prior_performance_estimate": 50.67,</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"opponent_specific_evidence": 24,</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"evidence_strength": 1.021,</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"posterior_estimate": 46.79,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"prior_to_posterior_change": -3.88</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"explanation": "The prior belief was 50.67. Opponent-specific evidence was 24.0 and received evidence_strength=1.021. After the Bayesian weighted update, the posterior expectation became 46.79, so the prior belief decreased by 3.88 (7.66%). The final label is Neutral Matchup with Low Confidence."</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Opponent Bayesian Final Output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09_bayesian_final.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Pre-match player panel</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Opponent-adjusted fantasy input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AI matchup explanation</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Sparse opponent history produces low confidence</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Neutral label can mask a meaningful but uncertain shift</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ADJUSTED SCORE</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46.79</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LABEL</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Neutral Matchup</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CONFIDENCE</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Low Confidence</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MODE</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demo_only</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Sprint 2 - Integration and Lessons</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player history to explainable context</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SUMMARY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234440"/>
            <a:ext cx="5394960" cy="4526280"/>
          </a:xfrm>
          <a:prstGeom prst="rect">
            <a:avLst/>
          </a:prstGeom>
          <a:solidFill>
            <a:srgbClr val="103D2B"/>
          </a:solidFill>
          <a:ln w="12700">
            <a:solidFill>
              <a:srgbClr val="49E38B"/>
            </a:solidFill>
            <a:prstDash val="solid"/>
          </a:ln>
        </p:spPr>
      </p:sp>
      <p:sp>
        <p:nvSpPr>
          <p:cNvPr id="8" name="Shape 6"/>
          <p:cNvSpPr/>
          <p:nvPr/>
        </p:nvSpPr>
        <p:spPr>
          <a:xfrm>
            <a:off x="502920" y="1234440"/>
            <a:ext cx="5394960" cy="50292"/>
          </a:xfrm>
          <a:prstGeom prst="rect">
            <a:avLst/>
          </a:prstGeom>
          <a:solidFill>
            <a:srgbClr val="49E38B"/>
          </a:solidFill>
          <a:ln w="12700">
            <a:solidFill>
              <a:srgbClr val="49E38B"/>
            </a:solidFill>
            <a:prstDash val="solid"/>
          </a:ln>
        </p:spPr>
      </p:sp>
      <p:sp>
        <p:nvSpPr>
          <p:cNvPr id="9" name="Text 7"/>
          <p:cNvSpPr/>
          <p:nvPr/>
        </p:nvSpPr>
        <p:spPr>
          <a:xfrm>
            <a:off x="685800" y="1389888"/>
            <a:ext cx="50292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MODULES</a:t>
            </a:r>
            <a:endParaRPr lang="en-US" sz="1000" dirty="0"/>
          </a:p>
        </p:txBody>
      </p:sp>
      <p:sp>
        <p:nvSpPr>
          <p:cNvPr id="10" name="Text 8"/>
          <p:cNvSpPr/>
          <p:nvPr/>
        </p:nvSpPr>
        <p:spPr>
          <a:xfrm>
            <a:off x="749808" y="1664208"/>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06</a:t>
            </a:r>
            <a:endParaRPr lang="en-US" sz="1300" dirty="0"/>
          </a:p>
        </p:txBody>
      </p:sp>
      <p:sp>
        <p:nvSpPr>
          <p:cNvPr id="11" name="Text 9"/>
          <p:cNvSpPr/>
          <p:nvPr/>
        </p:nvSpPr>
        <p:spPr>
          <a:xfrm>
            <a:off x="1234440" y="1664208"/>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Form Trend Derived Variables API</a:t>
            </a:r>
            <a:endParaRPr lang="en-US" sz="1300" dirty="0"/>
          </a:p>
        </p:txBody>
      </p:sp>
      <p:sp>
        <p:nvSpPr>
          <p:cNvPr id="12" name="Text 10"/>
          <p:cNvSpPr/>
          <p:nvPr/>
        </p:nvSpPr>
        <p:spPr>
          <a:xfrm>
            <a:off x="749808" y="2322576"/>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07</a:t>
            </a:r>
            <a:endParaRPr lang="en-US" sz="1300" dirty="0"/>
          </a:p>
        </p:txBody>
      </p:sp>
      <p:sp>
        <p:nvSpPr>
          <p:cNvPr id="13" name="Text 11"/>
          <p:cNvSpPr/>
          <p:nvPr/>
        </p:nvSpPr>
        <p:spPr>
          <a:xfrm>
            <a:off x="1234440" y="2322576"/>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Form Trend Final Output API</a:t>
            </a:r>
            <a:endParaRPr lang="en-US" sz="1300" dirty="0"/>
          </a:p>
        </p:txBody>
      </p:sp>
      <p:sp>
        <p:nvSpPr>
          <p:cNvPr id="14" name="Text 12"/>
          <p:cNvSpPr/>
          <p:nvPr/>
        </p:nvSpPr>
        <p:spPr>
          <a:xfrm>
            <a:off x="749808" y="2980944"/>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08</a:t>
            </a:r>
            <a:endParaRPr lang="en-US" sz="1300" dirty="0"/>
          </a:p>
        </p:txBody>
      </p:sp>
      <p:sp>
        <p:nvSpPr>
          <p:cNvPr id="15" name="Text 13"/>
          <p:cNvSpPr/>
          <p:nvPr/>
        </p:nvSpPr>
        <p:spPr>
          <a:xfrm>
            <a:off x="1234440" y="2980944"/>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Opponent Bayesian Derived Variables API</a:t>
            </a:r>
            <a:endParaRPr lang="en-US" sz="1300" dirty="0"/>
          </a:p>
        </p:txBody>
      </p:sp>
      <p:sp>
        <p:nvSpPr>
          <p:cNvPr id="16" name="Text 14"/>
          <p:cNvSpPr/>
          <p:nvPr/>
        </p:nvSpPr>
        <p:spPr>
          <a:xfrm>
            <a:off x="749808" y="3639312"/>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09</a:t>
            </a:r>
            <a:endParaRPr lang="en-US" sz="1300" dirty="0"/>
          </a:p>
        </p:txBody>
      </p:sp>
      <p:sp>
        <p:nvSpPr>
          <p:cNvPr id="17" name="Text 15"/>
          <p:cNvSpPr/>
          <p:nvPr/>
        </p:nvSpPr>
        <p:spPr>
          <a:xfrm>
            <a:off x="1234440" y="3639312"/>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Opponent Bayesian Final Output API</a:t>
            </a:r>
            <a:endParaRPr lang="en-US" sz="1300" dirty="0"/>
          </a:p>
        </p:txBody>
      </p:sp>
      <p:sp>
        <p:nvSpPr>
          <p:cNvPr id="18" name="Shape 16"/>
          <p:cNvSpPr/>
          <p:nvPr/>
        </p:nvSpPr>
        <p:spPr>
          <a:xfrm>
            <a:off x="6126480" y="1234440"/>
            <a:ext cx="5532120" cy="4526280"/>
          </a:xfrm>
          <a:prstGeom prst="rect">
            <a:avLst/>
          </a:prstGeom>
          <a:solidFill>
            <a:srgbClr val="103D2B"/>
          </a:solidFill>
          <a:ln w="12700">
            <a:solidFill>
              <a:srgbClr val="E3B82F"/>
            </a:solidFill>
            <a:prstDash val="solid"/>
          </a:ln>
        </p:spPr>
      </p:sp>
      <p:sp>
        <p:nvSpPr>
          <p:cNvPr id="19" name="Shape 17"/>
          <p:cNvSpPr/>
          <p:nvPr/>
        </p:nvSpPr>
        <p:spPr>
          <a:xfrm>
            <a:off x="6126480" y="1234440"/>
            <a:ext cx="5532120" cy="50292"/>
          </a:xfrm>
          <a:prstGeom prst="rect">
            <a:avLst/>
          </a:prstGeom>
          <a:solidFill>
            <a:srgbClr val="E3B82F"/>
          </a:solidFill>
          <a:ln w="12700">
            <a:solidFill>
              <a:srgbClr val="E3B82F"/>
            </a:solidFill>
            <a:prstDash val="solid"/>
          </a:ln>
        </p:spPr>
      </p:sp>
      <p:sp>
        <p:nvSpPr>
          <p:cNvPr id="20" name="Text 18"/>
          <p:cNvSpPr/>
          <p:nvPr/>
        </p:nvSpPr>
        <p:spPr>
          <a:xfrm>
            <a:off x="6309360" y="1389888"/>
            <a:ext cx="5166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WHAT THE SPRINT ADDS TO KHEL AI</a:t>
            </a:r>
            <a:endParaRPr lang="en-US" sz="1000" dirty="0"/>
          </a:p>
        </p:txBody>
      </p:sp>
      <p:sp>
        <p:nvSpPr>
          <p:cNvPr id="21" name="Text 19"/>
          <p:cNvSpPr/>
          <p:nvPr/>
        </p:nvSpPr>
        <p:spPr>
          <a:xfrm>
            <a:off x="6382512" y="1719072"/>
            <a:ext cx="5029200" cy="356616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Aarav Sharma provides one continuous six-match story</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Regression exposes direction, fit, and volatility</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Bayesian updates balance prior belief with opponent evidence</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Confidence warnings prevent overclaiming small samples</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6858000" y="-1097280"/>
            <a:ext cx="6583680" cy="6583680"/>
          </a:xfrm>
          <a:prstGeom prst="ellipse">
            <a:avLst/>
          </a:prstGeom>
          <a:solidFill>
            <a:srgbClr val="3BC8E8">
              <a:alpha val="15000"/>
            </a:srgbClr>
          </a:solidFill>
          <a:ln w="12700">
            <a:solidFill>
              <a:srgbClr val="333333">
                <a:alpha val="0"/>
              </a:srgbClr>
            </a:solidFill>
            <a:prstDash val="solid"/>
          </a:ln>
        </p:spPr>
      </p:sp>
      <p:sp>
        <p:nvSpPr>
          <p:cNvPr id="3" name="Text 1"/>
          <p:cNvSpPr/>
          <p:nvPr/>
        </p:nvSpPr>
        <p:spPr>
          <a:xfrm>
            <a:off x="640080" y="685800"/>
            <a:ext cx="2743200" cy="365760"/>
          </a:xfrm>
          <a:prstGeom prst="rect">
            <a:avLst/>
          </a:prstGeom>
          <a:noFill/>
          <a:ln/>
        </p:spPr>
        <p:txBody>
          <a:bodyPr wrap="square" lIns="508" tIns="508" rIns="508" bIns="508" rtlCol="0" anchor="t">
            <a:normAutofit/>
          </a:bodyPr>
          <a:lstStyle/>
          <a:p>
            <a:pPr algn="l" indent="0" marL="0">
              <a:buNone/>
            </a:pPr>
            <a:r>
              <a:rPr lang="en-US" sz="1400" b="1" spc="250" kern="0" dirty="0">
                <a:solidFill>
                  <a:srgbClr val="3BC8E8"/>
                </a:solidFill>
                <a:latin typeface="Aptos" pitchFamily="34" charset="0"/>
                <a:ea typeface="Aptos" pitchFamily="34" charset="-122"/>
                <a:cs typeface="Aptos" pitchFamily="34" charset="-120"/>
              </a:rPr>
              <a:t>SPRINT 3</a:t>
            </a:r>
            <a:endParaRPr lang="en-US" sz="1400" dirty="0"/>
          </a:p>
        </p:txBody>
      </p:sp>
      <p:sp>
        <p:nvSpPr>
          <p:cNvPr id="4" name="Text 2"/>
          <p:cNvSpPr/>
          <p:nvPr/>
        </p:nvSpPr>
        <p:spPr>
          <a:xfrm>
            <a:off x="640080" y="1417320"/>
            <a:ext cx="9875520" cy="914400"/>
          </a:xfrm>
          <a:prstGeom prst="rect">
            <a:avLst/>
          </a:prstGeom>
          <a:noFill/>
          <a:ln/>
        </p:spPr>
        <p:txBody>
          <a:bodyPr wrap="square" lIns="508" tIns="508" rIns="508" bIns="508" rtlCol="0" anchor="t">
            <a:normAutofit/>
          </a:bodyPr>
          <a:lstStyle/>
          <a:p>
            <a:pPr algn="l" indent="0" marL="0">
              <a:buNone/>
            </a:pPr>
            <a:r>
              <a:rPr lang="en-US" sz="4000" b="1" dirty="0">
                <a:solidFill>
                  <a:srgbClr val="F5F7F6"/>
                </a:solidFill>
                <a:latin typeface="Aptos" pitchFamily="34" charset="0"/>
                <a:ea typeface="Aptos" pitchFamily="34" charset="-122"/>
                <a:cs typeface="Aptos" pitchFamily="34" charset="-120"/>
              </a:rPr>
              <a:t>Fantasy Decision Engine</a:t>
            </a:r>
            <a:endParaRPr lang="en-US" sz="4000" dirty="0"/>
          </a:p>
        </p:txBody>
      </p:sp>
      <p:sp>
        <p:nvSpPr>
          <p:cNvPr id="5" name="Text 3"/>
          <p:cNvSpPr/>
          <p:nvPr/>
        </p:nvSpPr>
        <p:spPr>
          <a:xfrm>
            <a:off x="658368" y="2606040"/>
            <a:ext cx="7955280" cy="594360"/>
          </a:xfrm>
          <a:prstGeom prst="rect">
            <a:avLst/>
          </a:prstGeom>
          <a:noFill/>
          <a:ln/>
        </p:spPr>
        <p:txBody>
          <a:bodyPr wrap="square" lIns="508" tIns="508" rIns="508" bIns="508" rtlCol="0" anchor="t">
            <a:normAutofit/>
          </a:bodyPr>
          <a:lstStyle/>
          <a:p>
            <a:pPr algn="l" indent="0" marL="0">
              <a:buNone/>
            </a:pPr>
            <a:r>
              <a:rPr lang="en-US" sz="1800" dirty="0">
                <a:solidFill>
                  <a:srgbClr val="A7C1B4"/>
                </a:solidFill>
                <a:latin typeface="Aptos" pitchFamily="34" charset="0"/>
                <a:ea typeface="Aptos" pitchFamily="34" charset="-122"/>
                <a:cs typeface="Aptos" pitchFamily="34" charset="-120"/>
              </a:rPr>
              <a:t>Two APIs connect event probabilities, player context, and a saved prediction model.</a:t>
            </a:r>
            <a:endParaRPr lang="en-US" sz="1800" dirty="0"/>
          </a:p>
        </p:txBody>
      </p:sp>
      <p:sp>
        <p:nvSpPr>
          <p:cNvPr id="6" name="Shape 4"/>
          <p:cNvSpPr/>
          <p:nvPr/>
        </p:nvSpPr>
        <p:spPr>
          <a:xfrm>
            <a:off x="658368" y="3657600"/>
            <a:ext cx="4754880" cy="0"/>
          </a:xfrm>
          <a:prstGeom prst="line">
            <a:avLst/>
          </a:prstGeom>
          <a:noFill/>
          <a:ln w="38100">
            <a:solidFill>
              <a:srgbClr val="3BC8E8"/>
            </a:solidFill>
            <a:prstDash val="solid"/>
          </a:ln>
        </p:spPr>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10 - Expected Fantasy Points Derived Variables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/student5/expected-fantasy-derived</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Expected Fantasy Points Derived Variables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/student5/expected-fantasy-derived</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3</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Local service + verified dashboard</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Calculate expected fantasy value from event probabilities and scoring rules.</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Fantasy outcomes combine uncertain batting, bowling, and fielding events; raw averages hide those components.</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Fantasy contribution chart</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Player comparison</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Explainable recommendation input</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Derived Variables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Receive event probabilities</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Load point values</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Multiply each probability by value</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Sum component totals</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Classify expected value</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event_EV = probability x point_value</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total_EV = batting_EV + bowling_EV + fielding_EV</a:t>
            </a:r>
            <a:endParaRPr lang="en-US" sz="1150" dirty="0"/>
          </a:p>
        </p:txBody>
      </p:sp>
      <p:sp>
        <p:nvSpPr>
          <p:cNvPr id="24" name="Shape 22"/>
          <p:cNvSpPr/>
          <p:nvPr/>
        </p:nvSpPr>
        <p:spPr>
          <a:xfrm>
            <a:off x="7662672" y="2331720"/>
            <a:ext cx="3995928" cy="3246120"/>
          </a:xfrm>
          <a:prstGeom prst="rect">
            <a:avLst/>
          </a:prstGeom>
          <a:solidFill>
            <a:srgbClr val="103D2B"/>
          </a:solidFill>
          <a:ln w="12700">
            <a:solidFill>
              <a:srgbClr val="49E38B"/>
            </a:solidFill>
            <a:prstDash val="solid"/>
          </a:ln>
        </p:spPr>
      </p:sp>
      <p:sp>
        <p:nvSpPr>
          <p:cNvPr id="25" name="Shape 23"/>
          <p:cNvSpPr/>
          <p:nvPr/>
        </p:nvSpPr>
        <p:spPr>
          <a:xfrm>
            <a:off x="7662672" y="2331720"/>
            <a:ext cx="3995928" cy="50292"/>
          </a:xfrm>
          <a:prstGeom prst="rect">
            <a:avLst/>
          </a:prstGeom>
          <a:solidFill>
            <a:srgbClr val="49E38B"/>
          </a:solidFill>
          <a:ln w="12700">
            <a:solidFill>
              <a:srgbClr val="49E38B"/>
            </a:solidFill>
            <a:prstDash val="solid"/>
          </a:ln>
        </p:spPr>
      </p:sp>
      <p:sp>
        <p:nvSpPr>
          <p:cNvPr id="26" name="Text 24"/>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7" name="Text 25"/>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Derived Variables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khel_showcase_fantasy_variables_sc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 identity and role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batting_event_probabilities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khel_showcase_fantasy_variables_sc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 event probabilities, each 0-1</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bowling_event_probabilities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khel_showcase_fantasy_variables_sc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 event probabilities, each 0-1</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fielding_event_probabilities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khel_showcase_fantasy_variables_sc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Fielding event probabilities, each 0-1</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event_point_values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khel_showcase_fantasy_variables_sc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Fantasy scoring 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117"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explanation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batting_event_probabilities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dict[str, 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Batting event probabilities, each 0-1</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bowling_event_probabilities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dict[str, 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Bowling event probabilities, each 0-1</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fielding_event_probabilities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dict[str, 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Fielding event probabilities, each 0-1</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event_point_values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dict[str, 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Fantasy scoring values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expected_value_components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khel_showcase_fantasy_variables_sc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expected value components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Derived Variables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All probabilities constrained to 0-1</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Required event groups enforced</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Point values have documented defaults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Non-negative player event inputs</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"Aarav Sharma",</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"role": "batter"</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"batting_event_probabilities":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"run_0": 0.3835,</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"run_1": 0.3058,</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"run_2": 0.1359,</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"run_3": 0.0049,</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"four": 0.1602</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"bowling_event_probabilities":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"dot_ball": 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"wicket": 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"maiden_over": 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"economy_bonus": 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"fielding_event_probabilities":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"catch": 0.5,</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"run_out": 0,</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"stumping": 0.1667</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"metric": "expected_fantasy_points_derived_variables",</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"label": "Low Expected Fantasy Value",</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"explanation": "Expected fantasy points are calculated as sum(probability * point_value) across batting, bowling, and fielding events. The total expected value is 7.42.",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"batting_event_probabilities":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"run_0": 0.3835,</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"run_1": 0.3058,</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"run_2": 0.1359,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"run_3": 0.0049,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"four": 0.1602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"bowling_event_probabilities":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"dot_ball": 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"wicket": 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"maiden_over": 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"economy_bonus": 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"fielding_event_probabilities":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"catch": 0.5,</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"run_out": 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"stumping": 0.1667</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"event_point_values":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"run_0": 0,</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"run_1": 1,</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"run_2": 2,</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"run_3": 3,</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"four": 5</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Derived Variables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10_expected_fantasy_variables.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Fantasy contribution chart</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Player comparison</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Explainable recommendation input</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Per-opportunity EV is not a complete match projection</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Probabilities need larger role-specific samples</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TOTAL EV</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7.42</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BATTING</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1.42</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BOWLING</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0</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FIELDING</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6</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11 - Expected Fantasy Points Final Output API</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POST /student5/expected-fantasy-final</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WHAT / WHY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2651760" cy="749808"/>
          </a:xfrm>
          <a:prstGeom prst="rect">
            <a:avLst/>
          </a:prstGeom>
          <a:solidFill>
            <a:srgbClr val="103D2B"/>
          </a:solidFill>
          <a:ln w="12700">
            <a:solidFill>
              <a:srgbClr val="49E38B"/>
            </a:solidFill>
            <a:prstDash val="solid"/>
          </a:ln>
        </p:spPr>
      </p:sp>
      <p:sp>
        <p:nvSpPr>
          <p:cNvPr id="8" name="Shape 6"/>
          <p:cNvSpPr/>
          <p:nvPr/>
        </p:nvSpPr>
        <p:spPr>
          <a:xfrm>
            <a:off x="502920" y="1188720"/>
            <a:ext cx="2651760" cy="50292"/>
          </a:xfrm>
          <a:prstGeom prst="rect">
            <a:avLst/>
          </a:prstGeom>
          <a:solidFill>
            <a:srgbClr val="49E38B"/>
          </a:solidFill>
          <a:ln w="12700">
            <a:solidFill>
              <a:srgbClr val="49E38B"/>
            </a:solidFill>
            <a:prstDash val="solid"/>
          </a:ln>
        </p:spPr>
      </p:sp>
      <p:sp>
        <p:nvSpPr>
          <p:cNvPr id="9" name="Text 7"/>
          <p:cNvSpPr/>
          <p:nvPr/>
        </p:nvSpPr>
        <p:spPr>
          <a:xfrm>
            <a:off x="685800"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Name</a:t>
            </a:r>
            <a:endParaRPr lang="en-US" sz="1000" dirty="0"/>
          </a:p>
        </p:txBody>
      </p:sp>
      <p:sp>
        <p:nvSpPr>
          <p:cNvPr id="10" name="Text 8"/>
          <p:cNvSpPr/>
          <p:nvPr/>
        </p:nvSpPr>
        <p:spPr>
          <a:xfrm>
            <a:off x="658368"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Expected Fantasy Points Final Output API</a:t>
            </a:r>
            <a:endParaRPr lang="en-US" sz="1100" dirty="0"/>
          </a:p>
        </p:txBody>
      </p:sp>
      <p:sp>
        <p:nvSpPr>
          <p:cNvPr id="11" name="Shape 9"/>
          <p:cNvSpPr/>
          <p:nvPr/>
        </p:nvSpPr>
        <p:spPr>
          <a:xfrm>
            <a:off x="3319272" y="1188720"/>
            <a:ext cx="2651760" cy="749808"/>
          </a:xfrm>
          <a:prstGeom prst="rect">
            <a:avLst/>
          </a:prstGeom>
          <a:solidFill>
            <a:srgbClr val="103D2B"/>
          </a:solidFill>
          <a:ln w="12700">
            <a:solidFill>
              <a:srgbClr val="E3B82F"/>
            </a:solidFill>
            <a:prstDash val="solid"/>
          </a:ln>
        </p:spPr>
      </p:sp>
      <p:sp>
        <p:nvSpPr>
          <p:cNvPr id="12" name="Shape 10"/>
          <p:cNvSpPr/>
          <p:nvPr/>
        </p:nvSpPr>
        <p:spPr>
          <a:xfrm>
            <a:off x="3319272" y="1188720"/>
            <a:ext cx="2651760" cy="50292"/>
          </a:xfrm>
          <a:prstGeom prst="rect">
            <a:avLst/>
          </a:prstGeom>
          <a:solidFill>
            <a:srgbClr val="E3B82F"/>
          </a:solidFill>
          <a:ln w="12700">
            <a:solidFill>
              <a:srgbClr val="E3B82F"/>
            </a:solidFill>
            <a:prstDash val="solid"/>
          </a:ln>
        </p:spPr>
      </p:sp>
      <p:sp>
        <p:nvSpPr>
          <p:cNvPr id="13" name="Text 11"/>
          <p:cNvSpPr/>
          <p:nvPr/>
        </p:nvSpPr>
        <p:spPr>
          <a:xfrm>
            <a:off x="3502152"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Endpoint</a:t>
            </a:r>
            <a:endParaRPr lang="en-US" sz="1000" dirty="0"/>
          </a:p>
        </p:txBody>
      </p:sp>
      <p:sp>
        <p:nvSpPr>
          <p:cNvPr id="14" name="Text 12"/>
          <p:cNvSpPr/>
          <p:nvPr/>
        </p:nvSpPr>
        <p:spPr>
          <a:xfrm>
            <a:off x="3474720"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POST  /student5/expected-fantasy-final</a:t>
            </a:r>
            <a:endParaRPr lang="en-US" sz="1100" dirty="0"/>
          </a:p>
        </p:txBody>
      </p:sp>
      <p:sp>
        <p:nvSpPr>
          <p:cNvPr id="15" name="Shape 13"/>
          <p:cNvSpPr/>
          <p:nvPr/>
        </p:nvSpPr>
        <p:spPr>
          <a:xfrm>
            <a:off x="6135624" y="1188720"/>
            <a:ext cx="2651760" cy="749808"/>
          </a:xfrm>
          <a:prstGeom prst="rect">
            <a:avLst/>
          </a:prstGeom>
          <a:solidFill>
            <a:srgbClr val="103D2B"/>
          </a:solidFill>
          <a:ln w="12700">
            <a:solidFill>
              <a:srgbClr val="49E38B"/>
            </a:solidFill>
            <a:prstDash val="solid"/>
          </a:ln>
        </p:spPr>
      </p:sp>
      <p:sp>
        <p:nvSpPr>
          <p:cNvPr id="16" name="Shape 14"/>
          <p:cNvSpPr/>
          <p:nvPr/>
        </p:nvSpPr>
        <p:spPr>
          <a:xfrm>
            <a:off x="6135624" y="1188720"/>
            <a:ext cx="2651760" cy="50292"/>
          </a:xfrm>
          <a:prstGeom prst="rect">
            <a:avLst/>
          </a:prstGeom>
          <a:solidFill>
            <a:srgbClr val="49E38B"/>
          </a:solidFill>
          <a:ln w="12700">
            <a:solidFill>
              <a:srgbClr val="49E38B"/>
            </a:solidFill>
            <a:prstDash val="solid"/>
          </a:ln>
        </p:spPr>
      </p:sp>
      <p:sp>
        <p:nvSpPr>
          <p:cNvPr id="17" name="Text 15"/>
          <p:cNvSpPr/>
          <p:nvPr/>
        </p:nvSpPr>
        <p:spPr>
          <a:xfrm>
            <a:off x="6318504"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a:t>
            </a:r>
            <a:endParaRPr lang="en-US" sz="1000" dirty="0"/>
          </a:p>
        </p:txBody>
      </p:sp>
      <p:sp>
        <p:nvSpPr>
          <p:cNvPr id="18" name="Text 16"/>
          <p:cNvSpPr/>
          <p:nvPr/>
        </p:nvSpPr>
        <p:spPr>
          <a:xfrm>
            <a:off x="6291072"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49E38B"/>
                </a:solidFill>
                <a:latin typeface="Aptos" pitchFamily="34" charset="0"/>
                <a:ea typeface="Aptos" pitchFamily="34" charset="-122"/>
                <a:cs typeface="Aptos" pitchFamily="34" charset="-120"/>
              </a:rPr>
              <a:t>Sprint 3</a:t>
            </a:r>
            <a:endParaRPr lang="en-US" sz="1100" dirty="0"/>
          </a:p>
        </p:txBody>
      </p:sp>
      <p:sp>
        <p:nvSpPr>
          <p:cNvPr id="19" name="Shape 17"/>
          <p:cNvSpPr/>
          <p:nvPr/>
        </p:nvSpPr>
        <p:spPr>
          <a:xfrm>
            <a:off x="8951976" y="1188720"/>
            <a:ext cx="2651760" cy="749808"/>
          </a:xfrm>
          <a:prstGeom prst="rect">
            <a:avLst/>
          </a:prstGeom>
          <a:solidFill>
            <a:srgbClr val="103D2B"/>
          </a:solidFill>
          <a:ln w="12700">
            <a:solidFill>
              <a:srgbClr val="E3B82F"/>
            </a:solidFill>
            <a:prstDash val="solid"/>
          </a:ln>
        </p:spPr>
      </p:sp>
      <p:sp>
        <p:nvSpPr>
          <p:cNvPr id="20" name="Shape 18"/>
          <p:cNvSpPr/>
          <p:nvPr/>
        </p:nvSpPr>
        <p:spPr>
          <a:xfrm>
            <a:off x="8951976" y="1188720"/>
            <a:ext cx="2651760" cy="50292"/>
          </a:xfrm>
          <a:prstGeom prst="rect">
            <a:avLst/>
          </a:prstGeom>
          <a:solidFill>
            <a:srgbClr val="E3B82F"/>
          </a:solidFill>
          <a:ln w="12700">
            <a:solidFill>
              <a:srgbClr val="E3B82F"/>
            </a:solidFill>
            <a:prstDash val="solid"/>
          </a:ln>
        </p:spPr>
      </p:sp>
      <p:sp>
        <p:nvSpPr>
          <p:cNvPr id="21" name="Text 19"/>
          <p:cNvSpPr/>
          <p:nvPr/>
        </p:nvSpPr>
        <p:spPr>
          <a:xfrm>
            <a:off x="9134856" y="1344168"/>
            <a:ext cx="22860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Status</a:t>
            </a:r>
            <a:endParaRPr lang="en-US" sz="1000" dirty="0"/>
          </a:p>
        </p:txBody>
      </p:sp>
      <p:sp>
        <p:nvSpPr>
          <p:cNvPr id="22" name="Text 20"/>
          <p:cNvSpPr/>
          <p:nvPr/>
        </p:nvSpPr>
        <p:spPr>
          <a:xfrm>
            <a:off x="9107424" y="1554480"/>
            <a:ext cx="2331720" cy="228600"/>
          </a:xfrm>
          <a:prstGeom prst="rect">
            <a:avLst/>
          </a:prstGeom>
          <a:noFill/>
          <a:ln/>
        </p:spPr>
        <p:txBody>
          <a:bodyPr wrap="square" lIns="508" tIns="508" rIns="508" bIns="508" rtlCol="0" anchor="t">
            <a:normAutofit/>
          </a:bodyPr>
          <a:lstStyle/>
          <a:p>
            <a:pPr algn="l" indent="0" marL="0">
              <a:buNone/>
            </a:pPr>
            <a:r>
              <a:rPr lang="en-US" sz="1100" b="1" dirty="0">
                <a:solidFill>
                  <a:srgbClr val="E3B82F"/>
                </a:solidFill>
                <a:latin typeface="Aptos" pitchFamily="34" charset="0"/>
                <a:ea typeface="Aptos" pitchFamily="34" charset="-122"/>
                <a:cs typeface="Aptos" pitchFamily="34" charset="-120"/>
              </a:rPr>
              <a:t>Public Render deployment</a:t>
            </a:r>
            <a:endParaRPr lang="en-US" sz="1100" dirty="0"/>
          </a:p>
        </p:txBody>
      </p:sp>
      <p:sp>
        <p:nvSpPr>
          <p:cNvPr id="23" name="Shape 21"/>
          <p:cNvSpPr/>
          <p:nvPr/>
        </p:nvSpPr>
        <p:spPr>
          <a:xfrm>
            <a:off x="502920" y="2148840"/>
            <a:ext cx="5486400" cy="1828800"/>
          </a:xfrm>
          <a:prstGeom prst="rect">
            <a:avLst/>
          </a:prstGeom>
          <a:solidFill>
            <a:srgbClr val="103D2B"/>
          </a:solidFill>
          <a:ln w="12700">
            <a:solidFill>
              <a:srgbClr val="49E38B"/>
            </a:solidFill>
            <a:prstDash val="solid"/>
          </a:ln>
        </p:spPr>
      </p:sp>
      <p:sp>
        <p:nvSpPr>
          <p:cNvPr id="24" name="Shape 22"/>
          <p:cNvSpPr/>
          <p:nvPr/>
        </p:nvSpPr>
        <p:spPr>
          <a:xfrm>
            <a:off x="502920" y="2148840"/>
            <a:ext cx="5486400" cy="50292"/>
          </a:xfrm>
          <a:prstGeom prst="rect">
            <a:avLst/>
          </a:prstGeom>
          <a:solidFill>
            <a:srgbClr val="49E38B"/>
          </a:solidFill>
          <a:ln w="12700">
            <a:solidFill>
              <a:srgbClr val="49E38B"/>
            </a:solidFill>
            <a:prstDash val="solid"/>
          </a:ln>
        </p:spPr>
      </p:sp>
      <p:sp>
        <p:nvSpPr>
          <p:cNvPr id="25" name="Text 23"/>
          <p:cNvSpPr/>
          <p:nvPr/>
        </p:nvSpPr>
        <p:spPr>
          <a:xfrm>
            <a:off x="68580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OBJECTIVE</a:t>
            </a:r>
            <a:endParaRPr lang="en-US" sz="1000" dirty="0"/>
          </a:p>
        </p:txBody>
      </p:sp>
      <p:sp>
        <p:nvSpPr>
          <p:cNvPr id="26" name="Text 24"/>
          <p:cNvSpPr/>
          <p:nvPr/>
        </p:nvSpPr>
        <p:spPr>
          <a:xfrm>
            <a:off x="731520" y="2606040"/>
            <a:ext cx="5029200" cy="822960"/>
          </a:xfrm>
          <a:prstGeom prst="rect">
            <a:avLst/>
          </a:prstGeom>
          <a:noFill/>
          <a:ln/>
        </p:spPr>
        <p:txBody>
          <a:bodyPr wrap="square" lIns="508" tIns="508" rIns="508" bIns="508" rtlCol="0" anchor="ctr">
            <a:normAutofit/>
          </a:bodyPr>
          <a:lstStyle/>
          <a:p>
            <a:pPr algn="l" indent="0" marL="0">
              <a:buNone/>
            </a:pPr>
            <a:r>
              <a:rPr lang="en-US" sz="1900" b="1" dirty="0">
                <a:solidFill>
                  <a:srgbClr val="F5F7F6"/>
                </a:solidFill>
                <a:latin typeface="Aptos" pitchFamily="34" charset="0"/>
                <a:ea typeface="Aptos" pitchFamily="34" charset="-122"/>
                <a:cs typeface="Aptos" pitchFamily="34" charset="-120"/>
              </a:rPr>
              <a:t>Produce the final fantasy projection, model provenance, risk, and selection label.</a:t>
            </a:r>
            <a:endParaRPr lang="en-US" sz="1900" dirty="0"/>
          </a:p>
        </p:txBody>
      </p:sp>
      <p:sp>
        <p:nvSpPr>
          <p:cNvPr id="27" name="Shape 25"/>
          <p:cNvSpPr/>
          <p:nvPr/>
        </p:nvSpPr>
        <p:spPr>
          <a:xfrm>
            <a:off x="6172200" y="2148840"/>
            <a:ext cx="5486400" cy="1828800"/>
          </a:xfrm>
          <a:prstGeom prst="rect">
            <a:avLst/>
          </a:prstGeom>
          <a:solidFill>
            <a:srgbClr val="103D2B"/>
          </a:solidFill>
          <a:ln w="12700">
            <a:solidFill>
              <a:srgbClr val="E3B82F"/>
            </a:solidFill>
            <a:prstDash val="solid"/>
          </a:ln>
        </p:spPr>
      </p:sp>
      <p:sp>
        <p:nvSpPr>
          <p:cNvPr id="28" name="Shape 26"/>
          <p:cNvSpPr/>
          <p:nvPr/>
        </p:nvSpPr>
        <p:spPr>
          <a:xfrm>
            <a:off x="6172200" y="2148840"/>
            <a:ext cx="5486400" cy="50292"/>
          </a:xfrm>
          <a:prstGeom prst="rect">
            <a:avLst/>
          </a:prstGeom>
          <a:solidFill>
            <a:srgbClr val="E3B82F"/>
          </a:solidFill>
          <a:ln w="12700">
            <a:solidFill>
              <a:srgbClr val="E3B82F"/>
            </a:solidFill>
            <a:prstDash val="solid"/>
          </a:ln>
        </p:spPr>
      </p:sp>
      <p:sp>
        <p:nvSpPr>
          <p:cNvPr id="29" name="Text 27"/>
          <p:cNvSpPr/>
          <p:nvPr/>
        </p:nvSpPr>
        <p:spPr>
          <a:xfrm>
            <a:off x="6355080" y="230428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CRICKET PROBLEM</a:t>
            </a:r>
            <a:endParaRPr lang="en-US" sz="1000" dirty="0"/>
          </a:p>
        </p:txBody>
      </p:sp>
      <p:sp>
        <p:nvSpPr>
          <p:cNvPr id="30" name="Text 28"/>
          <p:cNvSpPr/>
          <p:nvPr/>
        </p:nvSpPr>
        <p:spPr>
          <a:xfrm>
            <a:off x="6400800" y="2606040"/>
            <a:ext cx="5029200" cy="822960"/>
          </a:xfrm>
          <a:prstGeom prst="rect">
            <a:avLst/>
          </a:prstGeom>
          <a:noFill/>
          <a:ln/>
        </p:spPr>
        <p:txBody>
          <a:bodyPr wrap="square" lIns="508" tIns="508" rIns="508" bIns="508" rtlCol="0" anchor="ctr">
            <a:normAutofit/>
          </a:bodyPr>
          <a:lstStyle/>
          <a:p>
            <a:pPr algn="l" indent="0" marL="0">
              <a:buNone/>
            </a:pPr>
            <a:r>
              <a:rPr lang="en-US" sz="1600" dirty="0">
                <a:solidFill>
                  <a:srgbClr val="F5F7F6"/>
                </a:solidFill>
                <a:latin typeface="Aptos" pitchFamily="34" charset="0"/>
                <a:ea typeface="Aptos" pitchFamily="34" charset="-122"/>
                <a:cs typeface="Aptos" pitchFamily="34" charset="-120"/>
              </a:rPr>
              <a:t>Khel AI needs an actionable prediction while retaining feature-contract safety, fallback behavior, and honest model limits.</a:t>
            </a:r>
            <a:endParaRPr lang="en-US" sz="1600" dirty="0"/>
          </a:p>
        </p:txBody>
      </p:sp>
      <p:sp>
        <p:nvSpPr>
          <p:cNvPr id="31" name="Shape 29"/>
          <p:cNvSpPr/>
          <p:nvPr/>
        </p:nvSpPr>
        <p:spPr>
          <a:xfrm>
            <a:off x="502920" y="4206240"/>
            <a:ext cx="11155680" cy="1600200"/>
          </a:xfrm>
          <a:prstGeom prst="rect">
            <a:avLst/>
          </a:prstGeom>
          <a:solidFill>
            <a:srgbClr val="103D2B"/>
          </a:solidFill>
          <a:ln w="12700">
            <a:solidFill>
              <a:srgbClr val="49E38B"/>
            </a:solidFill>
            <a:prstDash val="solid"/>
          </a:ln>
        </p:spPr>
      </p:sp>
      <p:sp>
        <p:nvSpPr>
          <p:cNvPr id="32" name="Shape 30"/>
          <p:cNvSpPr/>
          <p:nvPr/>
        </p:nvSpPr>
        <p:spPr>
          <a:xfrm>
            <a:off x="502920" y="4206240"/>
            <a:ext cx="11155680" cy="50292"/>
          </a:xfrm>
          <a:prstGeom prst="rect">
            <a:avLst/>
          </a:prstGeom>
          <a:solidFill>
            <a:srgbClr val="49E38B"/>
          </a:solidFill>
          <a:ln w="12700">
            <a:solidFill>
              <a:srgbClr val="49E38B"/>
            </a:solidFill>
            <a:prstDash val="solid"/>
          </a:ln>
        </p:spPr>
      </p:sp>
      <p:sp>
        <p:nvSpPr>
          <p:cNvPr id="33" name="Text 31"/>
          <p:cNvSpPr/>
          <p:nvPr/>
        </p:nvSpPr>
        <p:spPr>
          <a:xfrm>
            <a:off x="685800" y="436168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WHY THIS MATTERS TO KHEL AI</a:t>
            </a:r>
            <a:endParaRPr lang="en-US" sz="1000" dirty="0"/>
          </a:p>
        </p:txBody>
      </p:sp>
      <p:sp>
        <p:nvSpPr>
          <p:cNvPr id="34" name="Text 32"/>
          <p:cNvSpPr/>
          <p:nvPr/>
        </p:nvSpPr>
        <p:spPr>
          <a:xfrm>
            <a:off x="731520" y="4544568"/>
            <a:ext cx="10698480" cy="96012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Fantasy selection panel</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Batch player ranking</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AI model-vs-statistical explanation</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Final Output API - Processing Logic</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validated input to structured cricket intelligence</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HOW</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325880"/>
            <a:ext cx="2075688" cy="685800"/>
          </a:xfrm>
          <a:prstGeom prst="chevron">
            <a:avLst/>
          </a:prstGeom>
          <a:solidFill>
            <a:srgbClr val="125134"/>
          </a:solidFill>
          <a:ln w="12700">
            <a:solidFill>
              <a:srgbClr val="49E38B"/>
            </a:solidFill>
            <a:prstDash val="solid"/>
          </a:ln>
        </p:spPr>
      </p:sp>
      <p:sp>
        <p:nvSpPr>
          <p:cNvPr id="8" name="Text 6"/>
          <p:cNvSpPr/>
          <p:nvPr/>
        </p:nvSpPr>
        <p:spPr>
          <a:xfrm>
            <a:off x="612648"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1. Build pre-match historical features</a:t>
            </a:r>
            <a:endParaRPr lang="en-US" sz="1000" dirty="0"/>
          </a:p>
        </p:txBody>
      </p:sp>
      <p:sp>
        <p:nvSpPr>
          <p:cNvPr id="9" name="Shape 7"/>
          <p:cNvSpPr/>
          <p:nvPr/>
        </p:nvSpPr>
        <p:spPr>
          <a:xfrm>
            <a:off x="2770632" y="1325880"/>
            <a:ext cx="2075688" cy="685800"/>
          </a:xfrm>
          <a:prstGeom prst="chevron">
            <a:avLst/>
          </a:prstGeom>
          <a:solidFill>
            <a:srgbClr val="17623F"/>
          </a:solidFill>
          <a:ln w="12700">
            <a:solidFill>
              <a:srgbClr val="E3B82F"/>
            </a:solidFill>
            <a:prstDash val="solid"/>
          </a:ln>
        </p:spPr>
      </p:sp>
      <p:sp>
        <p:nvSpPr>
          <p:cNvPr id="10" name="Text 8"/>
          <p:cNvSpPr/>
          <p:nvPr/>
        </p:nvSpPr>
        <p:spPr>
          <a:xfrm>
            <a:off x="2880360"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2. Load cached .pkl bundle</a:t>
            </a:r>
            <a:endParaRPr lang="en-US" sz="1000" dirty="0"/>
          </a:p>
        </p:txBody>
      </p:sp>
      <p:sp>
        <p:nvSpPr>
          <p:cNvPr id="11" name="Shape 9"/>
          <p:cNvSpPr/>
          <p:nvPr/>
        </p:nvSpPr>
        <p:spPr>
          <a:xfrm>
            <a:off x="5038344" y="1325880"/>
            <a:ext cx="2075688" cy="685800"/>
          </a:xfrm>
          <a:prstGeom prst="chevron">
            <a:avLst/>
          </a:prstGeom>
          <a:solidFill>
            <a:srgbClr val="125134"/>
          </a:solidFill>
          <a:ln w="12700">
            <a:solidFill>
              <a:srgbClr val="49E38B"/>
            </a:solidFill>
            <a:prstDash val="solid"/>
          </a:ln>
        </p:spPr>
      </p:sp>
      <p:sp>
        <p:nvSpPr>
          <p:cNvPr id="12" name="Text 10"/>
          <p:cNvSpPr/>
          <p:nvPr/>
        </p:nvSpPr>
        <p:spPr>
          <a:xfrm>
            <a:off x="5148072"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3. Enforce feature_columns.json</a:t>
            </a:r>
            <a:endParaRPr lang="en-US" sz="1000" dirty="0"/>
          </a:p>
        </p:txBody>
      </p:sp>
      <p:sp>
        <p:nvSpPr>
          <p:cNvPr id="13" name="Shape 11"/>
          <p:cNvSpPr/>
          <p:nvPr/>
        </p:nvSpPr>
        <p:spPr>
          <a:xfrm>
            <a:off x="7306056" y="1325880"/>
            <a:ext cx="2075688" cy="685800"/>
          </a:xfrm>
          <a:prstGeom prst="chevron">
            <a:avLst/>
          </a:prstGeom>
          <a:solidFill>
            <a:srgbClr val="17623F"/>
          </a:solidFill>
          <a:ln w="12700">
            <a:solidFill>
              <a:srgbClr val="E3B82F"/>
            </a:solidFill>
            <a:prstDash val="solid"/>
          </a:ln>
        </p:spPr>
      </p:sp>
      <p:sp>
        <p:nvSpPr>
          <p:cNvPr id="14" name="Text 12"/>
          <p:cNvSpPr/>
          <p:nvPr/>
        </p:nvSpPr>
        <p:spPr>
          <a:xfrm>
            <a:off x="7415784"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4. Validate prediction range/distribution</a:t>
            </a:r>
            <a:endParaRPr lang="en-US" sz="1000" dirty="0"/>
          </a:p>
        </p:txBody>
      </p:sp>
      <p:sp>
        <p:nvSpPr>
          <p:cNvPr id="15" name="Shape 13"/>
          <p:cNvSpPr/>
          <p:nvPr/>
        </p:nvSpPr>
        <p:spPr>
          <a:xfrm>
            <a:off x="9573768" y="1325880"/>
            <a:ext cx="2075688" cy="685800"/>
          </a:xfrm>
          <a:prstGeom prst="chevron">
            <a:avLst/>
          </a:prstGeom>
          <a:solidFill>
            <a:srgbClr val="125134"/>
          </a:solidFill>
          <a:ln w="12700">
            <a:solidFill>
              <a:srgbClr val="49E38B"/>
            </a:solidFill>
            <a:prstDash val="solid"/>
          </a:ln>
        </p:spPr>
      </p:sp>
      <p:sp>
        <p:nvSpPr>
          <p:cNvPr id="16" name="Text 14"/>
          <p:cNvSpPr/>
          <p:nvPr/>
        </p:nvSpPr>
        <p:spPr>
          <a:xfrm>
            <a:off x="9683496" y="1554480"/>
            <a:ext cx="1755648" cy="182880"/>
          </a:xfrm>
          <a:prstGeom prst="rect">
            <a:avLst/>
          </a:prstGeom>
          <a:noFill/>
          <a:ln/>
        </p:spPr>
        <p:txBody>
          <a:bodyPr wrap="square" lIns="508" tIns="508" rIns="508" bIns="508" rtlCol="0" anchor="t">
            <a:normAutofit/>
          </a:bodyPr>
          <a:lstStyle/>
          <a:p>
            <a:pPr algn="ctr" indent="0" marL="0">
              <a:buNone/>
            </a:pPr>
            <a:r>
              <a:rPr lang="en-US" sz="1000" b="1" dirty="0">
                <a:solidFill>
                  <a:srgbClr val="F5F7F6"/>
                </a:solidFill>
                <a:latin typeface="Aptos" pitchFamily="34" charset="0"/>
                <a:ea typeface="Aptos" pitchFamily="34" charset="-122"/>
                <a:cs typeface="Aptos" pitchFamily="34" charset="-120"/>
              </a:rPr>
              <a:t>5. Return ML or statistical fallback</a:t>
            </a:r>
            <a:endParaRPr lang="en-US" sz="1000" dirty="0"/>
          </a:p>
        </p:txBody>
      </p:sp>
      <p:sp>
        <p:nvSpPr>
          <p:cNvPr id="17" name="Shape 15"/>
          <p:cNvSpPr/>
          <p:nvPr/>
        </p:nvSpPr>
        <p:spPr>
          <a:xfrm>
            <a:off x="502920" y="2331720"/>
            <a:ext cx="6949440" cy="3246120"/>
          </a:xfrm>
          <a:prstGeom prst="rect">
            <a:avLst/>
          </a:prstGeom>
          <a:solidFill>
            <a:srgbClr val="103D2B"/>
          </a:solidFill>
          <a:ln w="12700">
            <a:solidFill>
              <a:srgbClr val="E3B82F"/>
            </a:solidFill>
            <a:prstDash val="solid"/>
          </a:ln>
        </p:spPr>
      </p:sp>
      <p:sp>
        <p:nvSpPr>
          <p:cNvPr id="18" name="Shape 16"/>
          <p:cNvSpPr/>
          <p:nvPr/>
        </p:nvSpPr>
        <p:spPr>
          <a:xfrm>
            <a:off x="502920" y="2331720"/>
            <a:ext cx="6949440" cy="50292"/>
          </a:xfrm>
          <a:prstGeom prst="rect">
            <a:avLst/>
          </a:prstGeom>
          <a:solidFill>
            <a:srgbClr val="E3B82F"/>
          </a:solidFill>
          <a:ln w="12700">
            <a:solidFill>
              <a:srgbClr val="E3B82F"/>
            </a:solidFill>
            <a:prstDash val="solid"/>
          </a:ln>
        </p:spPr>
      </p:sp>
      <p:sp>
        <p:nvSpPr>
          <p:cNvPr id="19" name="Text 17"/>
          <p:cNvSpPr/>
          <p:nvPr/>
        </p:nvSpPr>
        <p:spPr>
          <a:xfrm>
            <a:off x="685800" y="2487168"/>
            <a:ext cx="6583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CORE FORMULAS / RULES</a:t>
            </a:r>
            <a:endParaRPr lang="en-US" sz="1000" dirty="0"/>
          </a:p>
        </p:txBody>
      </p:sp>
      <p:sp>
        <p:nvSpPr>
          <p:cNvPr id="20" name="Shape 18"/>
          <p:cNvSpPr/>
          <p:nvPr/>
        </p:nvSpPr>
        <p:spPr>
          <a:xfrm>
            <a:off x="749808" y="2788920"/>
            <a:ext cx="6455664" cy="502920"/>
          </a:xfrm>
          <a:prstGeom prst="rect">
            <a:avLst/>
          </a:prstGeom>
          <a:solidFill>
            <a:srgbClr val="031A12"/>
          </a:solidFill>
          <a:ln w="12700">
            <a:solidFill>
              <a:srgbClr val="286A4B"/>
            </a:solidFill>
            <a:prstDash val="solid"/>
          </a:ln>
        </p:spPr>
      </p:sp>
      <p:sp>
        <p:nvSpPr>
          <p:cNvPr id="21" name="Text 19"/>
          <p:cNvSpPr/>
          <p:nvPr/>
        </p:nvSpPr>
        <p:spPr>
          <a:xfrm>
            <a:off x="886968" y="2916936"/>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final_prediction = valid ML output else statistical fallback</a:t>
            </a:r>
            <a:endParaRPr lang="en-US" sz="1150" dirty="0"/>
          </a:p>
        </p:txBody>
      </p:sp>
      <p:sp>
        <p:nvSpPr>
          <p:cNvPr id="22" name="Shape 20"/>
          <p:cNvSpPr/>
          <p:nvPr/>
        </p:nvSpPr>
        <p:spPr>
          <a:xfrm>
            <a:off x="749808" y="3465576"/>
            <a:ext cx="6455664" cy="502920"/>
          </a:xfrm>
          <a:prstGeom prst="rect">
            <a:avLst/>
          </a:prstGeom>
          <a:solidFill>
            <a:srgbClr val="031A12"/>
          </a:solidFill>
          <a:ln w="12700">
            <a:solidFill>
              <a:srgbClr val="286A4B"/>
            </a:solidFill>
            <a:prstDash val="solid"/>
          </a:ln>
        </p:spPr>
      </p:sp>
      <p:sp>
        <p:nvSpPr>
          <p:cNvPr id="23" name="Text 21"/>
          <p:cNvSpPr/>
          <p:nvPr/>
        </p:nvSpPr>
        <p:spPr>
          <a:xfrm>
            <a:off x="886968" y="3593592"/>
            <a:ext cx="6181344" cy="246888"/>
          </a:xfrm>
          <a:prstGeom prst="rect">
            <a:avLst/>
          </a:prstGeom>
          <a:noFill/>
          <a:ln/>
        </p:spPr>
        <p:txBody>
          <a:bodyPr wrap="square" lIns="508" tIns="508" rIns="508" bIns="508" rtlCol="0" anchor="t">
            <a:normAutofit/>
          </a:bodyPr>
          <a:lstStyle/>
          <a:p>
            <a:pPr algn="l" indent="0" marL="0">
              <a:buNone/>
            </a:pPr>
            <a:r>
              <a:rPr lang="en-US" sz="1150" dirty="0">
                <a:solidFill>
                  <a:srgbClr val="A5F3C6"/>
                </a:solidFill>
                <a:latin typeface="Consolas" pitchFamily="34" charset="0"/>
                <a:ea typeface="Consolas" pitchFamily="34" charset="-122"/>
                <a:cs typeface="Consolas" pitchFamily="34" charset="-120"/>
              </a:rPr>
              <a:t>selection: Must Pick / Strong Pick / Risk Pick / Avoid</a:t>
            </a:r>
            <a:endParaRPr lang="en-US" sz="1150" dirty="0"/>
          </a:p>
        </p:txBody>
      </p:sp>
      <p:sp>
        <p:nvSpPr>
          <p:cNvPr id="24" name="Shape 22"/>
          <p:cNvSpPr/>
          <p:nvPr/>
        </p:nvSpPr>
        <p:spPr>
          <a:xfrm>
            <a:off x="7662672" y="2331720"/>
            <a:ext cx="3995928" cy="3246120"/>
          </a:xfrm>
          <a:prstGeom prst="rect">
            <a:avLst/>
          </a:prstGeom>
          <a:solidFill>
            <a:srgbClr val="103D2B"/>
          </a:solidFill>
          <a:ln w="12700">
            <a:solidFill>
              <a:srgbClr val="49E38B"/>
            </a:solidFill>
            <a:prstDash val="solid"/>
          </a:ln>
        </p:spPr>
      </p:sp>
      <p:sp>
        <p:nvSpPr>
          <p:cNvPr id="25" name="Shape 23"/>
          <p:cNvSpPr/>
          <p:nvPr/>
        </p:nvSpPr>
        <p:spPr>
          <a:xfrm>
            <a:off x="7662672" y="2331720"/>
            <a:ext cx="3995928" cy="50292"/>
          </a:xfrm>
          <a:prstGeom prst="rect">
            <a:avLst/>
          </a:prstGeom>
          <a:solidFill>
            <a:srgbClr val="49E38B"/>
          </a:solidFill>
          <a:ln w="12700">
            <a:solidFill>
              <a:srgbClr val="49E38B"/>
            </a:solidFill>
            <a:prstDash val="solid"/>
          </a:ln>
        </p:spPr>
      </p:sp>
      <p:sp>
        <p:nvSpPr>
          <p:cNvPr id="26" name="Text 24"/>
          <p:cNvSpPr/>
          <p:nvPr/>
        </p:nvSpPr>
        <p:spPr>
          <a:xfrm>
            <a:off x="7845552" y="2487168"/>
            <a:ext cx="363016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ENGINEERING APPROACH</a:t>
            </a:r>
            <a:endParaRPr lang="en-US" sz="1000" dirty="0"/>
          </a:p>
        </p:txBody>
      </p:sp>
      <p:sp>
        <p:nvSpPr>
          <p:cNvPr id="27" name="Text 25"/>
          <p:cNvSpPr/>
          <p:nvPr/>
        </p:nvSpPr>
        <p:spPr>
          <a:xfrm>
            <a:off x="7909560" y="2743200"/>
            <a:ext cx="3520440" cy="2377440"/>
          </a:xfrm>
          <a:prstGeom prst="rect">
            <a:avLst/>
          </a:prstGeom>
          <a:noFill/>
          <a:ln/>
        </p:spPr>
        <p:txBody>
          <a:bodyPr wrap="square" lIns="635" tIns="635" rIns="635" bIns="635" rtlCol="0" anchor="ctr">
            <a:normAutofit/>
          </a:bodyPr>
          <a:lstStyle/>
          <a:p>
            <a:pPr marL="190500" indent="-190500">
              <a:buSzPct val="100000"/>
              <a:buChar char="•"/>
            </a:pPr>
            <a:r>
              <a:rPr lang="en-US" sz="1400" dirty="0">
                <a:solidFill>
                  <a:srgbClr val="F5F7F6"/>
                </a:solidFill>
                <a:latin typeface="Aptos" pitchFamily="34" charset="0"/>
                <a:ea typeface="Aptos" pitchFamily="34" charset="-122"/>
                <a:cs typeface="Aptos" pitchFamily="34" charset="-120"/>
              </a:rPr>
              <a:t>Separate schema validation from service logic</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Use cricket-specific legal-ball handling</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Return explanation alongside numeric output</a:t>
            </a:r>
            <a:endParaRPr lang="en-US" sz="1400" dirty="0"/>
          </a:p>
          <a:p>
            <a:pPr marL="190500" indent="-190500">
              <a:buSzPct val="100000"/>
              <a:buChar char="•"/>
            </a:pPr>
            <a:r>
              <a:rPr lang="en-US" sz="1400" dirty="0">
                <a:solidFill>
                  <a:srgbClr val="F5F7F6"/>
                </a:solidFill>
                <a:latin typeface="Aptos" pitchFamily="34" charset="0"/>
                <a:ea typeface="Aptos" pitchFamily="34" charset="-122"/>
                <a:cs typeface="Aptos" pitchFamily="34" charset="-120"/>
              </a:rPr>
              <a:t>Keep response directly consumable by dashboards</a:t>
            </a:r>
            <a:endParaRPr lang="en-US" sz="14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Final Output API - API Schema</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Editable request and response contracts from Pydantic models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SCHEMA</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5486400" cy="5074920"/>
          </a:xfrm>
          <a:prstGeom prst="rect">
            <a:avLst/>
          </a:prstGeom>
          <a:solidFill>
            <a:srgbClr val="103D2B"/>
          </a:solidFill>
          <a:ln w="12700">
            <a:solidFill>
              <a:srgbClr val="49E38B"/>
            </a:solidFill>
            <a:prstDash val="solid"/>
          </a:ln>
        </p:spPr>
      </p:sp>
      <p:sp>
        <p:nvSpPr>
          <p:cNvPr id="8" name="Shape 6"/>
          <p:cNvSpPr/>
          <p:nvPr/>
        </p:nvSpPr>
        <p:spPr>
          <a:xfrm>
            <a:off x="502920" y="1188720"/>
            <a:ext cx="5486400" cy="50292"/>
          </a:xfrm>
          <a:prstGeom prst="rect">
            <a:avLst/>
          </a:prstGeom>
          <a:solidFill>
            <a:srgbClr val="49E38B"/>
          </a:solidFill>
          <a:ln w="12700">
            <a:solidFill>
              <a:srgbClr val="49E38B"/>
            </a:solidFill>
            <a:prstDash val="solid"/>
          </a:ln>
        </p:spPr>
      </p:sp>
      <p:sp>
        <p:nvSpPr>
          <p:cNvPr id="9" name="Text 7"/>
          <p:cNvSpPr/>
          <p:nvPr/>
        </p:nvSpPr>
        <p:spPr>
          <a:xfrm>
            <a:off x="68580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SCHEMA</a:t>
            </a:r>
            <a:endParaRPr lang="en-US" sz="1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khel_showcase_fantasy_final_schema</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 identity and role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opponent_team_id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team 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opponent_team_name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opponent team name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venue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venue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target_match_date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datetime.date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Anti-leakage cutoff date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adjusted_posterior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adjusted posterior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player_match_rows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list[khel_showcase_fantasy_final_s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Historical player-match 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pressure_confidence_rows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list[khel_showcase_fantasy_final_s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pressure confidence rows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11" name="Shape 8"/>
          <p:cNvSpPr/>
          <p:nvPr/>
        </p:nvSpPr>
        <p:spPr>
          <a:xfrm>
            <a:off x="685800" y="1627632"/>
            <a:ext cx="5120640" cy="310896"/>
          </a:xfrm>
          <a:prstGeom prst="rect">
            <a:avLst/>
          </a:prstGeom>
          <a:solidFill>
            <a:srgbClr val="031A12"/>
          </a:solidFill>
          <a:ln w="12700">
            <a:solidFill>
              <a:srgbClr val="49E38B"/>
            </a:solidFill>
            <a:prstDash val="solid"/>
          </a:ln>
        </p:spPr>
      </p:sp>
      <p:sp>
        <p:nvSpPr>
          <p:cNvPr id="12" name="Text 9"/>
          <p:cNvSpPr/>
          <p:nvPr/>
        </p:nvSpPr>
        <p:spPr>
          <a:xfrm>
            <a:off x="74066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13" name="Text 10"/>
          <p:cNvSpPr/>
          <p:nvPr/>
        </p:nvSpPr>
        <p:spPr>
          <a:xfrm>
            <a:off x="191841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14" name="Text 11"/>
          <p:cNvSpPr/>
          <p:nvPr/>
        </p:nvSpPr>
        <p:spPr>
          <a:xfrm>
            <a:off x="309615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15" name="Text 12"/>
          <p:cNvSpPr/>
          <p:nvPr/>
        </p:nvSpPr>
        <p:spPr>
          <a:xfrm>
            <a:off x="376184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16" name="Shape 13"/>
          <p:cNvSpPr/>
          <p:nvPr/>
        </p:nvSpPr>
        <p:spPr>
          <a:xfrm>
            <a:off x="6172200" y="1188720"/>
            <a:ext cx="5486400" cy="5074920"/>
          </a:xfrm>
          <a:prstGeom prst="rect">
            <a:avLst/>
          </a:prstGeom>
          <a:solidFill>
            <a:srgbClr val="103D2B"/>
          </a:solidFill>
          <a:ln w="12700">
            <a:solidFill>
              <a:srgbClr val="E3B82F"/>
            </a:solidFill>
            <a:prstDash val="solid"/>
          </a:ln>
        </p:spPr>
      </p:sp>
      <p:sp>
        <p:nvSpPr>
          <p:cNvPr id="17" name="Shape 14"/>
          <p:cNvSpPr/>
          <p:nvPr/>
        </p:nvSpPr>
        <p:spPr>
          <a:xfrm>
            <a:off x="6172200" y="1188720"/>
            <a:ext cx="5486400" cy="50292"/>
          </a:xfrm>
          <a:prstGeom prst="rect">
            <a:avLst/>
          </a:prstGeom>
          <a:solidFill>
            <a:srgbClr val="E3B82F"/>
          </a:solidFill>
          <a:ln w="12700">
            <a:solidFill>
              <a:srgbClr val="E3B82F"/>
            </a:solidFill>
            <a:prstDash val="solid"/>
          </a:ln>
        </p:spPr>
      </p:sp>
      <p:sp>
        <p:nvSpPr>
          <p:cNvPr id="18" name="Text 15"/>
          <p:cNvSpPr/>
          <p:nvPr/>
        </p:nvSpPr>
        <p:spPr>
          <a:xfrm>
            <a:off x="6355080" y="1344168"/>
            <a:ext cx="51206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RESPONSE SCHEMA</a:t>
            </a:r>
            <a:endParaRPr lang="en-US" sz="1000" dirty="0"/>
          </a:p>
        </p:txBody>
      </p:sp>
      <p:graphicFrame>
        <p:nvGraphicFramePr>
          <p:cNvPr id="127" name="Table 1"/>
          <p:cNvGraphicFramePr>
            <a:graphicFrameLocks noGrp="1"/>
          </p:cNvGraphicFramePr>
          <p:nvPr>
            <p:extLst>
              <p:ext uri="{D42A27DB-BD31-4B8C-83A1-F6EECF244321}">
                <p14:modId xmlns:p14="http://schemas.microsoft.com/office/powerpoint/2010/main" val="1579011935"/>
              </p:ext>
            </p:extLst>
          </p:nvPr>
        </p:nvGraphicFramePr>
        <p:xfrm>
          <a:off x="6355080" y="1627632"/>
          <a:ext cx="5120640" cy="4133088"/>
        </p:xfrm>
        <a:graphic>
          <a:graphicData uri="http://schemas.openxmlformats.org/drawingml/2006/table">
            <a:tbl>
              <a:tblPr/>
              <a:tblGrid>
                <a:gridCol w="1177747"/>
                <a:gridCol w="1177747"/>
                <a:gridCol w="665683"/>
                <a:gridCol w="2099462"/>
              </a:tblGrid>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Field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Type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Required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Description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metric</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label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expected_fantasy_points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expected fantasy points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final_prediction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final prediction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supervised_ml_prediction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float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supervised ml prediction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ml_prediction_valid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bool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ml prediction valid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fallback_used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bool</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Yes</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fallback used</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r h="301752">
                <a:tc>
                  <a:txBody>
                    <a:bodyPr/>
                    <a:lstStyle/>
                    <a:p>
                      <a:pPr indent="0" marL="0">
                        <a:buNone/>
                      </a:pPr>
                      <a:r>
                        <a:rPr lang="en-US" sz="900" dirty="0">
                          <a:solidFill>
                            <a:srgbClr val="F5F7F6"/>
                          </a:solidFill>
                          <a:latin typeface="Aptos" pitchFamily="34" charset="0"/>
                          <a:ea typeface="Aptos" pitchFamily="34" charset="-122"/>
                          <a:cs typeface="Aptos" pitchFamily="34" charset="-120"/>
                        </a:rPr>
                        <a:t>fallback_reason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str | None</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No</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c>
                  <a:txBody>
                    <a:bodyPr/>
                    <a:lstStyle/>
                    <a:p>
                      <a:pPr indent="0" marL="0">
                        <a:buNone/>
                      </a:pPr>
                      <a:r>
                        <a:rPr lang="en-US" sz="900" dirty="0">
                          <a:solidFill>
                            <a:srgbClr val="F5F7F6"/>
                          </a:solidFill>
                          <a:latin typeface="Aptos" pitchFamily="34" charset="0"/>
                          <a:ea typeface="Aptos" pitchFamily="34" charset="-122"/>
                          <a:cs typeface="Aptos" pitchFamily="34" charset="-120"/>
                        </a:rPr>
                        <a:t>fallback reason</a:t>
                      </a:r>
                      <a:endParaRPr lang="en-US" sz="900" dirty="0">
                        <a:latin typeface="Aptos" charset="0"/>
                        <a:ea typeface="Aptos" charset="0"/>
                        <a:cs typeface="Aptos" charset="0"/>
                      </a:endParaRPr>
                    </a:p>
                  </a:txBody>
                  <a:tcPr marL="54864" marR="54864" marT="54864" marB="54864">
                    <a:lnL w="12700" cap="flat" cmpd="sng" algn="ctr">
                      <a:solidFill>
                        <a:srgbClr val="286A4B"/>
                      </a:solidFill>
                      <a:prstDash val="solid"/>
                      <a:round/>
                      <a:headEnd type="none" w="med" len="med"/>
                      <a:tailEnd type="none" w="med" len="med"/>
                    </a:lnL>
                    <a:lnR w="12700" cap="flat" cmpd="sng" algn="ctr">
                      <a:solidFill>
                        <a:srgbClr val="286A4B"/>
                      </a:solidFill>
                      <a:prstDash val="solid"/>
                      <a:round/>
                      <a:headEnd type="none" w="med" len="med"/>
                      <a:tailEnd type="none" w="med" len="med"/>
                    </a:lnR>
                    <a:lnT w="12700" cap="flat" cmpd="sng" algn="ctr">
                      <a:solidFill>
                        <a:srgbClr val="286A4B"/>
                      </a:solidFill>
                      <a:prstDash val="solid"/>
                      <a:round/>
                      <a:headEnd type="none" w="med" len="med"/>
                      <a:tailEnd type="none" w="med" len="med"/>
                    </a:lnT>
                    <a:lnB w="12700" cap="flat" cmpd="sng" algn="ctr">
                      <a:solidFill>
                        <a:srgbClr val="286A4B"/>
                      </a:solidFill>
                      <a:prstDash val="solid"/>
                      <a:round/>
                      <a:headEnd type="none" w="med" len="med"/>
                      <a:tailEnd type="none" w="med" len="med"/>
                    </a:lnB>
                    <a:solidFill>
                      <a:srgbClr val="103D2B"/>
                    </a:solidFill>
                  </a:tcPr>
                </a:tc>
              </a:tr>
            </a:tbl>
          </a:graphicData>
        </a:graphic>
      </p:graphicFrame>
      <p:sp>
        <p:nvSpPr>
          <p:cNvPr id="20" name="Shape 16"/>
          <p:cNvSpPr/>
          <p:nvPr/>
        </p:nvSpPr>
        <p:spPr>
          <a:xfrm>
            <a:off x="6355080" y="1627632"/>
            <a:ext cx="5120640" cy="310896"/>
          </a:xfrm>
          <a:prstGeom prst="rect">
            <a:avLst/>
          </a:prstGeom>
          <a:solidFill>
            <a:srgbClr val="031A12"/>
          </a:solidFill>
          <a:ln w="12700">
            <a:solidFill>
              <a:srgbClr val="49E38B"/>
            </a:solidFill>
            <a:prstDash val="solid"/>
          </a:ln>
        </p:spPr>
      </p:sp>
      <p:sp>
        <p:nvSpPr>
          <p:cNvPr id="21" name="Text 17"/>
          <p:cNvSpPr/>
          <p:nvPr/>
        </p:nvSpPr>
        <p:spPr>
          <a:xfrm>
            <a:off x="6409944"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Field</a:t>
            </a:r>
            <a:endParaRPr lang="en-US" sz="800" dirty="0"/>
          </a:p>
        </p:txBody>
      </p:sp>
      <p:sp>
        <p:nvSpPr>
          <p:cNvPr id="22" name="Text 18"/>
          <p:cNvSpPr/>
          <p:nvPr/>
        </p:nvSpPr>
        <p:spPr>
          <a:xfrm>
            <a:off x="7587691" y="1719072"/>
            <a:ext cx="1068019"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Type</a:t>
            </a:r>
            <a:endParaRPr lang="en-US" sz="800" dirty="0"/>
          </a:p>
        </p:txBody>
      </p:sp>
      <p:sp>
        <p:nvSpPr>
          <p:cNvPr id="23" name="Text 19"/>
          <p:cNvSpPr/>
          <p:nvPr/>
        </p:nvSpPr>
        <p:spPr>
          <a:xfrm>
            <a:off x="8765438" y="1719072"/>
            <a:ext cx="555955"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Required</a:t>
            </a:r>
            <a:endParaRPr lang="en-US" sz="800" dirty="0"/>
          </a:p>
        </p:txBody>
      </p:sp>
      <p:sp>
        <p:nvSpPr>
          <p:cNvPr id="24" name="Text 20"/>
          <p:cNvSpPr/>
          <p:nvPr/>
        </p:nvSpPr>
        <p:spPr>
          <a:xfrm>
            <a:off x="9431122" y="1719072"/>
            <a:ext cx="1989734" cy="128016"/>
          </a:xfrm>
          <a:prstGeom prst="rect">
            <a:avLst/>
          </a:prstGeom>
          <a:noFill/>
          <a:ln/>
        </p:spPr>
        <p:txBody>
          <a:bodyPr wrap="square" lIns="508" tIns="508" rIns="508" bIns="508" rtlCol="0" anchor="t">
            <a:normAutofit/>
          </a:bodyPr>
          <a:lstStyle/>
          <a:p>
            <a:pPr algn="l" indent="0" marL="0">
              <a:buNone/>
            </a:pPr>
            <a:r>
              <a:rPr lang="en-US" sz="800" b="1" dirty="0">
                <a:solidFill>
                  <a:srgbClr val="49E38B"/>
                </a:solidFill>
                <a:latin typeface="Aptos" pitchFamily="34" charset="0"/>
                <a:ea typeface="Aptos" pitchFamily="34" charset="-122"/>
                <a:cs typeface="Aptos" pitchFamily="34" charset="-120"/>
              </a:rPr>
              <a:t>Description</a:t>
            </a:r>
            <a:endParaRPr lang="en-US" sz="800" dirty="0"/>
          </a:p>
        </p:txBody>
      </p:sp>
      <p:sp>
        <p:nvSpPr>
          <p:cNvPr id="25" name="Text 21"/>
          <p:cNvSpPr/>
          <p:nvPr/>
        </p:nvSpPr>
        <p:spPr>
          <a:xfrm>
            <a:off x="685800" y="5925312"/>
            <a:ext cx="10789920" cy="201168"/>
          </a:xfrm>
          <a:prstGeom prst="rect">
            <a:avLst/>
          </a:prstGeom>
          <a:noFill/>
          <a:ln/>
        </p:spPr>
        <p:txBody>
          <a:bodyPr wrap="square" lIns="508" tIns="508" rIns="508" bIns="508" rtlCol="0" anchor="t">
            <a:normAutofit/>
          </a:bodyPr>
          <a:lstStyle/>
          <a:p>
            <a:pPr algn="l" indent="0" marL="0">
              <a:buNone/>
            </a:pPr>
            <a:r>
              <a:rPr lang="en-US" sz="900" dirty="0">
                <a:solidFill>
                  <a:srgbClr val="A7C1B4"/>
                </a:solidFill>
                <a:latin typeface="Aptos" pitchFamily="34" charset="0"/>
                <a:ea typeface="Aptos" pitchFamily="34" charset="-122"/>
                <a:cs typeface="Aptos" pitchFamily="34" charset="-120"/>
              </a:rPr>
              <a:t>Nested objects and arrays are summarized here; the complete schema remains available in FastAPI/OpenAPI.</a:t>
            </a:r>
            <a:endParaRPr lang="en-US" sz="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Final Output API - Validation and Example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Representative payloads generated from the real local service workflow</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VALIDATION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70432"/>
            <a:ext cx="3657600" cy="5102352"/>
          </a:xfrm>
          <a:prstGeom prst="rect">
            <a:avLst/>
          </a:prstGeom>
          <a:solidFill>
            <a:srgbClr val="103D2B"/>
          </a:solidFill>
          <a:ln w="12700">
            <a:solidFill>
              <a:srgbClr val="E3B82F"/>
            </a:solidFill>
            <a:prstDash val="solid"/>
          </a:ln>
        </p:spPr>
      </p:sp>
      <p:sp>
        <p:nvSpPr>
          <p:cNvPr id="8" name="Shape 6"/>
          <p:cNvSpPr/>
          <p:nvPr/>
        </p:nvSpPr>
        <p:spPr>
          <a:xfrm>
            <a:off x="502920" y="1170432"/>
            <a:ext cx="3657600" cy="50292"/>
          </a:xfrm>
          <a:prstGeom prst="rect">
            <a:avLst/>
          </a:prstGeom>
          <a:solidFill>
            <a:srgbClr val="E3B82F"/>
          </a:solidFill>
          <a:ln w="12700">
            <a:solidFill>
              <a:srgbClr val="E3B82F"/>
            </a:solidFill>
            <a:prstDash val="solid"/>
          </a:ln>
        </p:spPr>
      </p:sp>
      <p:sp>
        <p:nvSpPr>
          <p:cNvPr id="9" name="Text 7"/>
          <p:cNvSpPr/>
          <p:nvPr/>
        </p:nvSpPr>
        <p:spPr>
          <a:xfrm>
            <a:off x="685800" y="1325880"/>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VALIDATION / ERROR HANDLING</a:t>
            </a:r>
            <a:endParaRPr lang="en-US" sz="1000" dirty="0"/>
          </a:p>
        </p:txBody>
      </p:sp>
      <p:sp>
        <p:nvSpPr>
          <p:cNvPr id="10" name="Text 8"/>
          <p:cNvSpPr/>
          <p:nvPr/>
        </p:nvSpPr>
        <p:spPr>
          <a:xfrm>
            <a:off x="713232" y="1609344"/>
            <a:ext cx="3246120" cy="28346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Exact saved feature order</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At least one prior match</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No target-date leakage</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Reject NaN, infinite, or 0-200 outliers</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Batch size 1-100</a:t>
            </a:r>
            <a:endParaRPr lang="en-US" sz="1350" dirty="0"/>
          </a:p>
        </p:txBody>
      </p:sp>
      <p:sp>
        <p:nvSpPr>
          <p:cNvPr id="11" name="Shape 9"/>
          <p:cNvSpPr/>
          <p:nvPr/>
        </p:nvSpPr>
        <p:spPr>
          <a:xfrm>
            <a:off x="4370832" y="1170432"/>
            <a:ext cx="3474720" cy="5102352"/>
          </a:xfrm>
          <a:prstGeom prst="rect">
            <a:avLst/>
          </a:prstGeom>
          <a:solidFill>
            <a:srgbClr val="103D2B"/>
          </a:solidFill>
          <a:ln w="12700">
            <a:solidFill>
              <a:srgbClr val="49E38B"/>
            </a:solidFill>
            <a:prstDash val="solid"/>
          </a:ln>
        </p:spPr>
      </p:sp>
      <p:sp>
        <p:nvSpPr>
          <p:cNvPr id="12" name="Shape 10"/>
          <p:cNvSpPr/>
          <p:nvPr/>
        </p:nvSpPr>
        <p:spPr>
          <a:xfrm>
            <a:off x="4370832" y="1170432"/>
            <a:ext cx="3474720" cy="50292"/>
          </a:xfrm>
          <a:prstGeom prst="rect">
            <a:avLst/>
          </a:prstGeom>
          <a:solidFill>
            <a:srgbClr val="49E38B"/>
          </a:solidFill>
          <a:ln w="12700">
            <a:solidFill>
              <a:srgbClr val="49E38B"/>
            </a:solidFill>
            <a:prstDash val="solid"/>
          </a:ln>
        </p:spPr>
      </p:sp>
      <p:sp>
        <p:nvSpPr>
          <p:cNvPr id="13" name="Text 11"/>
          <p:cNvSpPr/>
          <p:nvPr/>
        </p:nvSpPr>
        <p:spPr>
          <a:xfrm>
            <a:off x="4553712" y="1325880"/>
            <a:ext cx="31089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SAMPLE REQUEST</a:t>
            </a:r>
            <a:endParaRPr lang="en-US" sz="1000" dirty="0"/>
          </a:p>
        </p:txBody>
      </p:sp>
      <p:sp>
        <p:nvSpPr>
          <p:cNvPr id="14" name="Shape 12"/>
          <p:cNvSpPr/>
          <p:nvPr/>
        </p:nvSpPr>
        <p:spPr>
          <a:xfrm>
            <a:off x="4553712" y="1591056"/>
            <a:ext cx="3108960" cy="4251960"/>
          </a:xfrm>
          <a:prstGeom prst="rect">
            <a:avLst/>
          </a:prstGeom>
          <a:solidFill>
            <a:srgbClr val="031A12"/>
          </a:solidFill>
          <a:ln w="12700">
            <a:solidFill>
              <a:srgbClr val="286A4B"/>
            </a:solidFill>
            <a:prstDash val="solid"/>
          </a:ln>
        </p:spPr>
      </p:sp>
      <p:sp>
        <p:nvSpPr>
          <p:cNvPr id="15" name="Text 13"/>
          <p:cNvSpPr/>
          <p:nvPr/>
        </p:nvSpPr>
        <p:spPr>
          <a:xfrm>
            <a:off x="4690872" y="1719072"/>
            <a:ext cx="2834640" cy="3995928"/>
          </a:xfrm>
          <a:prstGeom prst="rect">
            <a:avLst/>
          </a:prstGeom>
          <a:noFill/>
          <a:ln/>
        </p:spPr>
        <p:txBody>
          <a:bodyPr wrap="square" lIns="508" tIns="508" rIns="508" bIns="508" rtlCol="0" anchor="t">
            <a:normAutofit/>
          </a:bodyPr>
          <a:lstStyle/>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"player_id": "1",</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"player_name": "Aarav Sharma",</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"role": "batter"</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"opponent_team_id": "4",</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"opponent_team_name": "Gwalior Guardians",</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"venue": "Holkar Cricket Stadium",</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"target_match_date": "2026-07-15",</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"adjusted_posterior": 46.79,</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  "opponent_posterior": 46.79</a:t>
            </a:r>
            <a:endParaRPr lang="en-US" sz="870" dirty="0"/>
          </a:p>
          <a:p>
            <a:pPr algn="l" indent="0" marL="0">
              <a:buNone/>
            </a:pPr>
            <a:r>
              <a:rPr lang="en-US" sz="870" dirty="0">
                <a:solidFill>
                  <a:srgbClr val="A5F3C6"/>
                </a:solidFill>
                <a:latin typeface="Consolas" pitchFamily="34" charset="0"/>
                <a:ea typeface="Consolas" pitchFamily="34" charset="-122"/>
                <a:cs typeface="Consolas" pitchFamily="34" charset="-120"/>
              </a:rPr>
              <a:t>}</a:t>
            </a:r>
            <a:endParaRPr lang="en-US" sz="870" dirty="0"/>
          </a:p>
        </p:txBody>
      </p:sp>
      <p:sp>
        <p:nvSpPr>
          <p:cNvPr id="16" name="Shape 14"/>
          <p:cNvSpPr/>
          <p:nvPr/>
        </p:nvSpPr>
        <p:spPr>
          <a:xfrm>
            <a:off x="8046720" y="1170432"/>
            <a:ext cx="3611880" cy="5102352"/>
          </a:xfrm>
          <a:prstGeom prst="rect">
            <a:avLst/>
          </a:prstGeom>
          <a:solidFill>
            <a:srgbClr val="103D2B"/>
          </a:solidFill>
          <a:ln w="12700">
            <a:solidFill>
              <a:srgbClr val="E3B82F"/>
            </a:solidFill>
            <a:prstDash val="solid"/>
          </a:ln>
        </p:spPr>
      </p:sp>
      <p:sp>
        <p:nvSpPr>
          <p:cNvPr id="17" name="Shape 15"/>
          <p:cNvSpPr/>
          <p:nvPr/>
        </p:nvSpPr>
        <p:spPr>
          <a:xfrm>
            <a:off x="8046720" y="1170432"/>
            <a:ext cx="3611880" cy="50292"/>
          </a:xfrm>
          <a:prstGeom prst="rect">
            <a:avLst/>
          </a:prstGeom>
          <a:solidFill>
            <a:srgbClr val="E3B82F"/>
          </a:solidFill>
          <a:ln w="12700">
            <a:solidFill>
              <a:srgbClr val="E3B82F"/>
            </a:solidFill>
            <a:prstDash val="solid"/>
          </a:ln>
        </p:spPr>
      </p:sp>
      <p:sp>
        <p:nvSpPr>
          <p:cNvPr id="18" name="Text 16"/>
          <p:cNvSpPr/>
          <p:nvPr/>
        </p:nvSpPr>
        <p:spPr>
          <a:xfrm>
            <a:off x="8229600" y="1325880"/>
            <a:ext cx="32461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SAMPLE RESPONSE</a:t>
            </a:r>
            <a:endParaRPr lang="en-US" sz="1000" dirty="0"/>
          </a:p>
        </p:txBody>
      </p:sp>
      <p:sp>
        <p:nvSpPr>
          <p:cNvPr id="19" name="Shape 17"/>
          <p:cNvSpPr/>
          <p:nvPr/>
        </p:nvSpPr>
        <p:spPr>
          <a:xfrm>
            <a:off x="8229600" y="1591056"/>
            <a:ext cx="3246120" cy="4251960"/>
          </a:xfrm>
          <a:prstGeom prst="rect">
            <a:avLst/>
          </a:prstGeom>
          <a:solidFill>
            <a:srgbClr val="031A12"/>
          </a:solidFill>
          <a:ln w="12700">
            <a:solidFill>
              <a:srgbClr val="286A4B"/>
            </a:solidFill>
            <a:prstDash val="solid"/>
          </a:ln>
        </p:spPr>
      </p:sp>
      <p:sp>
        <p:nvSpPr>
          <p:cNvPr id="20" name="Text 18"/>
          <p:cNvSpPr/>
          <p:nvPr/>
        </p:nvSpPr>
        <p:spPr>
          <a:xfrm>
            <a:off x="8366760" y="1719072"/>
            <a:ext cx="2971800" cy="3995928"/>
          </a:xfrm>
          <a:prstGeom prst="rect">
            <a:avLst/>
          </a:prstGeom>
          <a:noFill/>
          <a:ln/>
        </p:spPr>
        <p:txBody>
          <a:bodyPr wrap="square" lIns="508" tIns="508" rIns="508" bIns="508" rtlCol="0" anchor="t">
            <a:normAutofit/>
          </a:bodyPr>
          <a:lstStyle/>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"metric": "expected_fantasy_points_final_output",</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"label": "Strong Pick",</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"expected_fantasy_points": 51.29,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"final_prediction": 38.9,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"supervised_ml_prediction": 38.9,</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"ml_prediction_valid": true,</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  "fallback_used": false</a:t>
            </a:r>
            <a:endParaRPr lang="en-US" sz="850" dirty="0"/>
          </a:p>
          <a:p>
            <a:pPr algn="l" indent="0" marL="0">
              <a:buNone/>
            </a:pPr>
            <a:r>
              <a:rPr lang="en-US" sz="850" dirty="0">
                <a:solidFill>
                  <a:srgbClr val="A5F3C6"/>
                </a:solidFill>
                <a:latin typeface="Consolas" pitchFamily="34" charset="0"/>
                <a:ea typeface="Consolas" pitchFamily="34" charset="-122"/>
                <a:cs typeface="Consolas" pitchFamily="34" charset="-120"/>
              </a:rPr>
              <a:t>}</a:t>
            </a:r>
            <a:endParaRPr lang="en-US" sz="8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Expected Fantasy Points Final Output API - Evidence and Integration</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Verified dashboard output generated by the corresponding service logic</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EVIDENCE</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448056" y="1179576"/>
            <a:ext cx="6647688" cy="3785616"/>
          </a:xfrm>
          <a:prstGeom prst="rect">
            <a:avLst/>
          </a:prstGeom>
          <a:solidFill>
            <a:srgbClr val="031A12"/>
          </a:solidFill>
          <a:ln w="17780">
            <a:solidFill>
              <a:srgbClr val="49E38B"/>
            </a:solidFill>
            <a:prstDash val="solid"/>
          </a:ln>
        </p:spPr>
      </p:sp>
      <p:pic>
        <p:nvPicPr>
          <p:cNvPr id="8" name="Image 0" descr="C:\Users\ombat\Desktop\Khel ai intership work\dashboard\sprint1_showcase\screenshots\11_expected_fantasy_final.png">    </p:cNvPr>
          <p:cNvPicPr>
            <a:picLocks noChangeAspect="1"/>
          </p:cNvPicPr>
          <p:nvPr/>
        </p:nvPicPr>
        <p:blipFill>
          <a:blip r:embed="rId1"/>
          <a:stretch>
            <a:fillRect/>
          </a:stretch>
        </p:blipFill>
        <p:spPr>
          <a:xfrm>
            <a:off x="502920" y="1234440"/>
            <a:ext cx="6537960" cy="3675888"/>
          </a:xfrm>
          <a:prstGeom prst="rect">
            <a:avLst/>
          </a:prstGeom>
        </p:spPr>
      </p:pic>
      <p:sp>
        <p:nvSpPr>
          <p:cNvPr id="9" name="Shape 6"/>
          <p:cNvSpPr/>
          <p:nvPr/>
        </p:nvSpPr>
        <p:spPr>
          <a:xfrm>
            <a:off x="7269480" y="1234440"/>
            <a:ext cx="4389120" cy="1645920"/>
          </a:xfrm>
          <a:prstGeom prst="rect">
            <a:avLst/>
          </a:prstGeom>
          <a:solidFill>
            <a:srgbClr val="103D2B"/>
          </a:solidFill>
          <a:ln w="12700">
            <a:solidFill>
              <a:srgbClr val="49E38B"/>
            </a:solidFill>
            <a:prstDash val="solid"/>
          </a:ln>
        </p:spPr>
      </p:sp>
      <p:sp>
        <p:nvSpPr>
          <p:cNvPr id="10" name="Shape 7"/>
          <p:cNvSpPr/>
          <p:nvPr/>
        </p:nvSpPr>
        <p:spPr>
          <a:xfrm>
            <a:off x="7269480" y="1234440"/>
            <a:ext cx="4389120" cy="50292"/>
          </a:xfrm>
          <a:prstGeom prst="rect">
            <a:avLst/>
          </a:prstGeom>
          <a:solidFill>
            <a:srgbClr val="49E38B"/>
          </a:solidFill>
          <a:ln w="12700">
            <a:solidFill>
              <a:srgbClr val="49E38B"/>
            </a:solidFill>
            <a:prstDash val="solid"/>
          </a:ln>
        </p:spPr>
      </p:sp>
      <p:sp>
        <p:nvSpPr>
          <p:cNvPr id="11" name="Text 8"/>
          <p:cNvSpPr/>
          <p:nvPr/>
        </p:nvSpPr>
        <p:spPr>
          <a:xfrm>
            <a:off x="7452360" y="1389888"/>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KHEL AI INTEGRATION</a:t>
            </a:r>
            <a:endParaRPr lang="en-US" sz="1000" dirty="0"/>
          </a:p>
        </p:txBody>
      </p:sp>
      <p:sp>
        <p:nvSpPr>
          <p:cNvPr id="12" name="Text 9"/>
          <p:cNvSpPr/>
          <p:nvPr/>
        </p:nvSpPr>
        <p:spPr>
          <a:xfrm>
            <a:off x="7498080" y="1600200"/>
            <a:ext cx="3931920" cy="1005840"/>
          </a:xfrm>
          <a:prstGeom prst="rect">
            <a:avLst/>
          </a:prstGeom>
          <a:noFill/>
          <a:ln/>
        </p:spPr>
        <p:txBody>
          <a:bodyPr wrap="square" lIns="635" tIns="635" rIns="635" bIns="635" rtlCol="0" anchor="ctr">
            <a:normAutofit/>
          </a:bodyPr>
          <a:lstStyle/>
          <a:p>
            <a:pPr marL="190500" indent="-190500">
              <a:buSzPct val="100000"/>
              <a:buChar char="•"/>
            </a:pPr>
            <a:r>
              <a:rPr lang="en-US" sz="1350" dirty="0">
                <a:solidFill>
                  <a:srgbClr val="F5F7F6"/>
                </a:solidFill>
                <a:latin typeface="Aptos" pitchFamily="34" charset="0"/>
                <a:ea typeface="Aptos" pitchFamily="34" charset="-122"/>
                <a:cs typeface="Aptos" pitchFamily="34" charset="-120"/>
              </a:rPr>
              <a:t>Fantasy selection panel</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Batch player ranking</a:t>
            </a:r>
            <a:endParaRPr lang="en-US" sz="1350" dirty="0"/>
          </a:p>
          <a:p>
            <a:pPr marL="190500" indent="-190500">
              <a:buSzPct val="100000"/>
              <a:buChar char="•"/>
            </a:pPr>
            <a:r>
              <a:rPr lang="en-US" sz="1350" dirty="0">
                <a:solidFill>
                  <a:srgbClr val="F5F7F6"/>
                </a:solidFill>
                <a:latin typeface="Aptos" pitchFamily="34" charset="0"/>
                <a:ea typeface="Aptos" pitchFamily="34" charset="-122"/>
                <a:cs typeface="Aptos" pitchFamily="34" charset="-120"/>
              </a:rPr>
              <a:t>AI model-vs-statistical explanation</a:t>
            </a:r>
            <a:endParaRPr lang="en-US" sz="1350" dirty="0"/>
          </a:p>
        </p:txBody>
      </p:sp>
      <p:sp>
        <p:nvSpPr>
          <p:cNvPr id="13" name="Shape 10"/>
          <p:cNvSpPr/>
          <p:nvPr/>
        </p:nvSpPr>
        <p:spPr>
          <a:xfrm>
            <a:off x="7269480" y="3090672"/>
            <a:ext cx="4389120" cy="1819656"/>
          </a:xfrm>
          <a:prstGeom prst="rect">
            <a:avLst/>
          </a:prstGeom>
          <a:solidFill>
            <a:srgbClr val="103D2B"/>
          </a:solidFill>
          <a:ln w="12700">
            <a:solidFill>
              <a:srgbClr val="E3B82F"/>
            </a:solidFill>
            <a:prstDash val="solid"/>
          </a:ln>
        </p:spPr>
      </p:sp>
      <p:sp>
        <p:nvSpPr>
          <p:cNvPr id="14" name="Shape 11"/>
          <p:cNvSpPr/>
          <p:nvPr/>
        </p:nvSpPr>
        <p:spPr>
          <a:xfrm>
            <a:off x="7269480" y="3090672"/>
            <a:ext cx="4389120" cy="50292"/>
          </a:xfrm>
          <a:prstGeom prst="rect">
            <a:avLst/>
          </a:prstGeom>
          <a:solidFill>
            <a:srgbClr val="E3B82F"/>
          </a:solidFill>
          <a:ln w="12700">
            <a:solidFill>
              <a:srgbClr val="E3B82F"/>
            </a:solidFill>
            <a:prstDash val="solid"/>
          </a:ln>
        </p:spPr>
      </p:sp>
      <p:sp>
        <p:nvSpPr>
          <p:cNvPr id="15" name="Text 12"/>
          <p:cNvSpPr/>
          <p:nvPr/>
        </p:nvSpPr>
        <p:spPr>
          <a:xfrm>
            <a:off x="7452360" y="3246120"/>
            <a:ext cx="4023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KNOWN LIMITATIONS</a:t>
            </a:r>
            <a:endParaRPr lang="en-US" sz="1000" dirty="0"/>
          </a:p>
        </p:txBody>
      </p:sp>
      <p:sp>
        <p:nvSpPr>
          <p:cNvPr id="16" name="Text 13"/>
          <p:cNvSpPr/>
          <p:nvPr/>
        </p:nvSpPr>
        <p:spPr>
          <a:xfrm>
            <a:off x="7498080" y="3456432"/>
            <a:ext cx="3931920" cy="1051560"/>
          </a:xfrm>
          <a:prstGeom prst="rect">
            <a:avLst/>
          </a:prstGeom>
          <a:noFill/>
          <a:ln/>
        </p:spPr>
        <p:txBody>
          <a:bodyPr wrap="square" lIns="635" tIns="635" rIns="635" bIns="635" rtlCol="0" anchor="ctr">
            <a:normAutofit/>
          </a:bodyPr>
          <a:lstStyle/>
          <a:p>
            <a:pPr marL="190500" indent="-190500">
              <a:buSzPct val="100000"/>
              <a:buChar char="•"/>
            </a:pPr>
            <a:r>
              <a:rPr lang="en-US" sz="1300" dirty="0">
                <a:solidFill>
                  <a:srgbClr val="F5F7F6"/>
                </a:solidFill>
                <a:latin typeface="Aptos" pitchFamily="34" charset="0"/>
                <a:ea typeface="Aptos" pitchFamily="34" charset="-122"/>
                <a:cs typeface="Aptos" pitchFamily="34" charset="-120"/>
              </a:rPr>
              <a:t>Demo-only synthetic model</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Negative test R2 indicates weak generalization</a:t>
            </a:r>
            <a:endParaRPr lang="en-US" sz="1300" dirty="0"/>
          </a:p>
          <a:p>
            <a:pPr marL="190500" indent="-190500">
              <a:buSzPct val="100000"/>
              <a:buChar char="•"/>
            </a:pPr>
            <a:r>
              <a:rPr lang="en-US" sz="1300" dirty="0">
                <a:solidFill>
                  <a:srgbClr val="F5F7F6"/>
                </a:solidFill>
                <a:latin typeface="Aptos" pitchFamily="34" charset="0"/>
                <a:ea typeface="Aptos" pitchFamily="34" charset="-122"/>
                <a:cs typeface="Aptos" pitchFamily="34" charset="-120"/>
              </a:rPr>
              <a:t>Free-tier Render can cold-start</a:t>
            </a:r>
            <a:endParaRPr lang="en-US" sz="1300" dirty="0"/>
          </a:p>
        </p:txBody>
      </p:sp>
      <p:sp>
        <p:nvSpPr>
          <p:cNvPr id="17" name="Shape 14"/>
          <p:cNvSpPr/>
          <p:nvPr/>
        </p:nvSpPr>
        <p:spPr>
          <a:xfrm>
            <a:off x="502920" y="5138928"/>
            <a:ext cx="2692908" cy="822960"/>
          </a:xfrm>
          <a:prstGeom prst="rect">
            <a:avLst/>
          </a:prstGeom>
          <a:solidFill>
            <a:srgbClr val="103D2B"/>
          </a:solidFill>
          <a:ln w="12700">
            <a:solidFill>
              <a:srgbClr val="E3B82F"/>
            </a:solidFill>
            <a:prstDash val="solid"/>
          </a:ln>
        </p:spPr>
      </p:sp>
      <p:sp>
        <p:nvSpPr>
          <p:cNvPr id="18" name="Shape 15"/>
          <p:cNvSpPr/>
          <p:nvPr/>
        </p:nvSpPr>
        <p:spPr>
          <a:xfrm>
            <a:off x="502920" y="5138928"/>
            <a:ext cx="2692908" cy="50292"/>
          </a:xfrm>
          <a:prstGeom prst="rect">
            <a:avLst/>
          </a:prstGeom>
          <a:solidFill>
            <a:srgbClr val="E3B82F"/>
          </a:solidFill>
          <a:ln w="12700">
            <a:solidFill>
              <a:srgbClr val="E3B82F"/>
            </a:solidFill>
            <a:prstDash val="solid"/>
          </a:ln>
        </p:spPr>
      </p:sp>
      <p:sp>
        <p:nvSpPr>
          <p:cNvPr id="19" name="Text 16"/>
          <p:cNvSpPr/>
          <p:nvPr/>
        </p:nvSpPr>
        <p:spPr>
          <a:xfrm>
            <a:off x="685800"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FINAL PREDICTION</a:t>
            </a:r>
            <a:endParaRPr lang="en-US" sz="1000" dirty="0"/>
          </a:p>
        </p:txBody>
      </p:sp>
      <p:sp>
        <p:nvSpPr>
          <p:cNvPr id="20" name="Text 17"/>
          <p:cNvSpPr/>
          <p:nvPr/>
        </p:nvSpPr>
        <p:spPr>
          <a:xfrm>
            <a:off x="667512"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38.9</a:t>
            </a:r>
            <a:endParaRPr lang="en-US" sz="1800" dirty="0"/>
          </a:p>
        </p:txBody>
      </p:sp>
      <p:sp>
        <p:nvSpPr>
          <p:cNvPr id="21" name="Shape 18"/>
          <p:cNvSpPr/>
          <p:nvPr/>
        </p:nvSpPr>
        <p:spPr>
          <a:xfrm>
            <a:off x="3323844" y="5138928"/>
            <a:ext cx="2692908" cy="822960"/>
          </a:xfrm>
          <a:prstGeom prst="rect">
            <a:avLst/>
          </a:prstGeom>
          <a:solidFill>
            <a:srgbClr val="103D2B"/>
          </a:solidFill>
          <a:ln w="12700">
            <a:solidFill>
              <a:srgbClr val="E3B82F"/>
            </a:solidFill>
            <a:prstDash val="solid"/>
          </a:ln>
        </p:spPr>
      </p:sp>
      <p:sp>
        <p:nvSpPr>
          <p:cNvPr id="22" name="Shape 19"/>
          <p:cNvSpPr/>
          <p:nvPr/>
        </p:nvSpPr>
        <p:spPr>
          <a:xfrm>
            <a:off x="3323844" y="5138928"/>
            <a:ext cx="2692908" cy="50292"/>
          </a:xfrm>
          <a:prstGeom prst="rect">
            <a:avLst/>
          </a:prstGeom>
          <a:solidFill>
            <a:srgbClr val="E3B82F"/>
          </a:solidFill>
          <a:ln w="12700">
            <a:solidFill>
              <a:srgbClr val="E3B82F"/>
            </a:solidFill>
            <a:prstDash val="solid"/>
          </a:ln>
        </p:spPr>
      </p:sp>
      <p:sp>
        <p:nvSpPr>
          <p:cNvPr id="23" name="Text 20"/>
          <p:cNvSpPr/>
          <p:nvPr/>
        </p:nvSpPr>
        <p:spPr>
          <a:xfrm>
            <a:off x="3506724"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STATISTICAL</a:t>
            </a:r>
            <a:endParaRPr lang="en-US" sz="1000" dirty="0"/>
          </a:p>
        </p:txBody>
      </p:sp>
      <p:sp>
        <p:nvSpPr>
          <p:cNvPr id="24" name="Text 21"/>
          <p:cNvSpPr/>
          <p:nvPr/>
        </p:nvSpPr>
        <p:spPr>
          <a:xfrm>
            <a:off x="3488436"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51.29</a:t>
            </a:r>
            <a:endParaRPr lang="en-US" sz="1800" dirty="0"/>
          </a:p>
        </p:txBody>
      </p:sp>
      <p:sp>
        <p:nvSpPr>
          <p:cNvPr id="25" name="Shape 22"/>
          <p:cNvSpPr/>
          <p:nvPr/>
        </p:nvSpPr>
        <p:spPr>
          <a:xfrm>
            <a:off x="6144768" y="5138928"/>
            <a:ext cx="2692908" cy="822960"/>
          </a:xfrm>
          <a:prstGeom prst="rect">
            <a:avLst/>
          </a:prstGeom>
          <a:solidFill>
            <a:srgbClr val="103D2B"/>
          </a:solidFill>
          <a:ln w="12700">
            <a:solidFill>
              <a:srgbClr val="E3B82F"/>
            </a:solidFill>
            <a:prstDash val="solid"/>
          </a:ln>
        </p:spPr>
      </p:sp>
      <p:sp>
        <p:nvSpPr>
          <p:cNvPr id="26" name="Shape 23"/>
          <p:cNvSpPr/>
          <p:nvPr/>
        </p:nvSpPr>
        <p:spPr>
          <a:xfrm>
            <a:off x="6144768" y="5138928"/>
            <a:ext cx="2692908" cy="50292"/>
          </a:xfrm>
          <a:prstGeom prst="rect">
            <a:avLst/>
          </a:prstGeom>
          <a:solidFill>
            <a:srgbClr val="E3B82F"/>
          </a:solidFill>
          <a:ln w="12700">
            <a:solidFill>
              <a:srgbClr val="E3B82F"/>
            </a:solidFill>
            <a:prstDash val="solid"/>
          </a:ln>
        </p:spPr>
      </p:sp>
      <p:sp>
        <p:nvSpPr>
          <p:cNvPr id="27" name="Text 24"/>
          <p:cNvSpPr/>
          <p:nvPr/>
        </p:nvSpPr>
        <p:spPr>
          <a:xfrm>
            <a:off x="6327648"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SELECTION</a:t>
            </a:r>
            <a:endParaRPr lang="en-US" sz="1000" dirty="0"/>
          </a:p>
        </p:txBody>
      </p:sp>
      <p:sp>
        <p:nvSpPr>
          <p:cNvPr id="28" name="Text 25"/>
          <p:cNvSpPr/>
          <p:nvPr/>
        </p:nvSpPr>
        <p:spPr>
          <a:xfrm>
            <a:off x="6309360"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Strong Pick</a:t>
            </a:r>
            <a:endParaRPr lang="en-US" sz="1800" dirty="0"/>
          </a:p>
        </p:txBody>
      </p:sp>
      <p:sp>
        <p:nvSpPr>
          <p:cNvPr id="29" name="Shape 26"/>
          <p:cNvSpPr/>
          <p:nvPr/>
        </p:nvSpPr>
        <p:spPr>
          <a:xfrm>
            <a:off x="8965692" y="5138928"/>
            <a:ext cx="2692908" cy="822960"/>
          </a:xfrm>
          <a:prstGeom prst="rect">
            <a:avLst/>
          </a:prstGeom>
          <a:solidFill>
            <a:srgbClr val="103D2B"/>
          </a:solidFill>
          <a:ln w="12700">
            <a:solidFill>
              <a:srgbClr val="E3B82F"/>
            </a:solidFill>
            <a:prstDash val="solid"/>
          </a:ln>
        </p:spPr>
      </p:sp>
      <p:sp>
        <p:nvSpPr>
          <p:cNvPr id="30" name="Shape 27"/>
          <p:cNvSpPr/>
          <p:nvPr/>
        </p:nvSpPr>
        <p:spPr>
          <a:xfrm>
            <a:off x="8965692" y="5138928"/>
            <a:ext cx="2692908" cy="50292"/>
          </a:xfrm>
          <a:prstGeom prst="rect">
            <a:avLst/>
          </a:prstGeom>
          <a:solidFill>
            <a:srgbClr val="E3B82F"/>
          </a:solidFill>
          <a:ln w="12700">
            <a:solidFill>
              <a:srgbClr val="E3B82F"/>
            </a:solidFill>
            <a:prstDash val="solid"/>
          </a:ln>
        </p:spPr>
      </p:sp>
      <p:sp>
        <p:nvSpPr>
          <p:cNvPr id="31" name="Text 28"/>
          <p:cNvSpPr/>
          <p:nvPr/>
        </p:nvSpPr>
        <p:spPr>
          <a:xfrm>
            <a:off x="9148572" y="5294376"/>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MODEL</a:t>
            </a:r>
            <a:endParaRPr lang="en-US" sz="1000" dirty="0"/>
          </a:p>
        </p:txBody>
      </p:sp>
      <p:sp>
        <p:nvSpPr>
          <p:cNvPr id="32" name="Text 29"/>
          <p:cNvSpPr/>
          <p:nvPr/>
        </p:nvSpPr>
        <p:spPr>
          <a:xfrm>
            <a:off x="9130284" y="5495544"/>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linear_regression</a:t>
            </a:r>
            <a:endParaRPr lang="en-US" sz="18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API 11 - Model Card and Deployment</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Saved artifact, feature contract, metrics, baseline, and public endpoints</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MODEL CARD</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188720"/>
            <a:ext cx="3657600" cy="1965960"/>
          </a:xfrm>
          <a:prstGeom prst="rect">
            <a:avLst/>
          </a:prstGeom>
          <a:solidFill>
            <a:srgbClr val="103D2B"/>
          </a:solidFill>
          <a:ln w="12700">
            <a:solidFill>
              <a:srgbClr val="49E38B"/>
            </a:solidFill>
            <a:prstDash val="solid"/>
          </a:ln>
        </p:spPr>
      </p:sp>
      <p:sp>
        <p:nvSpPr>
          <p:cNvPr id="8" name="Shape 6"/>
          <p:cNvSpPr/>
          <p:nvPr/>
        </p:nvSpPr>
        <p:spPr>
          <a:xfrm>
            <a:off x="502920" y="1188720"/>
            <a:ext cx="3657600" cy="50292"/>
          </a:xfrm>
          <a:prstGeom prst="rect">
            <a:avLst/>
          </a:prstGeom>
          <a:solidFill>
            <a:srgbClr val="49E38B"/>
          </a:solidFill>
          <a:ln w="12700">
            <a:solidFill>
              <a:srgbClr val="49E38B"/>
            </a:solidFill>
            <a:prstDash val="solid"/>
          </a:ln>
        </p:spPr>
      </p:sp>
      <p:sp>
        <p:nvSpPr>
          <p:cNvPr id="9" name="Text 7"/>
          <p:cNvSpPr/>
          <p:nvPr/>
        </p:nvSpPr>
        <p:spPr>
          <a:xfrm>
            <a:off x="685800" y="1344168"/>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MODEL IDENTITY</a:t>
            </a:r>
            <a:endParaRPr lang="en-US" sz="1000" dirty="0"/>
          </a:p>
        </p:txBody>
      </p:sp>
      <p:sp>
        <p:nvSpPr>
          <p:cNvPr id="10" name="Text 8"/>
          <p:cNvSpPr/>
          <p:nvPr/>
        </p:nvSpPr>
        <p:spPr>
          <a:xfrm>
            <a:off x="713232" y="1572768"/>
            <a:ext cx="3246120" cy="1371600"/>
          </a:xfrm>
          <a:prstGeom prst="rect">
            <a:avLst/>
          </a:prstGeom>
          <a:noFill/>
          <a:ln/>
        </p:spPr>
        <p:txBody>
          <a:bodyPr wrap="square" lIns="635" tIns="635" rIns="635" bIns="635" rtlCol="0" anchor="ctr">
            <a:normAutofit/>
          </a:bodyPr>
          <a:lstStyle/>
          <a:p>
            <a:pPr marL="190500" indent="-190500">
              <a:buSzPct val="100000"/>
              <a:buChar char="•"/>
            </a:pPr>
            <a:r>
              <a:rPr lang="en-US" sz="1250" dirty="0">
                <a:solidFill>
                  <a:srgbClr val="F5F7F6"/>
                </a:solidFill>
                <a:latin typeface="Aptos" pitchFamily="34" charset="0"/>
                <a:ea typeface="Aptos" pitchFamily="34" charset="-122"/>
                <a:cs typeface="Aptos" pitchFamily="34" charset="-120"/>
              </a:rPr>
              <a:t>Model: StandardScaler + LinearRegression</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Version: 2.0.0</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Target: fantasy_points</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Mode: demo_only</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Source: HimanshuKhale/datasets_cricket</a:t>
            </a:r>
            <a:endParaRPr lang="en-US" sz="1250" dirty="0"/>
          </a:p>
        </p:txBody>
      </p:sp>
      <p:sp>
        <p:nvSpPr>
          <p:cNvPr id="11" name="Shape 9"/>
          <p:cNvSpPr/>
          <p:nvPr/>
        </p:nvSpPr>
        <p:spPr>
          <a:xfrm>
            <a:off x="4370832" y="1188720"/>
            <a:ext cx="3657600" cy="1965960"/>
          </a:xfrm>
          <a:prstGeom prst="rect">
            <a:avLst/>
          </a:prstGeom>
          <a:solidFill>
            <a:srgbClr val="103D2B"/>
          </a:solidFill>
          <a:ln w="12700">
            <a:solidFill>
              <a:srgbClr val="E3B82F"/>
            </a:solidFill>
            <a:prstDash val="solid"/>
          </a:ln>
        </p:spPr>
      </p:sp>
      <p:sp>
        <p:nvSpPr>
          <p:cNvPr id="12" name="Shape 10"/>
          <p:cNvSpPr/>
          <p:nvPr/>
        </p:nvSpPr>
        <p:spPr>
          <a:xfrm>
            <a:off x="4370832" y="1188720"/>
            <a:ext cx="3657600" cy="50292"/>
          </a:xfrm>
          <a:prstGeom prst="rect">
            <a:avLst/>
          </a:prstGeom>
          <a:solidFill>
            <a:srgbClr val="E3B82F"/>
          </a:solidFill>
          <a:ln w="12700">
            <a:solidFill>
              <a:srgbClr val="E3B82F"/>
            </a:solidFill>
            <a:prstDash val="solid"/>
          </a:ln>
        </p:spPr>
      </p:sp>
      <p:sp>
        <p:nvSpPr>
          <p:cNvPr id="13" name="Text 11"/>
          <p:cNvSpPr/>
          <p:nvPr/>
        </p:nvSpPr>
        <p:spPr>
          <a:xfrm>
            <a:off x="4553712" y="1344168"/>
            <a:ext cx="32918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DATA AND SPLIT</a:t>
            </a:r>
            <a:endParaRPr lang="en-US" sz="1000" dirty="0"/>
          </a:p>
        </p:txBody>
      </p:sp>
      <p:sp>
        <p:nvSpPr>
          <p:cNvPr id="14" name="Text 12"/>
          <p:cNvSpPr/>
          <p:nvPr/>
        </p:nvSpPr>
        <p:spPr>
          <a:xfrm>
            <a:off x="4572000" y="1572768"/>
            <a:ext cx="3246120" cy="1371600"/>
          </a:xfrm>
          <a:prstGeom prst="rect">
            <a:avLst/>
          </a:prstGeom>
          <a:noFill/>
          <a:ln/>
        </p:spPr>
        <p:txBody>
          <a:bodyPr wrap="square" lIns="635" tIns="635" rIns="635" bIns="635" rtlCol="0" anchor="ctr">
            <a:normAutofit/>
          </a:bodyPr>
          <a:lstStyle/>
          <a:p>
            <a:pPr marL="190500" indent="-190500">
              <a:buSzPct val="100000"/>
              <a:buChar char="•"/>
            </a:pPr>
            <a:r>
              <a:rPr lang="en-US" sz="1250" dirty="0">
                <a:solidFill>
                  <a:srgbClr val="F5F7F6"/>
                </a:solidFill>
                <a:latin typeface="Aptos" pitchFamily="34" charset="0"/>
                <a:ea typeface="Aptos" pitchFamily="34" charset="-122"/>
                <a:cs typeface="Aptos" pitchFamily="34" charset="-120"/>
              </a:rPr>
              <a:t>264 canonical rows</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220 training workflow rows</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Chronological 70/15/15 split</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Train 154 | Validation 33 | Test 33</a:t>
            </a:r>
            <a:endParaRPr lang="en-US" sz="1250" dirty="0"/>
          </a:p>
          <a:p>
            <a:pPr marL="190500" indent="-190500">
              <a:buSzPct val="100000"/>
              <a:buChar char="•"/>
            </a:pPr>
            <a:r>
              <a:rPr lang="en-US" sz="1250" dirty="0">
                <a:solidFill>
                  <a:srgbClr val="F5F7F6"/>
                </a:solidFill>
                <a:latin typeface="Aptos" pitchFamily="34" charset="0"/>
                <a:ea typeface="Aptos" pitchFamily="34" charset="-122"/>
                <a:cs typeface="Aptos" pitchFamily="34" charset="-120"/>
              </a:rPr>
              <a:t>All features calculated before target match</a:t>
            </a:r>
            <a:endParaRPr lang="en-US" sz="1250" dirty="0"/>
          </a:p>
        </p:txBody>
      </p:sp>
      <p:sp>
        <p:nvSpPr>
          <p:cNvPr id="15" name="Shape 13"/>
          <p:cNvSpPr/>
          <p:nvPr/>
        </p:nvSpPr>
        <p:spPr>
          <a:xfrm>
            <a:off x="8229600" y="1188720"/>
            <a:ext cx="3429000" cy="1965960"/>
          </a:xfrm>
          <a:prstGeom prst="rect">
            <a:avLst/>
          </a:prstGeom>
          <a:solidFill>
            <a:srgbClr val="103D2B"/>
          </a:solidFill>
          <a:ln w="12700">
            <a:solidFill>
              <a:srgbClr val="49E38B"/>
            </a:solidFill>
            <a:prstDash val="solid"/>
          </a:ln>
        </p:spPr>
      </p:sp>
      <p:sp>
        <p:nvSpPr>
          <p:cNvPr id="16" name="Shape 14"/>
          <p:cNvSpPr/>
          <p:nvPr/>
        </p:nvSpPr>
        <p:spPr>
          <a:xfrm>
            <a:off x="8229600" y="1188720"/>
            <a:ext cx="3429000" cy="50292"/>
          </a:xfrm>
          <a:prstGeom prst="rect">
            <a:avLst/>
          </a:prstGeom>
          <a:solidFill>
            <a:srgbClr val="49E38B"/>
          </a:solidFill>
          <a:ln w="12700">
            <a:solidFill>
              <a:srgbClr val="49E38B"/>
            </a:solidFill>
            <a:prstDash val="solid"/>
          </a:ln>
        </p:spPr>
      </p:sp>
      <p:sp>
        <p:nvSpPr>
          <p:cNvPr id="17" name="Text 15"/>
          <p:cNvSpPr/>
          <p:nvPr/>
        </p:nvSpPr>
        <p:spPr>
          <a:xfrm>
            <a:off x="8412480" y="1344168"/>
            <a:ext cx="306324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REQUEST SAFETY</a:t>
            </a:r>
            <a:endParaRPr lang="en-US" sz="1000" dirty="0"/>
          </a:p>
        </p:txBody>
      </p:sp>
      <p:sp>
        <p:nvSpPr>
          <p:cNvPr id="18" name="Text 16"/>
          <p:cNvSpPr/>
          <p:nvPr/>
        </p:nvSpPr>
        <p:spPr>
          <a:xfrm>
            <a:off x="8430768" y="1572768"/>
            <a:ext cx="3017520" cy="1371600"/>
          </a:xfrm>
          <a:prstGeom prst="rect">
            <a:avLst/>
          </a:prstGeom>
          <a:noFill/>
          <a:ln/>
        </p:spPr>
        <p:txBody>
          <a:bodyPr wrap="square" lIns="635" tIns="635" rIns="635" bIns="635" rtlCol="0" anchor="ctr">
            <a:normAutofit/>
          </a:bodyPr>
          <a:lstStyle/>
          <a:p>
            <a:pPr marL="190500" indent="-190500">
              <a:buSzPct val="100000"/>
              <a:buChar char="•"/>
            </a:pPr>
            <a:r>
              <a:rPr lang="en-US" sz="1200" dirty="0">
                <a:solidFill>
                  <a:srgbClr val="F5F7F6"/>
                </a:solidFill>
                <a:latin typeface="Aptos" pitchFamily="34" charset="0"/>
                <a:ea typeface="Aptos" pitchFamily="34" charset="-122"/>
                <a:cs typeface="Aptos" pitchFamily="34" charset="-120"/>
              </a:rPr>
              <a:t>model.pkl loaded once</a:t>
            </a:r>
            <a:endParaRPr lang="en-US" sz="1200" dirty="0"/>
          </a:p>
          <a:p>
            <a:pPr marL="190500" indent="-190500">
              <a:buSzPct val="100000"/>
              <a:buChar char="•"/>
            </a:pPr>
            <a:r>
              <a:rPr lang="en-US" sz="1200" dirty="0">
                <a:solidFill>
                  <a:srgbClr val="F5F7F6"/>
                </a:solidFill>
                <a:latin typeface="Aptos" pitchFamily="34" charset="0"/>
                <a:ea typeface="Aptos" pitchFamily="34" charset="-122"/>
                <a:cs typeface="Aptos" pitchFamily="34" charset="-120"/>
              </a:rPr>
              <a:t>Exact feature_columns.json order</a:t>
            </a:r>
            <a:endParaRPr lang="en-US" sz="1200" dirty="0"/>
          </a:p>
          <a:p>
            <a:pPr marL="190500" indent="-190500">
              <a:buSzPct val="100000"/>
              <a:buChar char="•"/>
            </a:pPr>
            <a:r>
              <a:rPr lang="en-US" sz="1200" dirty="0">
                <a:solidFill>
                  <a:srgbClr val="F5F7F6"/>
                </a:solidFill>
                <a:latin typeface="Aptos" pitchFamily="34" charset="0"/>
                <a:ea typeface="Aptos" pitchFamily="34" charset="-122"/>
                <a:cs typeface="Aptos" pitchFamily="34" charset="-120"/>
              </a:rPr>
              <a:t>No request-time training</a:t>
            </a:r>
            <a:endParaRPr lang="en-US" sz="1200" dirty="0"/>
          </a:p>
          <a:p>
            <a:pPr marL="190500" indent="-190500">
              <a:buSzPct val="100000"/>
              <a:buChar char="•"/>
            </a:pPr>
            <a:r>
              <a:rPr lang="en-US" sz="1200" dirty="0">
                <a:solidFill>
                  <a:srgbClr val="F5F7F6"/>
                </a:solidFill>
                <a:latin typeface="Aptos" pitchFamily="34" charset="0"/>
                <a:ea typeface="Aptos" pitchFamily="34" charset="-122"/>
                <a:cs typeface="Aptos" pitchFamily="34" charset="-120"/>
              </a:rPr>
              <a:t>Batch endpoint: 1-100 rows</a:t>
            </a:r>
            <a:endParaRPr lang="en-US" sz="1200" dirty="0"/>
          </a:p>
          <a:p>
            <a:pPr marL="190500" indent="-190500">
              <a:buSzPct val="100000"/>
              <a:buChar char="•"/>
            </a:pPr>
            <a:r>
              <a:rPr lang="en-US" sz="1200" dirty="0">
                <a:solidFill>
                  <a:srgbClr val="F5F7F6"/>
                </a:solidFill>
                <a:latin typeface="Aptos" pitchFamily="34" charset="0"/>
                <a:ea typeface="Aptos" pitchFamily="34" charset="-122"/>
                <a:cs typeface="Aptos" pitchFamily="34" charset="-120"/>
              </a:rPr>
              <a:t>422/503 errors are explicit</a:t>
            </a:r>
            <a:endParaRPr lang="en-US" sz="1200" dirty="0"/>
          </a:p>
        </p:txBody>
      </p:sp>
      <p:sp>
        <p:nvSpPr>
          <p:cNvPr id="19" name="Shape 17"/>
          <p:cNvSpPr/>
          <p:nvPr/>
        </p:nvSpPr>
        <p:spPr>
          <a:xfrm>
            <a:off x="502920" y="3429000"/>
            <a:ext cx="2692908" cy="822960"/>
          </a:xfrm>
          <a:prstGeom prst="rect">
            <a:avLst/>
          </a:prstGeom>
          <a:solidFill>
            <a:srgbClr val="103D2B"/>
          </a:solidFill>
          <a:ln w="12700">
            <a:solidFill>
              <a:srgbClr val="E3B82F"/>
            </a:solidFill>
            <a:prstDash val="solid"/>
          </a:ln>
        </p:spPr>
      </p:sp>
      <p:sp>
        <p:nvSpPr>
          <p:cNvPr id="20" name="Shape 18"/>
          <p:cNvSpPr/>
          <p:nvPr/>
        </p:nvSpPr>
        <p:spPr>
          <a:xfrm>
            <a:off x="502920" y="3429000"/>
            <a:ext cx="2692908" cy="50292"/>
          </a:xfrm>
          <a:prstGeom prst="rect">
            <a:avLst/>
          </a:prstGeom>
          <a:solidFill>
            <a:srgbClr val="E3B82F"/>
          </a:solidFill>
          <a:ln w="12700">
            <a:solidFill>
              <a:srgbClr val="E3B82F"/>
            </a:solidFill>
            <a:prstDash val="solid"/>
          </a:ln>
        </p:spPr>
      </p:sp>
      <p:sp>
        <p:nvSpPr>
          <p:cNvPr id="21" name="Text 19"/>
          <p:cNvSpPr/>
          <p:nvPr/>
        </p:nvSpPr>
        <p:spPr>
          <a:xfrm>
            <a:off x="685800" y="3584448"/>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TEST MAE</a:t>
            </a:r>
            <a:endParaRPr lang="en-US" sz="1000" dirty="0"/>
          </a:p>
        </p:txBody>
      </p:sp>
      <p:sp>
        <p:nvSpPr>
          <p:cNvPr id="22" name="Text 20"/>
          <p:cNvSpPr/>
          <p:nvPr/>
        </p:nvSpPr>
        <p:spPr>
          <a:xfrm>
            <a:off x="667512" y="3785616"/>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26.577</a:t>
            </a:r>
            <a:endParaRPr lang="en-US" sz="1800" dirty="0"/>
          </a:p>
        </p:txBody>
      </p:sp>
      <p:sp>
        <p:nvSpPr>
          <p:cNvPr id="23" name="Shape 21"/>
          <p:cNvSpPr/>
          <p:nvPr/>
        </p:nvSpPr>
        <p:spPr>
          <a:xfrm>
            <a:off x="3323844" y="3429000"/>
            <a:ext cx="2692908" cy="822960"/>
          </a:xfrm>
          <a:prstGeom prst="rect">
            <a:avLst/>
          </a:prstGeom>
          <a:solidFill>
            <a:srgbClr val="103D2B"/>
          </a:solidFill>
          <a:ln w="12700">
            <a:solidFill>
              <a:srgbClr val="E3B82F"/>
            </a:solidFill>
            <a:prstDash val="solid"/>
          </a:ln>
        </p:spPr>
      </p:sp>
      <p:sp>
        <p:nvSpPr>
          <p:cNvPr id="24" name="Shape 22"/>
          <p:cNvSpPr/>
          <p:nvPr/>
        </p:nvSpPr>
        <p:spPr>
          <a:xfrm>
            <a:off x="3323844" y="3429000"/>
            <a:ext cx="2692908" cy="50292"/>
          </a:xfrm>
          <a:prstGeom prst="rect">
            <a:avLst/>
          </a:prstGeom>
          <a:solidFill>
            <a:srgbClr val="E3B82F"/>
          </a:solidFill>
          <a:ln w="12700">
            <a:solidFill>
              <a:srgbClr val="E3B82F"/>
            </a:solidFill>
            <a:prstDash val="solid"/>
          </a:ln>
        </p:spPr>
      </p:sp>
      <p:sp>
        <p:nvSpPr>
          <p:cNvPr id="25" name="Text 23"/>
          <p:cNvSpPr/>
          <p:nvPr/>
        </p:nvSpPr>
        <p:spPr>
          <a:xfrm>
            <a:off x="3506724" y="3584448"/>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TEST RMSE</a:t>
            </a:r>
            <a:endParaRPr lang="en-US" sz="1000" dirty="0"/>
          </a:p>
        </p:txBody>
      </p:sp>
      <p:sp>
        <p:nvSpPr>
          <p:cNvPr id="26" name="Text 24"/>
          <p:cNvSpPr/>
          <p:nvPr/>
        </p:nvSpPr>
        <p:spPr>
          <a:xfrm>
            <a:off x="3488436" y="3785616"/>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33.530</a:t>
            </a:r>
            <a:endParaRPr lang="en-US" sz="1800" dirty="0"/>
          </a:p>
        </p:txBody>
      </p:sp>
      <p:sp>
        <p:nvSpPr>
          <p:cNvPr id="27" name="Shape 25"/>
          <p:cNvSpPr/>
          <p:nvPr/>
        </p:nvSpPr>
        <p:spPr>
          <a:xfrm>
            <a:off x="6144768" y="3429000"/>
            <a:ext cx="2692908" cy="822960"/>
          </a:xfrm>
          <a:prstGeom prst="rect">
            <a:avLst/>
          </a:prstGeom>
          <a:solidFill>
            <a:srgbClr val="103D2B"/>
          </a:solidFill>
          <a:ln w="12700">
            <a:solidFill>
              <a:srgbClr val="E3B82F"/>
            </a:solidFill>
            <a:prstDash val="solid"/>
          </a:ln>
        </p:spPr>
      </p:sp>
      <p:sp>
        <p:nvSpPr>
          <p:cNvPr id="28" name="Shape 26"/>
          <p:cNvSpPr/>
          <p:nvPr/>
        </p:nvSpPr>
        <p:spPr>
          <a:xfrm>
            <a:off x="6144768" y="3429000"/>
            <a:ext cx="2692908" cy="50292"/>
          </a:xfrm>
          <a:prstGeom prst="rect">
            <a:avLst/>
          </a:prstGeom>
          <a:solidFill>
            <a:srgbClr val="E3B82F"/>
          </a:solidFill>
          <a:ln w="12700">
            <a:solidFill>
              <a:srgbClr val="E3B82F"/>
            </a:solidFill>
            <a:prstDash val="solid"/>
          </a:ln>
        </p:spPr>
      </p:sp>
      <p:sp>
        <p:nvSpPr>
          <p:cNvPr id="29" name="Text 27"/>
          <p:cNvSpPr/>
          <p:nvPr/>
        </p:nvSpPr>
        <p:spPr>
          <a:xfrm>
            <a:off x="6327648" y="3584448"/>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TEST R2</a:t>
            </a:r>
            <a:endParaRPr lang="en-US" sz="1000" dirty="0"/>
          </a:p>
        </p:txBody>
      </p:sp>
      <p:sp>
        <p:nvSpPr>
          <p:cNvPr id="30" name="Text 28"/>
          <p:cNvSpPr/>
          <p:nvPr/>
        </p:nvSpPr>
        <p:spPr>
          <a:xfrm>
            <a:off x="6309360" y="3785616"/>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-0.037</a:t>
            </a:r>
            <a:endParaRPr lang="en-US" sz="1800" dirty="0"/>
          </a:p>
        </p:txBody>
      </p:sp>
      <p:sp>
        <p:nvSpPr>
          <p:cNvPr id="31" name="Shape 29"/>
          <p:cNvSpPr/>
          <p:nvPr/>
        </p:nvSpPr>
        <p:spPr>
          <a:xfrm>
            <a:off x="8965692" y="3429000"/>
            <a:ext cx="2692908" cy="822960"/>
          </a:xfrm>
          <a:prstGeom prst="rect">
            <a:avLst/>
          </a:prstGeom>
          <a:solidFill>
            <a:srgbClr val="103D2B"/>
          </a:solidFill>
          <a:ln w="12700">
            <a:solidFill>
              <a:srgbClr val="E3B82F"/>
            </a:solidFill>
            <a:prstDash val="solid"/>
          </a:ln>
        </p:spPr>
      </p:sp>
      <p:sp>
        <p:nvSpPr>
          <p:cNvPr id="32" name="Shape 30"/>
          <p:cNvSpPr/>
          <p:nvPr/>
        </p:nvSpPr>
        <p:spPr>
          <a:xfrm>
            <a:off x="8965692" y="3429000"/>
            <a:ext cx="2692908" cy="50292"/>
          </a:xfrm>
          <a:prstGeom prst="rect">
            <a:avLst/>
          </a:prstGeom>
          <a:solidFill>
            <a:srgbClr val="E3B82F"/>
          </a:solidFill>
          <a:ln w="12700">
            <a:solidFill>
              <a:srgbClr val="E3B82F"/>
            </a:solidFill>
            <a:prstDash val="solid"/>
          </a:ln>
        </p:spPr>
      </p:sp>
      <p:sp>
        <p:nvSpPr>
          <p:cNvPr id="33" name="Text 31"/>
          <p:cNvSpPr/>
          <p:nvPr/>
        </p:nvSpPr>
        <p:spPr>
          <a:xfrm>
            <a:off x="9148572" y="3584448"/>
            <a:ext cx="2327148"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BASELINE MAE</a:t>
            </a:r>
            <a:endParaRPr lang="en-US" sz="1000" dirty="0"/>
          </a:p>
        </p:txBody>
      </p:sp>
      <p:sp>
        <p:nvSpPr>
          <p:cNvPr id="34" name="Text 32"/>
          <p:cNvSpPr/>
          <p:nvPr/>
        </p:nvSpPr>
        <p:spPr>
          <a:xfrm>
            <a:off x="9130284" y="3785616"/>
            <a:ext cx="2363724" cy="292608"/>
          </a:xfrm>
          <a:prstGeom prst="rect">
            <a:avLst/>
          </a:prstGeom>
          <a:noFill/>
          <a:ln/>
        </p:spPr>
        <p:txBody>
          <a:bodyPr wrap="square" lIns="508" tIns="508" rIns="508" bIns="508" rtlCol="0" anchor="t">
            <a:normAutofit/>
          </a:bodyPr>
          <a:lstStyle/>
          <a:p>
            <a:pPr algn="l" indent="0" marL="0">
              <a:buNone/>
            </a:pPr>
            <a:r>
              <a:rPr lang="en-US" sz="1800" b="1" dirty="0">
                <a:solidFill>
                  <a:srgbClr val="F5F7F6"/>
                </a:solidFill>
                <a:latin typeface="Aptos" pitchFamily="34" charset="0"/>
                <a:ea typeface="Aptos" pitchFamily="34" charset="-122"/>
                <a:cs typeface="Aptos" pitchFamily="34" charset="-120"/>
              </a:rPr>
              <a:t>29.065</a:t>
            </a:r>
            <a:endParaRPr lang="en-US" sz="1800" dirty="0"/>
          </a:p>
        </p:txBody>
      </p:sp>
      <p:sp>
        <p:nvSpPr>
          <p:cNvPr id="35" name="Shape 33"/>
          <p:cNvSpPr/>
          <p:nvPr/>
        </p:nvSpPr>
        <p:spPr>
          <a:xfrm>
            <a:off x="502920" y="4526280"/>
            <a:ext cx="11155680" cy="1234440"/>
          </a:xfrm>
          <a:prstGeom prst="rect">
            <a:avLst/>
          </a:prstGeom>
          <a:solidFill>
            <a:srgbClr val="103D2B"/>
          </a:solidFill>
          <a:ln w="12700">
            <a:solidFill>
              <a:srgbClr val="E3B82F"/>
            </a:solidFill>
            <a:prstDash val="solid"/>
          </a:ln>
        </p:spPr>
      </p:sp>
      <p:sp>
        <p:nvSpPr>
          <p:cNvPr id="36" name="Shape 34"/>
          <p:cNvSpPr/>
          <p:nvPr/>
        </p:nvSpPr>
        <p:spPr>
          <a:xfrm>
            <a:off x="502920" y="4526280"/>
            <a:ext cx="11155680" cy="50292"/>
          </a:xfrm>
          <a:prstGeom prst="rect">
            <a:avLst/>
          </a:prstGeom>
          <a:solidFill>
            <a:srgbClr val="E3B82F"/>
          </a:solidFill>
          <a:ln w="12700">
            <a:solidFill>
              <a:srgbClr val="E3B82F"/>
            </a:solidFill>
            <a:prstDash val="solid"/>
          </a:ln>
        </p:spPr>
      </p:sp>
      <p:sp>
        <p:nvSpPr>
          <p:cNvPr id="37" name="Text 35"/>
          <p:cNvSpPr/>
          <p:nvPr/>
        </p:nvSpPr>
        <p:spPr>
          <a:xfrm>
            <a:off x="685800" y="468172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PUBLIC DEPLOYMENT</a:t>
            </a:r>
            <a:endParaRPr lang="en-US" sz="1000" dirty="0"/>
          </a:p>
        </p:txBody>
      </p:sp>
      <p:sp>
        <p:nvSpPr>
          <p:cNvPr id="38" name="Text 36"/>
          <p:cNvSpPr/>
          <p:nvPr/>
        </p:nvSpPr>
        <p:spPr>
          <a:xfrm>
            <a:off x="749808" y="4892040"/>
            <a:ext cx="6217920" cy="210312"/>
          </a:xfrm>
          <a:prstGeom prst="rect">
            <a:avLst/>
          </a:prstGeom>
          <a:noFill/>
          <a:ln/>
        </p:spPr>
        <p:txBody>
          <a:bodyPr wrap="square" lIns="508" tIns="508" rIns="508" bIns="508" rtlCol="0" anchor="t">
            <a:normAutofit/>
          </a:bodyPr>
          <a:lstStyle/>
          <a:p>
            <a:pPr algn="l" indent="0" marL="0">
              <a:buNone/>
            </a:pPr>
            <a:r>
              <a:rPr lang="en-US" sz="1200" b="1" dirty="0">
                <a:solidFill>
                  <a:srgbClr val="F5F7F6"/>
                </a:solidFill>
                <a:latin typeface="Aptos" pitchFamily="34" charset="0"/>
                <a:ea typeface="Aptos" pitchFamily="34" charset="-122"/>
                <a:cs typeface="Aptos" pitchFamily="34" charset="-120"/>
              </a:rPr>
              <a:t>Hosted API: https://student5-expected-fantasy-final-api.onrender.com</a:t>
            </a:r>
            <a:endParaRPr lang="en-US" sz="1200" dirty="0"/>
          </a:p>
        </p:txBody>
      </p:sp>
      <p:sp>
        <p:nvSpPr>
          <p:cNvPr id="39" name="Text 37"/>
          <p:cNvSpPr/>
          <p:nvPr/>
        </p:nvSpPr>
        <p:spPr>
          <a:xfrm>
            <a:off x="749808" y="5257800"/>
            <a:ext cx="9875520" cy="201168"/>
          </a:xfrm>
          <a:prstGeom prst="rect">
            <a:avLst/>
          </a:prstGeom>
          <a:noFill/>
          <a:ln/>
        </p:spPr>
        <p:txBody>
          <a:bodyPr wrap="square" lIns="508" tIns="508" rIns="508" bIns="508" rtlCol="0" anchor="t">
            <a:normAutofit/>
          </a:bodyPr>
          <a:lstStyle/>
          <a:p>
            <a:pPr algn="l" indent="0" marL="0">
              <a:buNone/>
            </a:pPr>
            <a:r>
              <a:rPr lang="en-US" sz="1050" dirty="0">
                <a:solidFill>
                  <a:srgbClr val="A7C1B4"/>
                </a:solidFill>
                <a:latin typeface="Aptos" pitchFamily="34" charset="0"/>
                <a:ea typeface="Aptos" pitchFamily="34" charset="-122"/>
                <a:cs typeface="Aptos" pitchFamily="34" charset="-120"/>
              </a:rPr>
              <a:t>Swagger: /docs   |   Model metadata: /model-info   |   Prediction: /predict   |   Batch: /predict-batch</a:t>
            </a:r>
            <a:endParaRPr lang="en-US" sz="1050" dirty="0"/>
          </a:p>
        </p:txBody>
      </p:sp>
      <p:sp>
        <p:nvSpPr>
          <p:cNvPr id="40" name="Text 38"/>
          <p:cNvSpPr/>
          <p:nvPr/>
        </p:nvSpPr>
        <p:spPr>
          <a:xfrm>
            <a:off x="749808" y="5806440"/>
            <a:ext cx="10515600" cy="228600"/>
          </a:xfrm>
          <a:prstGeom prst="rect">
            <a:avLst/>
          </a:prstGeom>
          <a:noFill/>
          <a:ln/>
        </p:spPr>
        <p:txBody>
          <a:bodyPr wrap="square" lIns="508" tIns="508" rIns="508" bIns="508" rtlCol="0" anchor="t">
            <a:normAutofit/>
          </a:bodyPr>
          <a:lstStyle/>
          <a:p>
            <a:pPr algn="l" indent="0" marL="0">
              <a:buNone/>
            </a:pPr>
            <a:r>
              <a:rPr lang="en-US" sz="1050" b="1" dirty="0">
                <a:solidFill>
                  <a:srgbClr val="FF7A83"/>
                </a:solidFill>
                <a:latin typeface="Aptos" pitchFamily="34" charset="0"/>
                <a:ea typeface="Aptos" pitchFamily="34" charset="-122"/>
                <a:cs typeface="Aptos" pitchFamily="34" charset="-120"/>
              </a:rPr>
              <a:t>Limitation: small synthetic dataset; metrics demonstrate the API and modelling workflow, not production accuracy.</a:t>
            </a:r>
            <a:endParaRPr lang="en-US" sz="105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Sprint 3 - Integration and Lessons</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From uncertain events to a selection recommendation</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SUMMARY</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234440"/>
            <a:ext cx="5394960" cy="4526280"/>
          </a:xfrm>
          <a:prstGeom prst="rect">
            <a:avLst/>
          </a:prstGeom>
          <a:solidFill>
            <a:srgbClr val="103D2B"/>
          </a:solidFill>
          <a:ln w="12700">
            <a:solidFill>
              <a:srgbClr val="49E38B"/>
            </a:solidFill>
            <a:prstDash val="solid"/>
          </a:ln>
        </p:spPr>
      </p:sp>
      <p:sp>
        <p:nvSpPr>
          <p:cNvPr id="8" name="Shape 6"/>
          <p:cNvSpPr/>
          <p:nvPr/>
        </p:nvSpPr>
        <p:spPr>
          <a:xfrm>
            <a:off x="502920" y="1234440"/>
            <a:ext cx="5394960" cy="50292"/>
          </a:xfrm>
          <a:prstGeom prst="rect">
            <a:avLst/>
          </a:prstGeom>
          <a:solidFill>
            <a:srgbClr val="49E38B"/>
          </a:solidFill>
          <a:ln w="12700">
            <a:solidFill>
              <a:srgbClr val="49E38B"/>
            </a:solidFill>
            <a:prstDash val="solid"/>
          </a:ln>
        </p:spPr>
      </p:sp>
      <p:sp>
        <p:nvSpPr>
          <p:cNvPr id="9" name="Text 7"/>
          <p:cNvSpPr/>
          <p:nvPr/>
        </p:nvSpPr>
        <p:spPr>
          <a:xfrm>
            <a:off x="685800" y="1389888"/>
            <a:ext cx="502920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API MODULES</a:t>
            </a:r>
            <a:endParaRPr lang="en-US" sz="1000" dirty="0"/>
          </a:p>
        </p:txBody>
      </p:sp>
      <p:sp>
        <p:nvSpPr>
          <p:cNvPr id="10" name="Text 8"/>
          <p:cNvSpPr/>
          <p:nvPr/>
        </p:nvSpPr>
        <p:spPr>
          <a:xfrm>
            <a:off x="749808" y="1664208"/>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10</a:t>
            </a:r>
            <a:endParaRPr lang="en-US" sz="1300" dirty="0"/>
          </a:p>
        </p:txBody>
      </p:sp>
      <p:sp>
        <p:nvSpPr>
          <p:cNvPr id="11" name="Text 9"/>
          <p:cNvSpPr/>
          <p:nvPr/>
        </p:nvSpPr>
        <p:spPr>
          <a:xfrm>
            <a:off x="1234440" y="1664208"/>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Expected Fantasy Points Derived Variables API</a:t>
            </a:r>
            <a:endParaRPr lang="en-US" sz="1300" dirty="0"/>
          </a:p>
        </p:txBody>
      </p:sp>
      <p:sp>
        <p:nvSpPr>
          <p:cNvPr id="12" name="Text 10"/>
          <p:cNvSpPr/>
          <p:nvPr/>
        </p:nvSpPr>
        <p:spPr>
          <a:xfrm>
            <a:off x="749808" y="2322576"/>
            <a:ext cx="411480" cy="228600"/>
          </a:xfrm>
          <a:prstGeom prst="rect">
            <a:avLst/>
          </a:prstGeom>
          <a:noFill/>
          <a:ln/>
        </p:spPr>
        <p:txBody>
          <a:bodyPr wrap="square" lIns="508" tIns="508" rIns="508" bIns="508" rtlCol="0" anchor="t">
            <a:normAutofit/>
          </a:bodyPr>
          <a:lstStyle/>
          <a:p>
            <a:pPr algn="l" indent="0" marL="0">
              <a:buNone/>
            </a:pPr>
            <a:r>
              <a:rPr lang="en-US" sz="1300" b="1" dirty="0">
                <a:solidFill>
                  <a:srgbClr val="E3B82F"/>
                </a:solidFill>
                <a:latin typeface="Aptos" pitchFamily="34" charset="0"/>
                <a:ea typeface="Aptos" pitchFamily="34" charset="-122"/>
                <a:cs typeface="Aptos" pitchFamily="34" charset="-120"/>
              </a:rPr>
              <a:t>11</a:t>
            </a:r>
            <a:endParaRPr lang="en-US" sz="1300" dirty="0"/>
          </a:p>
        </p:txBody>
      </p:sp>
      <p:sp>
        <p:nvSpPr>
          <p:cNvPr id="13" name="Text 11"/>
          <p:cNvSpPr/>
          <p:nvPr/>
        </p:nvSpPr>
        <p:spPr>
          <a:xfrm>
            <a:off x="1234440" y="2322576"/>
            <a:ext cx="4297680" cy="228600"/>
          </a:xfrm>
          <a:prstGeom prst="rect">
            <a:avLst/>
          </a:prstGeom>
          <a:noFill/>
          <a:ln/>
        </p:spPr>
        <p:txBody>
          <a:bodyPr wrap="square" lIns="508" tIns="508" rIns="508" bIns="508" rtlCol="0" anchor="t">
            <a:normAutofit/>
          </a:bodyPr>
          <a:lstStyle/>
          <a:p>
            <a:pPr algn="l" indent="0" marL="0">
              <a:buNone/>
            </a:pPr>
            <a:r>
              <a:rPr lang="en-US" sz="1300" b="1" dirty="0">
                <a:solidFill>
                  <a:srgbClr val="F5F7F6"/>
                </a:solidFill>
                <a:latin typeface="Aptos" pitchFamily="34" charset="0"/>
                <a:ea typeface="Aptos" pitchFamily="34" charset="-122"/>
                <a:cs typeface="Aptos" pitchFamily="34" charset="-120"/>
              </a:rPr>
              <a:t>Expected Fantasy Points Final Output API</a:t>
            </a:r>
            <a:endParaRPr lang="en-US" sz="1300" dirty="0"/>
          </a:p>
        </p:txBody>
      </p:sp>
      <p:sp>
        <p:nvSpPr>
          <p:cNvPr id="14" name="Shape 12"/>
          <p:cNvSpPr/>
          <p:nvPr/>
        </p:nvSpPr>
        <p:spPr>
          <a:xfrm>
            <a:off x="6126480" y="1234440"/>
            <a:ext cx="5532120" cy="4526280"/>
          </a:xfrm>
          <a:prstGeom prst="rect">
            <a:avLst/>
          </a:prstGeom>
          <a:solidFill>
            <a:srgbClr val="103D2B"/>
          </a:solidFill>
          <a:ln w="12700">
            <a:solidFill>
              <a:srgbClr val="E3B82F"/>
            </a:solidFill>
            <a:prstDash val="solid"/>
          </a:ln>
        </p:spPr>
      </p:sp>
      <p:sp>
        <p:nvSpPr>
          <p:cNvPr id="15" name="Shape 13"/>
          <p:cNvSpPr/>
          <p:nvPr/>
        </p:nvSpPr>
        <p:spPr>
          <a:xfrm>
            <a:off x="6126480" y="1234440"/>
            <a:ext cx="5532120" cy="50292"/>
          </a:xfrm>
          <a:prstGeom prst="rect">
            <a:avLst/>
          </a:prstGeom>
          <a:solidFill>
            <a:srgbClr val="E3B82F"/>
          </a:solidFill>
          <a:ln w="12700">
            <a:solidFill>
              <a:srgbClr val="E3B82F"/>
            </a:solidFill>
            <a:prstDash val="solid"/>
          </a:ln>
        </p:spPr>
      </p:sp>
      <p:sp>
        <p:nvSpPr>
          <p:cNvPr id="16" name="Text 14"/>
          <p:cNvSpPr/>
          <p:nvPr/>
        </p:nvSpPr>
        <p:spPr>
          <a:xfrm>
            <a:off x="6309360" y="1389888"/>
            <a:ext cx="516636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WHAT THE SPRINT ADDS TO KHEL AI</a:t>
            </a:r>
            <a:endParaRPr lang="en-US" sz="1000" dirty="0"/>
          </a:p>
        </p:txBody>
      </p:sp>
      <p:sp>
        <p:nvSpPr>
          <p:cNvPr id="17" name="Text 15"/>
          <p:cNvSpPr/>
          <p:nvPr/>
        </p:nvSpPr>
        <p:spPr>
          <a:xfrm>
            <a:off x="6382512" y="1719072"/>
            <a:ext cx="5029200" cy="3566160"/>
          </a:xfrm>
          <a:prstGeom prst="rect">
            <a:avLst/>
          </a:prstGeom>
          <a:noFill/>
          <a:ln/>
        </p:spPr>
        <p:txBody>
          <a:bodyPr wrap="square" lIns="635" tIns="635" rIns="635" bIns="635" rtlCol="0" anchor="ctr">
            <a:normAutofit/>
          </a:bodyPr>
          <a:lstStyle/>
          <a:p>
            <a:pPr marL="190500" indent="-190500">
              <a:buSzPct val="100000"/>
              <a:buChar char="•"/>
            </a:pPr>
            <a:r>
              <a:rPr lang="en-US" sz="1600" dirty="0">
                <a:solidFill>
                  <a:srgbClr val="F5F7F6"/>
                </a:solidFill>
                <a:latin typeface="Aptos" pitchFamily="34" charset="0"/>
                <a:ea typeface="Aptos" pitchFamily="34" charset="-122"/>
                <a:cs typeface="Aptos" pitchFamily="34" charset="-120"/>
              </a:rPr>
              <a:t>Expected value keeps batting, bowling, and fielding auditable</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Saved-model prediction never retrains during requests</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Feature contract and anti-leakage checks protect validity</a:t>
            </a:r>
            <a:endParaRPr lang="en-US" sz="1600" dirty="0"/>
          </a:p>
          <a:p>
            <a:pPr marL="190500" indent="-190500">
              <a:buSzPct val="100000"/>
              <a:buChar char="•"/>
            </a:pPr>
            <a:r>
              <a:rPr lang="en-US" sz="1600" dirty="0">
                <a:solidFill>
                  <a:srgbClr val="F5F7F6"/>
                </a:solidFill>
                <a:latin typeface="Aptos" pitchFamily="34" charset="0"/>
                <a:ea typeface="Aptos" pitchFamily="34" charset="-122"/>
                <a:cs typeface="Aptos" pitchFamily="34" charset="-120"/>
              </a:rPr>
              <a:t>Risk, model source, and fallback reason remain visible</a:t>
            </a:r>
            <a:endParaRPr lang="en-US" sz="16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02920" y="228600"/>
            <a:ext cx="8869680" cy="411480"/>
          </a:xfrm>
          <a:prstGeom prst="rect">
            <a:avLst/>
          </a:prstGeom>
          <a:noFill/>
          <a:ln/>
        </p:spPr>
        <p:txBody>
          <a:bodyPr wrap="square" lIns="508" tIns="508" rIns="508" bIns="508" rtlCol="0" anchor="t">
            <a:normAutofit/>
          </a:bodyPr>
          <a:lstStyle/>
          <a:p>
            <a:pPr algn="l" indent="0" marL="0">
              <a:buNone/>
            </a:pPr>
            <a:r>
              <a:rPr lang="en-US" sz="2400" b="1" dirty="0">
                <a:solidFill>
                  <a:srgbClr val="F5F7F6"/>
                </a:solidFill>
                <a:latin typeface="Aptos" pitchFamily="34" charset="0"/>
                <a:ea typeface="Aptos" pitchFamily="34" charset="-122"/>
                <a:cs typeface="Aptos" pitchFamily="34" charset="-120"/>
              </a:rPr>
              <a:t>Conclusion - One Explainable Cricket Pipeline</a:t>
            </a:r>
            <a:endParaRPr lang="en-US" sz="2400" dirty="0"/>
          </a:p>
        </p:txBody>
      </p:sp>
      <p:sp>
        <p:nvSpPr>
          <p:cNvPr id="3" name="Text 1"/>
          <p:cNvSpPr/>
          <p:nvPr/>
        </p:nvSpPr>
        <p:spPr>
          <a:xfrm>
            <a:off x="521208" y="713232"/>
            <a:ext cx="8869680" cy="228600"/>
          </a:xfrm>
          <a:prstGeom prst="rect">
            <a:avLst/>
          </a:prstGeom>
          <a:noFill/>
          <a:ln/>
        </p:spPr>
        <p:txBody>
          <a:bodyPr wrap="square" lIns="508" tIns="508" rIns="508" bIns="508" rtlCol="0" anchor="t">
            <a:normAutofit/>
          </a:bodyPr>
          <a:lstStyle/>
          <a:p>
            <a:pPr algn="l" indent="0" marL="0">
              <a:buNone/>
            </a:pPr>
            <a:r>
              <a:rPr lang="en-US" sz="1000" dirty="0">
                <a:solidFill>
                  <a:srgbClr val="E3B82F"/>
                </a:solidFill>
                <a:latin typeface="Aptos" pitchFamily="34" charset="0"/>
                <a:ea typeface="Aptos" pitchFamily="34" charset="-122"/>
                <a:cs typeface="Aptos" pitchFamily="34" charset="-120"/>
              </a:rPr>
              <a:t>Eleven specialised APIs compose into a unified Khel AI intelligence layer</a:t>
            </a:r>
            <a:endParaRPr lang="en-US" sz="1000" dirty="0"/>
          </a:p>
        </p:txBody>
      </p:sp>
      <p:sp>
        <p:nvSpPr>
          <p:cNvPr id="4" name="Shape 2"/>
          <p:cNvSpPr/>
          <p:nvPr/>
        </p:nvSpPr>
        <p:spPr>
          <a:xfrm>
            <a:off x="9555480" y="164592"/>
            <a:ext cx="2240280" cy="475488"/>
          </a:xfrm>
          <a:prstGeom prst="rect">
            <a:avLst/>
          </a:prstGeom>
          <a:solidFill>
            <a:srgbClr val="E3B82F"/>
          </a:solidFill>
          <a:ln w="12700">
            <a:solidFill>
              <a:srgbClr val="E3B82F"/>
            </a:solidFill>
            <a:prstDash val="solid"/>
          </a:ln>
        </p:spPr>
      </p:sp>
      <p:sp>
        <p:nvSpPr>
          <p:cNvPr id="5" name="Text 3"/>
          <p:cNvSpPr/>
          <p:nvPr/>
        </p:nvSpPr>
        <p:spPr>
          <a:xfrm>
            <a:off x="9555480" y="301752"/>
            <a:ext cx="2240280" cy="164592"/>
          </a:xfrm>
          <a:prstGeom prst="rect">
            <a:avLst/>
          </a:prstGeom>
          <a:noFill/>
          <a:ln/>
        </p:spPr>
        <p:txBody>
          <a:bodyPr wrap="square" lIns="508" tIns="508" rIns="508" bIns="508" rtlCol="0" anchor="t">
            <a:normAutofit/>
          </a:bodyPr>
          <a:lstStyle/>
          <a:p>
            <a:pPr algn="ctr" indent="0" marL="0">
              <a:buNone/>
            </a:pPr>
            <a:r>
              <a:rPr lang="en-US" sz="900" b="1" dirty="0">
                <a:solidFill>
                  <a:srgbClr val="031A12"/>
                </a:solidFill>
                <a:latin typeface="Aptos" pitchFamily="34" charset="0"/>
                <a:ea typeface="Aptos" pitchFamily="34" charset="-122"/>
                <a:cs typeface="Aptos" pitchFamily="34" charset="-120"/>
              </a:rPr>
              <a:t>CONCLUSION</a:t>
            </a:r>
            <a:endParaRPr lang="en-US" sz="900" dirty="0"/>
          </a:p>
        </p:txBody>
      </p:sp>
      <p:sp>
        <p:nvSpPr>
          <p:cNvPr id="6" name="Shape 4"/>
          <p:cNvSpPr/>
          <p:nvPr/>
        </p:nvSpPr>
        <p:spPr>
          <a:xfrm>
            <a:off x="0" y="987552"/>
            <a:ext cx="12191695" cy="0"/>
          </a:xfrm>
          <a:prstGeom prst="line">
            <a:avLst/>
          </a:prstGeom>
          <a:noFill/>
          <a:ln w="12700">
            <a:solidFill>
              <a:srgbClr val="286A4B"/>
            </a:solidFill>
            <a:prstDash val="solid"/>
          </a:ln>
        </p:spPr>
      </p:sp>
      <p:sp>
        <p:nvSpPr>
          <p:cNvPr id="7" name="Shape 5"/>
          <p:cNvSpPr/>
          <p:nvPr/>
        </p:nvSpPr>
        <p:spPr>
          <a:xfrm>
            <a:off x="502920" y="1417320"/>
            <a:ext cx="3520440" cy="3246120"/>
          </a:xfrm>
          <a:prstGeom prst="rect">
            <a:avLst/>
          </a:prstGeom>
          <a:solidFill>
            <a:srgbClr val="103D2B"/>
          </a:solidFill>
          <a:ln w="12700">
            <a:solidFill>
              <a:srgbClr val="49E38B"/>
            </a:solidFill>
            <a:prstDash val="solid"/>
          </a:ln>
        </p:spPr>
      </p:sp>
      <p:sp>
        <p:nvSpPr>
          <p:cNvPr id="8" name="Shape 6"/>
          <p:cNvSpPr/>
          <p:nvPr/>
        </p:nvSpPr>
        <p:spPr>
          <a:xfrm>
            <a:off x="502920" y="1417320"/>
            <a:ext cx="3520440" cy="50292"/>
          </a:xfrm>
          <a:prstGeom prst="rect">
            <a:avLst/>
          </a:prstGeom>
          <a:solidFill>
            <a:srgbClr val="49E38B"/>
          </a:solidFill>
          <a:ln w="12700">
            <a:solidFill>
              <a:srgbClr val="49E38B"/>
            </a:solidFill>
            <a:prstDash val="solid"/>
          </a:ln>
        </p:spPr>
      </p:sp>
      <p:sp>
        <p:nvSpPr>
          <p:cNvPr id="9" name="Text 7"/>
          <p:cNvSpPr/>
          <p:nvPr/>
        </p:nvSpPr>
        <p:spPr>
          <a:xfrm>
            <a:off x="685800" y="157276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SPRINT 1</a:t>
            </a:r>
            <a:endParaRPr lang="en-US" sz="1000" dirty="0"/>
          </a:p>
        </p:txBody>
      </p:sp>
      <p:sp>
        <p:nvSpPr>
          <p:cNvPr id="10" name="Text 8"/>
          <p:cNvSpPr/>
          <p:nvPr/>
        </p:nvSpPr>
        <p:spPr>
          <a:xfrm>
            <a:off x="731520" y="2011680"/>
            <a:ext cx="3063240" cy="594360"/>
          </a:xfrm>
          <a:prstGeom prst="rect">
            <a:avLst/>
          </a:prstGeom>
          <a:noFill/>
          <a:ln/>
        </p:spPr>
        <p:txBody>
          <a:bodyPr wrap="square" lIns="508" tIns="508" rIns="508" bIns="508" rtlCol="0" anchor="ctr">
            <a:normAutofit/>
          </a:bodyPr>
          <a:lstStyle/>
          <a:p>
            <a:pPr algn="l" indent="0" marL="0">
              <a:buNone/>
            </a:pPr>
            <a:r>
              <a:rPr lang="en-US" sz="2200" b="1" dirty="0">
                <a:solidFill>
                  <a:srgbClr val="F5F7F6"/>
                </a:solidFill>
                <a:latin typeface="Aptos" pitchFamily="34" charset="0"/>
                <a:ea typeface="Aptos" pitchFamily="34" charset="-122"/>
                <a:cs typeface="Aptos" pitchFamily="34" charset="-120"/>
              </a:rPr>
              <a:t>What is happening?</a:t>
            </a:r>
            <a:endParaRPr lang="en-US" sz="2200" dirty="0"/>
          </a:p>
        </p:txBody>
      </p:sp>
      <p:sp>
        <p:nvSpPr>
          <p:cNvPr id="11" name="Text 9"/>
          <p:cNvSpPr/>
          <p:nvPr/>
        </p:nvSpPr>
        <p:spPr>
          <a:xfrm>
            <a:off x="731520" y="2907792"/>
            <a:ext cx="3063240" cy="960120"/>
          </a:xfrm>
          <a:prstGeom prst="rect">
            <a:avLst/>
          </a:prstGeom>
          <a:noFill/>
          <a:ln/>
        </p:spPr>
        <p:txBody>
          <a:bodyPr wrap="square" lIns="508" tIns="508" rIns="508" bIns="508" rtlCol="0" anchor="ctr">
            <a:normAutofit/>
          </a:bodyPr>
          <a:lstStyle/>
          <a:p>
            <a:pPr algn="l" indent="0" marL="0">
              <a:buNone/>
            </a:pPr>
            <a:r>
              <a:rPr lang="en-US" sz="1400" dirty="0">
                <a:solidFill>
                  <a:srgbClr val="A7C1B4"/>
                </a:solidFill>
                <a:latin typeface="Aptos" pitchFamily="34" charset="0"/>
                <a:ea typeface="Aptos" pitchFamily="34" charset="-122"/>
                <a:cs typeface="Aptos" pitchFamily="34" charset="-120"/>
              </a:rPr>
              <a:t>Live score, innings, chase resources, required rate, and outlook.</a:t>
            </a:r>
            <a:endParaRPr lang="en-US" sz="1400" dirty="0"/>
          </a:p>
        </p:txBody>
      </p:sp>
      <p:sp>
        <p:nvSpPr>
          <p:cNvPr id="12" name="Shape 10"/>
          <p:cNvSpPr/>
          <p:nvPr/>
        </p:nvSpPr>
        <p:spPr>
          <a:xfrm>
            <a:off x="4270248" y="1417320"/>
            <a:ext cx="3520440" cy="3246120"/>
          </a:xfrm>
          <a:prstGeom prst="rect">
            <a:avLst/>
          </a:prstGeom>
          <a:solidFill>
            <a:srgbClr val="103D2B"/>
          </a:solidFill>
          <a:ln w="12700">
            <a:solidFill>
              <a:srgbClr val="E3B82F"/>
            </a:solidFill>
            <a:prstDash val="solid"/>
          </a:ln>
        </p:spPr>
      </p:sp>
      <p:sp>
        <p:nvSpPr>
          <p:cNvPr id="13" name="Shape 11"/>
          <p:cNvSpPr/>
          <p:nvPr/>
        </p:nvSpPr>
        <p:spPr>
          <a:xfrm>
            <a:off x="4270248" y="1417320"/>
            <a:ext cx="3520440" cy="50292"/>
          </a:xfrm>
          <a:prstGeom prst="rect">
            <a:avLst/>
          </a:prstGeom>
          <a:solidFill>
            <a:srgbClr val="E3B82F"/>
          </a:solidFill>
          <a:ln w="12700">
            <a:solidFill>
              <a:srgbClr val="E3B82F"/>
            </a:solidFill>
            <a:prstDash val="solid"/>
          </a:ln>
        </p:spPr>
      </p:sp>
      <p:sp>
        <p:nvSpPr>
          <p:cNvPr id="14" name="Text 12"/>
          <p:cNvSpPr/>
          <p:nvPr/>
        </p:nvSpPr>
        <p:spPr>
          <a:xfrm>
            <a:off x="4453128" y="157276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E3B82F"/>
                </a:solidFill>
                <a:latin typeface="Aptos" pitchFamily="34" charset="0"/>
                <a:ea typeface="Aptos" pitchFamily="34" charset="-122"/>
                <a:cs typeface="Aptos" pitchFamily="34" charset="-120"/>
              </a:rPr>
              <a:t>SPRINT 2</a:t>
            </a:r>
            <a:endParaRPr lang="en-US" sz="1000" dirty="0"/>
          </a:p>
        </p:txBody>
      </p:sp>
      <p:sp>
        <p:nvSpPr>
          <p:cNvPr id="15" name="Text 13"/>
          <p:cNvSpPr/>
          <p:nvPr/>
        </p:nvSpPr>
        <p:spPr>
          <a:xfrm>
            <a:off x="4498848" y="2011680"/>
            <a:ext cx="3063240" cy="594360"/>
          </a:xfrm>
          <a:prstGeom prst="rect">
            <a:avLst/>
          </a:prstGeom>
          <a:noFill/>
          <a:ln/>
        </p:spPr>
        <p:txBody>
          <a:bodyPr wrap="square" lIns="508" tIns="508" rIns="508" bIns="508" rtlCol="0" anchor="ctr">
            <a:normAutofit/>
          </a:bodyPr>
          <a:lstStyle/>
          <a:p>
            <a:pPr algn="l" indent="0" marL="0">
              <a:buNone/>
            </a:pPr>
            <a:r>
              <a:rPr lang="en-US" sz="2200" b="1" dirty="0">
                <a:solidFill>
                  <a:srgbClr val="F5F7F6"/>
                </a:solidFill>
                <a:latin typeface="Aptos" pitchFamily="34" charset="0"/>
                <a:ea typeface="Aptos" pitchFamily="34" charset="-122"/>
                <a:cs typeface="Aptos" pitchFamily="34" charset="-120"/>
              </a:rPr>
              <a:t>How is the player trending?</a:t>
            </a:r>
            <a:endParaRPr lang="en-US" sz="2200" dirty="0"/>
          </a:p>
        </p:txBody>
      </p:sp>
      <p:sp>
        <p:nvSpPr>
          <p:cNvPr id="16" name="Text 14"/>
          <p:cNvSpPr/>
          <p:nvPr/>
        </p:nvSpPr>
        <p:spPr>
          <a:xfrm>
            <a:off x="4498848" y="2907792"/>
            <a:ext cx="3063240" cy="960120"/>
          </a:xfrm>
          <a:prstGeom prst="rect">
            <a:avLst/>
          </a:prstGeom>
          <a:noFill/>
          <a:ln/>
        </p:spPr>
        <p:txBody>
          <a:bodyPr wrap="square" lIns="508" tIns="508" rIns="508" bIns="508" rtlCol="0" anchor="ctr">
            <a:normAutofit/>
          </a:bodyPr>
          <a:lstStyle/>
          <a:p>
            <a:pPr algn="l" indent="0" marL="0">
              <a:buNone/>
            </a:pPr>
            <a:r>
              <a:rPr lang="en-US" sz="1400" dirty="0">
                <a:solidFill>
                  <a:srgbClr val="A7C1B4"/>
                </a:solidFill>
                <a:latin typeface="Aptos" pitchFamily="34" charset="0"/>
                <a:ea typeface="Aptos" pitchFamily="34" charset="-122"/>
                <a:cs typeface="Aptos" pitchFamily="34" charset="-120"/>
              </a:rPr>
              <a:t>Regression form, opponent evidence, posterior expectation, and confidence.</a:t>
            </a:r>
            <a:endParaRPr lang="en-US" sz="1400" dirty="0"/>
          </a:p>
        </p:txBody>
      </p:sp>
      <p:sp>
        <p:nvSpPr>
          <p:cNvPr id="17" name="Shape 15"/>
          <p:cNvSpPr/>
          <p:nvPr/>
        </p:nvSpPr>
        <p:spPr>
          <a:xfrm>
            <a:off x="8037576" y="1417320"/>
            <a:ext cx="3520440" cy="3246120"/>
          </a:xfrm>
          <a:prstGeom prst="rect">
            <a:avLst/>
          </a:prstGeom>
          <a:solidFill>
            <a:srgbClr val="103D2B"/>
          </a:solidFill>
          <a:ln w="12700">
            <a:solidFill>
              <a:srgbClr val="3BC8E8"/>
            </a:solidFill>
            <a:prstDash val="solid"/>
          </a:ln>
        </p:spPr>
      </p:sp>
      <p:sp>
        <p:nvSpPr>
          <p:cNvPr id="18" name="Shape 16"/>
          <p:cNvSpPr/>
          <p:nvPr/>
        </p:nvSpPr>
        <p:spPr>
          <a:xfrm>
            <a:off x="8037576" y="1417320"/>
            <a:ext cx="3520440" cy="50292"/>
          </a:xfrm>
          <a:prstGeom prst="rect">
            <a:avLst/>
          </a:prstGeom>
          <a:solidFill>
            <a:srgbClr val="3BC8E8"/>
          </a:solidFill>
          <a:ln w="12700">
            <a:solidFill>
              <a:srgbClr val="3BC8E8"/>
            </a:solidFill>
            <a:prstDash val="solid"/>
          </a:ln>
        </p:spPr>
      </p:sp>
      <p:sp>
        <p:nvSpPr>
          <p:cNvPr id="19" name="Text 17"/>
          <p:cNvSpPr/>
          <p:nvPr/>
        </p:nvSpPr>
        <p:spPr>
          <a:xfrm>
            <a:off x="8220456" y="1572768"/>
            <a:ext cx="315468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3BC8E8"/>
                </a:solidFill>
                <a:latin typeface="Aptos" pitchFamily="34" charset="0"/>
                <a:ea typeface="Aptos" pitchFamily="34" charset="-122"/>
                <a:cs typeface="Aptos" pitchFamily="34" charset="-120"/>
              </a:rPr>
              <a:t>SPRINT 3</a:t>
            </a:r>
            <a:endParaRPr lang="en-US" sz="1000" dirty="0"/>
          </a:p>
        </p:txBody>
      </p:sp>
      <p:sp>
        <p:nvSpPr>
          <p:cNvPr id="20" name="Text 18"/>
          <p:cNvSpPr/>
          <p:nvPr/>
        </p:nvSpPr>
        <p:spPr>
          <a:xfrm>
            <a:off x="8266176" y="2011680"/>
            <a:ext cx="3063240" cy="594360"/>
          </a:xfrm>
          <a:prstGeom prst="rect">
            <a:avLst/>
          </a:prstGeom>
          <a:noFill/>
          <a:ln/>
        </p:spPr>
        <p:txBody>
          <a:bodyPr wrap="square" lIns="508" tIns="508" rIns="508" bIns="508" rtlCol="0" anchor="ctr">
            <a:normAutofit/>
          </a:bodyPr>
          <a:lstStyle/>
          <a:p>
            <a:pPr algn="l" indent="0" marL="0">
              <a:buNone/>
            </a:pPr>
            <a:r>
              <a:rPr lang="en-US" sz="2200" b="1" dirty="0">
                <a:solidFill>
                  <a:srgbClr val="F5F7F6"/>
                </a:solidFill>
                <a:latin typeface="Aptos" pitchFamily="34" charset="0"/>
                <a:ea typeface="Aptos" pitchFamily="34" charset="-122"/>
                <a:cs typeface="Aptos" pitchFamily="34" charset="-120"/>
              </a:rPr>
              <a:t>What decision should Khel AI make?</a:t>
            </a:r>
            <a:endParaRPr lang="en-US" sz="2200" dirty="0"/>
          </a:p>
        </p:txBody>
      </p:sp>
      <p:sp>
        <p:nvSpPr>
          <p:cNvPr id="21" name="Text 19"/>
          <p:cNvSpPr/>
          <p:nvPr/>
        </p:nvSpPr>
        <p:spPr>
          <a:xfrm>
            <a:off x="8266176" y="2907792"/>
            <a:ext cx="3063240" cy="960120"/>
          </a:xfrm>
          <a:prstGeom prst="rect">
            <a:avLst/>
          </a:prstGeom>
          <a:noFill/>
          <a:ln/>
        </p:spPr>
        <p:txBody>
          <a:bodyPr wrap="square" lIns="508" tIns="508" rIns="508" bIns="508" rtlCol="0" anchor="ctr">
            <a:normAutofit/>
          </a:bodyPr>
          <a:lstStyle/>
          <a:p>
            <a:pPr algn="l" indent="0" marL="0">
              <a:buNone/>
            </a:pPr>
            <a:r>
              <a:rPr lang="en-US" sz="1400" dirty="0">
                <a:solidFill>
                  <a:srgbClr val="A7C1B4"/>
                </a:solidFill>
                <a:latin typeface="Aptos" pitchFamily="34" charset="0"/>
                <a:ea typeface="Aptos" pitchFamily="34" charset="-122"/>
                <a:cs typeface="Aptos" pitchFamily="34" charset="-120"/>
              </a:rPr>
              <a:t>Expected fantasy value, saved-model prediction, risk, and selection label.</a:t>
            </a:r>
            <a:endParaRPr lang="en-US" sz="1400" dirty="0"/>
          </a:p>
        </p:txBody>
      </p:sp>
      <p:sp>
        <p:nvSpPr>
          <p:cNvPr id="22" name="Shape 20"/>
          <p:cNvSpPr/>
          <p:nvPr/>
        </p:nvSpPr>
        <p:spPr>
          <a:xfrm>
            <a:off x="502920" y="4983480"/>
            <a:ext cx="11155680" cy="987552"/>
          </a:xfrm>
          <a:prstGeom prst="rect">
            <a:avLst/>
          </a:prstGeom>
          <a:solidFill>
            <a:srgbClr val="103D2B"/>
          </a:solidFill>
          <a:ln w="12700">
            <a:solidFill>
              <a:srgbClr val="49E38B"/>
            </a:solidFill>
            <a:prstDash val="solid"/>
          </a:ln>
        </p:spPr>
      </p:sp>
      <p:sp>
        <p:nvSpPr>
          <p:cNvPr id="23" name="Shape 21"/>
          <p:cNvSpPr/>
          <p:nvPr/>
        </p:nvSpPr>
        <p:spPr>
          <a:xfrm>
            <a:off x="502920" y="4983480"/>
            <a:ext cx="11155680" cy="50292"/>
          </a:xfrm>
          <a:prstGeom prst="rect">
            <a:avLst/>
          </a:prstGeom>
          <a:solidFill>
            <a:srgbClr val="49E38B"/>
          </a:solidFill>
          <a:ln w="12700">
            <a:solidFill>
              <a:srgbClr val="49E38B"/>
            </a:solidFill>
            <a:prstDash val="solid"/>
          </a:ln>
        </p:spPr>
      </p:sp>
      <p:sp>
        <p:nvSpPr>
          <p:cNvPr id="24" name="Text 22"/>
          <p:cNvSpPr/>
          <p:nvPr/>
        </p:nvSpPr>
        <p:spPr>
          <a:xfrm>
            <a:off x="685800" y="5138928"/>
            <a:ext cx="10789920" cy="219456"/>
          </a:xfrm>
          <a:prstGeom prst="rect">
            <a:avLst/>
          </a:prstGeom>
          <a:noFill/>
          <a:ln/>
        </p:spPr>
        <p:txBody>
          <a:bodyPr wrap="square" lIns="508" tIns="508" rIns="508" bIns="508" rtlCol="0" anchor="t">
            <a:normAutofit/>
          </a:bodyPr>
          <a:lstStyle/>
          <a:p>
            <a:pPr algn="l" indent="0" marL="0">
              <a:buNone/>
            </a:pPr>
            <a:r>
              <a:rPr lang="en-US" sz="1000" b="1" spc="60" kern="0" dirty="0">
                <a:solidFill>
                  <a:srgbClr val="49E38B"/>
                </a:solidFill>
                <a:latin typeface="Aptos" pitchFamily="34" charset="0"/>
                <a:ea typeface="Aptos" pitchFamily="34" charset="-122"/>
                <a:cs typeface="Aptos" pitchFamily="34" charset="-120"/>
              </a:rPr>
              <a:t>FINAL RESULT</a:t>
            </a:r>
            <a:endParaRPr lang="en-US" sz="1000" dirty="0"/>
          </a:p>
        </p:txBody>
      </p:sp>
      <p:sp>
        <p:nvSpPr>
          <p:cNvPr id="25" name="Text 23"/>
          <p:cNvSpPr/>
          <p:nvPr/>
        </p:nvSpPr>
        <p:spPr>
          <a:xfrm>
            <a:off x="749808" y="5330952"/>
            <a:ext cx="10652760" cy="274320"/>
          </a:xfrm>
          <a:prstGeom prst="rect">
            <a:avLst/>
          </a:prstGeom>
          <a:noFill/>
          <a:ln/>
        </p:spPr>
        <p:txBody>
          <a:bodyPr wrap="square" lIns="508" tIns="508" rIns="508" bIns="508" rtlCol="0" anchor="t">
            <a:normAutofit/>
          </a:bodyPr>
          <a:lstStyle/>
          <a:p>
            <a:pPr algn="ctr" indent="0" marL="0">
              <a:buNone/>
            </a:pPr>
            <a:r>
              <a:rPr lang="en-US" sz="1900" b="1" dirty="0">
                <a:solidFill>
                  <a:srgbClr val="F5F7F6"/>
                </a:solidFill>
                <a:latin typeface="Aptos" pitchFamily="34" charset="0"/>
                <a:ea typeface="Aptos" pitchFamily="34" charset="-122"/>
                <a:cs typeface="Aptos" pitchFamily="34" charset="-120"/>
              </a:rPr>
              <a:t>Real service logic + validated schemas + dashboard evidence + honest metrics + clear Khel AI integration</a:t>
            </a:r>
            <a:endParaRPr lang="en-US" sz="1900" dirty="0"/>
          </a:p>
        </p:txBody>
      </p:sp>
      <p:sp>
        <p:nvSpPr>
          <p:cNvPr id="25" name="Slide Number Placeholder 0"/>
          <p:cNvSpPr>
            <a:spLocks noGrp="1"/>
          </p:cNvSpPr>
          <p:nvPr>
            <p:ph type="sldNum" sz="quarter" idx="4294967295"/>
          </p:nvPr>
        </p:nvSpPr>
        <p:spPr>
          <a:xfrm>
            <a:off x="11722608"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E9B83"/>
                </a:solidFill>
              </a:defRPr>
            </a:lvl1pPr>
          </a:lstStyle>
          <a:p>
            <a:pPr algn="l"/>
            <a:fld id="{F7021451-1387-4CA6-816F-3879F97B5CBC}" type="slidenum">
              <a:rPr b="0" lang="en-US"/>
              <a:t>68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Khel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Khel AI Cricket Intelligence APIs - Mentor Review</dc:title>
  <dc:subject>Mentor-aligned technical documentation for eleven cricket intelligence APIs</dc:subject>
  <dc:creator>Om Batavia</dc:creator>
  <cp:lastModifiedBy>Om Batavia</cp:lastModifiedBy>
  <cp:revision>1</cp:revision>
  <dcterms:created xsi:type="dcterms:W3CDTF">2026-06-13T13:15:04Z</dcterms:created>
  <dcterms:modified xsi:type="dcterms:W3CDTF">2026-06-13T13:15:04Z</dcterms:modified>
</cp:coreProperties>
</file>